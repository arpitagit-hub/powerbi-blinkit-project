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08"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6" r:id="rId20"/>
    <p:sldId id="277" r:id="rId21"/>
    <p:sldId id="278" r:id="rId22"/>
    <p:sldId id="280" r:id="rId23"/>
    <p:sldId id="283" r:id="rId24"/>
    <p:sldId id="284" r:id="rId25"/>
    <p:sldId id="286" r:id="rId26"/>
    <p:sldId id="287" r:id="rId27"/>
    <p:sldId id="290" r:id="rId28"/>
    <p:sldId id="292" r:id="rId29"/>
    <p:sldId id="294" r:id="rId30"/>
    <p:sldId id="296" r:id="rId31"/>
    <p:sldId id="300" r:id="rId32"/>
    <p:sldId id="302" r:id="rId33"/>
    <p:sldId id="303" r:id="rId34"/>
    <p:sldId id="304" r:id="rId35"/>
    <p:sldId id="305" r:id="rId36"/>
    <p:sldId id="306" r:id="rId37"/>
    <p:sldId id="307"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00"/>
    <a:srgbClr val="FFD700"/>
    <a:srgbClr val="01813B"/>
    <a:srgbClr val="00A2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sorterViewPr>
    <p:cViewPr>
      <p:scale>
        <a:sx n="200" d="100"/>
        <a:sy n="200" d="100"/>
      </p:scale>
      <p:origin x="0" y="-2665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D7280-163D-B3F3-5DCD-72E2C1A74D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46CA273-5814-DCA2-5502-F049AB871F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D9FABE7-3A49-E882-4323-A3430C32DFF0}"/>
              </a:ext>
            </a:extLst>
          </p:cNvPr>
          <p:cNvSpPr>
            <a:spLocks noGrp="1"/>
          </p:cNvSpPr>
          <p:nvPr>
            <p:ph type="dt" sz="half" idx="10"/>
          </p:nvPr>
        </p:nvSpPr>
        <p:spPr/>
        <p:txBody>
          <a:bodyPr/>
          <a:lstStyle/>
          <a:p>
            <a:fld id="{CDAF388D-2CC2-4262-9F88-0952A7E86F50}" type="datetimeFigureOut">
              <a:rPr lang="en-IN" smtClean="0"/>
              <a:t>25-07-2025</a:t>
            </a:fld>
            <a:endParaRPr lang="en-IN"/>
          </a:p>
        </p:txBody>
      </p:sp>
      <p:sp>
        <p:nvSpPr>
          <p:cNvPr id="5" name="Footer Placeholder 4">
            <a:extLst>
              <a:ext uri="{FF2B5EF4-FFF2-40B4-BE49-F238E27FC236}">
                <a16:creationId xmlns:a16="http://schemas.microsoft.com/office/drawing/2014/main" id="{A7E28CD4-A604-BE80-B7CC-52C45910F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8F9D8C-772D-543B-8A83-CAC446ECD71D}"/>
              </a:ext>
            </a:extLst>
          </p:cNvPr>
          <p:cNvSpPr>
            <a:spLocks noGrp="1"/>
          </p:cNvSpPr>
          <p:nvPr>
            <p:ph type="sldNum" sz="quarter" idx="12"/>
          </p:nvPr>
        </p:nvSpPr>
        <p:spPr/>
        <p:txBody>
          <a:bodyPr/>
          <a:lstStyle/>
          <a:p>
            <a:fld id="{55124E8F-CD84-47DA-A52E-E3DDA8F81507}" type="slidenum">
              <a:rPr lang="en-IN" smtClean="0"/>
              <a:t>‹#›</a:t>
            </a:fld>
            <a:endParaRPr lang="en-IN"/>
          </a:p>
        </p:txBody>
      </p:sp>
    </p:spTree>
    <p:extLst>
      <p:ext uri="{BB962C8B-B14F-4D97-AF65-F5344CB8AC3E}">
        <p14:creationId xmlns:p14="http://schemas.microsoft.com/office/powerpoint/2010/main" val="1164667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B8110-B605-3D41-185C-F6BEE25C78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DB611AE-3CC9-299C-1223-323A885FF2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A76E7C-58D7-4F0D-857E-254FAC08F4E5}"/>
              </a:ext>
            </a:extLst>
          </p:cNvPr>
          <p:cNvSpPr>
            <a:spLocks noGrp="1"/>
          </p:cNvSpPr>
          <p:nvPr>
            <p:ph type="dt" sz="half" idx="10"/>
          </p:nvPr>
        </p:nvSpPr>
        <p:spPr/>
        <p:txBody>
          <a:bodyPr/>
          <a:lstStyle/>
          <a:p>
            <a:fld id="{CDAF388D-2CC2-4262-9F88-0952A7E86F50}" type="datetimeFigureOut">
              <a:rPr lang="en-IN" smtClean="0"/>
              <a:t>25-07-2025</a:t>
            </a:fld>
            <a:endParaRPr lang="en-IN"/>
          </a:p>
        </p:txBody>
      </p:sp>
      <p:sp>
        <p:nvSpPr>
          <p:cNvPr id="5" name="Footer Placeholder 4">
            <a:extLst>
              <a:ext uri="{FF2B5EF4-FFF2-40B4-BE49-F238E27FC236}">
                <a16:creationId xmlns:a16="http://schemas.microsoft.com/office/drawing/2014/main" id="{320C839E-3D46-6716-D2FA-9778331607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531CFB-181C-095C-1DC5-B97645088C1F}"/>
              </a:ext>
            </a:extLst>
          </p:cNvPr>
          <p:cNvSpPr>
            <a:spLocks noGrp="1"/>
          </p:cNvSpPr>
          <p:nvPr>
            <p:ph type="sldNum" sz="quarter" idx="12"/>
          </p:nvPr>
        </p:nvSpPr>
        <p:spPr/>
        <p:txBody>
          <a:bodyPr/>
          <a:lstStyle/>
          <a:p>
            <a:fld id="{55124E8F-CD84-47DA-A52E-E3DDA8F81507}" type="slidenum">
              <a:rPr lang="en-IN" smtClean="0"/>
              <a:t>‹#›</a:t>
            </a:fld>
            <a:endParaRPr lang="en-IN"/>
          </a:p>
        </p:txBody>
      </p:sp>
    </p:spTree>
    <p:extLst>
      <p:ext uri="{BB962C8B-B14F-4D97-AF65-F5344CB8AC3E}">
        <p14:creationId xmlns:p14="http://schemas.microsoft.com/office/powerpoint/2010/main" val="456186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4C8FD-39A3-8A96-0BD5-7A13DE3CB9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D087CC0-DD84-3B31-5F8E-F1E00C20E9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0E9862-EA2C-E8FA-BD89-ED4C88AA5BD3}"/>
              </a:ext>
            </a:extLst>
          </p:cNvPr>
          <p:cNvSpPr>
            <a:spLocks noGrp="1"/>
          </p:cNvSpPr>
          <p:nvPr>
            <p:ph type="dt" sz="half" idx="10"/>
          </p:nvPr>
        </p:nvSpPr>
        <p:spPr/>
        <p:txBody>
          <a:bodyPr/>
          <a:lstStyle/>
          <a:p>
            <a:fld id="{CDAF388D-2CC2-4262-9F88-0952A7E86F50}" type="datetimeFigureOut">
              <a:rPr lang="en-IN" smtClean="0"/>
              <a:t>25-07-2025</a:t>
            </a:fld>
            <a:endParaRPr lang="en-IN"/>
          </a:p>
        </p:txBody>
      </p:sp>
      <p:sp>
        <p:nvSpPr>
          <p:cNvPr id="5" name="Footer Placeholder 4">
            <a:extLst>
              <a:ext uri="{FF2B5EF4-FFF2-40B4-BE49-F238E27FC236}">
                <a16:creationId xmlns:a16="http://schemas.microsoft.com/office/drawing/2014/main" id="{9F12014A-49C7-5593-95B8-5ECB09109B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647B12-7FB7-18F5-86EA-AE93B849A8C1}"/>
              </a:ext>
            </a:extLst>
          </p:cNvPr>
          <p:cNvSpPr>
            <a:spLocks noGrp="1"/>
          </p:cNvSpPr>
          <p:nvPr>
            <p:ph type="sldNum" sz="quarter" idx="12"/>
          </p:nvPr>
        </p:nvSpPr>
        <p:spPr/>
        <p:txBody>
          <a:bodyPr/>
          <a:lstStyle/>
          <a:p>
            <a:fld id="{55124E8F-CD84-47DA-A52E-E3DDA8F81507}" type="slidenum">
              <a:rPr lang="en-IN" smtClean="0"/>
              <a:t>‹#›</a:t>
            </a:fld>
            <a:endParaRPr lang="en-IN"/>
          </a:p>
        </p:txBody>
      </p:sp>
    </p:spTree>
    <p:extLst>
      <p:ext uri="{BB962C8B-B14F-4D97-AF65-F5344CB8AC3E}">
        <p14:creationId xmlns:p14="http://schemas.microsoft.com/office/powerpoint/2010/main" val="230978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9D8AE-3004-9940-7D9B-5148FB0633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17DD3F-EBAD-CF1D-8688-4F323E4D6E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998643D-71E5-5A48-F2C3-2B2CEB4EAC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2EF6877-48DB-91E1-8922-80C1298A7F38}"/>
              </a:ext>
            </a:extLst>
          </p:cNvPr>
          <p:cNvSpPr>
            <a:spLocks noGrp="1"/>
          </p:cNvSpPr>
          <p:nvPr>
            <p:ph type="dt" sz="half" idx="10"/>
          </p:nvPr>
        </p:nvSpPr>
        <p:spPr/>
        <p:txBody>
          <a:bodyPr/>
          <a:lstStyle/>
          <a:p>
            <a:fld id="{CDAF388D-2CC2-4262-9F88-0952A7E86F50}" type="datetimeFigureOut">
              <a:rPr lang="en-IN" smtClean="0"/>
              <a:t>25-07-2025</a:t>
            </a:fld>
            <a:endParaRPr lang="en-IN"/>
          </a:p>
        </p:txBody>
      </p:sp>
      <p:sp>
        <p:nvSpPr>
          <p:cNvPr id="6" name="Footer Placeholder 5">
            <a:extLst>
              <a:ext uri="{FF2B5EF4-FFF2-40B4-BE49-F238E27FC236}">
                <a16:creationId xmlns:a16="http://schemas.microsoft.com/office/drawing/2014/main" id="{8C393420-3BD5-32D4-911B-B04A997D13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B2CFD2-972E-2777-A90C-6B343458A07F}"/>
              </a:ext>
            </a:extLst>
          </p:cNvPr>
          <p:cNvSpPr>
            <a:spLocks noGrp="1"/>
          </p:cNvSpPr>
          <p:nvPr>
            <p:ph type="sldNum" sz="quarter" idx="12"/>
          </p:nvPr>
        </p:nvSpPr>
        <p:spPr/>
        <p:txBody>
          <a:bodyPr/>
          <a:lstStyle/>
          <a:p>
            <a:fld id="{55124E8F-CD84-47DA-A52E-E3DDA8F81507}" type="slidenum">
              <a:rPr lang="en-IN" smtClean="0"/>
              <a:t>‹#›</a:t>
            </a:fld>
            <a:endParaRPr lang="en-IN"/>
          </a:p>
        </p:txBody>
      </p:sp>
    </p:spTree>
    <p:extLst>
      <p:ext uri="{BB962C8B-B14F-4D97-AF65-F5344CB8AC3E}">
        <p14:creationId xmlns:p14="http://schemas.microsoft.com/office/powerpoint/2010/main" val="2378525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60688-D3B4-0BE0-4AF4-0C8371553C5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F3B1D8-D6EB-810B-A5D8-B8768894C1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19FCD1-F9EA-71D4-75D2-B45072ACFE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C777654-FEFC-398C-054F-5305E83FC8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0ECACF-E2B6-089A-4E44-8E3D7D8776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F190B7B-5F9E-DF19-DDE9-4F41469103DF}"/>
              </a:ext>
            </a:extLst>
          </p:cNvPr>
          <p:cNvSpPr>
            <a:spLocks noGrp="1"/>
          </p:cNvSpPr>
          <p:nvPr>
            <p:ph type="dt" sz="half" idx="10"/>
          </p:nvPr>
        </p:nvSpPr>
        <p:spPr/>
        <p:txBody>
          <a:bodyPr/>
          <a:lstStyle/>
          <a:p>
            <a:fld id="{CDAF388D-2CC2-4262-9F88-0952A7E86F50}" type="datetimeFigureOut">
              <a:rPr lang="en-IN" smtClean="0"/>
              <a:t>25-07-2025</a:t>
            </a:fld>
            <a:endParaRPr lang="en-IN"/>
          </a:p>
        </p:txBody>
      </p:sp>
      <p:sp>
        <p:nvSpPr>
          <p:cNvPr id="8" name="Footer Placeholder 7">
            <a:extLst>
              <a:ext uri="{FF2B5EF4-FFF2-40B4-BE49-F238E27FC236}">
                <a16:creationId xmlns:a16="http://schemas.microsoft.com/office/drawing/2014/main" id="{AE4E8DD8-9E8B-DDE8-13EC-9F27F10EACA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EB65A01-422B-0263-A0CE-7ECDBD04AAA2}"/>
              </a:ext>
            </a:extLst>
          </p:cNvPr>
          <p:cNvSpPr>
            <a:spLocks noGrp="1"/>
          </p:cNvSpPr>
          <p:nvPr>
            <p:ph type="sldNum" sz="quarter" idx="12"/>
          </p:nvPr>
        </p:nvSpPr>
        <p:spPr/>
        <p:txBody>
          <a:bodyPr/>
          <a:lstStyle/>
          <a:p>
            <a:fld id="{55124E8F-CD84-47DA-A52E-E3DDA8F81507}" type="slidenum">
              <a:rPr lang="en-IN" smtClean="0"/>
              <a:t>‹#›</a:t>
            </a:fld>
            <a:endParaRPr lang="en-IN"/>
          </a:p>
        </p:txBody>
      </p:sp>
    </p:spTree>
    <p:extLst>
      <p:ext uri="{BB962C8B-B14F-4D97-AF65-F5344CB8AC3E}">
        <p14:creationId xmlns:p14="http://schemas.microsoft.com/office/powerpoint/2010/main" val="2872723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09E0D-C9F2-5260-FBF5-D1ED3A2A74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2B50EC-F9CA-4FF8-1F10-839EA06B610B}"/>
              </a:ext>
            </a:extLst>
          </p:cNvPr>
          <p:cNvSpPr>
            <a:spLocks noGrp="1"/>
          </p:cNvSpPr>
          <p:nvPr>
            <p:ph type="dt" sz="half" idx="10"/>
          </p:nvPr>
        </p:nvSpPr>
        <p:spPr/>
        <p:txBody>
          <a:bodyPr/>
          <a:lstStyle/>
          <a:p>
            <a:fld id="{CDAF388D-2CC2-4262-9F88-0952A7E86F50}" type="datetimeFigureOut">
              <a:rPr lang="en-IN" smtClean="0"/>
              <a:t>25-07-2025</a:t>
            </a:fld>
            <a:endParaRPr lang="en-IN"/>
          </a:p>
        </p:txBody>
      </p:sp>
      <p:sp>
        <p:nvSpPr>
          <p:cNvPr id="4" name="Footer Placeholder 3">
            <a:extLst>
              <a:ext uri="{FF2B5EF4-FFF2-40B4-BE49-F238E27FC236}">
                <a16:creationId xmlns:a16="http://schemas.microsoft.com/office/drawing/2014/main" id="{854B4541-294B-8361-A382-DDE80EFB2A3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805E39E-85C7-7FF8-9FA2-D55775E1495A}"/>
              </a:ext>
            </a:extLst>
          </p:cNvPr>
          <p:cNvSpPr>
            <a:spLocks noGrp="1"/>
          </p:cNvSpPr>
          <p:nvPr>
            <p:ph type="sldNum" sz="quarter" idx="12"/>
          </p:nvPr>
        </p:nvSpPr>
        <p:spPr/>
        <p:txBody>
          <a:bodyPr/>
          <a:lstStyle/>
          <a:p>
            <a:fld id="{55124E8F-CD84-47DA-A52E-E3DDA8F81507}" type="slidenum">
              <a:rPr lang="en-IN" smtClean="0"/>
              <a:t>‹#›</a:t>
            </a:fld>
            <a:endParaRPr lang="en-IN"/>
          </a:p>
        </p:txBody>
      </p:sp>
    </p:spTree>
    <p:extLst>
      <p:ext uri="{BB962C8B-B14F-4D97-AF65-F5344CB8AC3E}">
        <p14:creationId xmlns:p14="http://schemas.microsoft.com/office/powerpoint/2010/main" val="379897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ED0F0A-1AAC-DB91-FE40-0CF79E0F7607}"/>
              </a:ext>
            </a:extLst>
          </p:cNvPr>
          <p:cNvSpPr>
            <a:spLocks noGrp="1"/>
          </p:cNvSpPr>
          <p:nvPr>
            <p:ph type="dt" sz="half" idx="10"/>
          </p:nvPr>
        </p:nvSpPr>
        <p:spPr/>
        <p:txBody>
          <a:bodyPr/>
          <a:lstStyle/>
          <a:p>
            <a:fld id="{CDAF388D-2CC2-4262-9F88-0952A7E86F50}" type="datetimeFigureOut">
              <a:rPr lang="en-IN" smtClean="0"/>
              <a:t>25-07-2025</a:t>
            </a:fld>
            <a:endParaRPr lang="en-IN"/>
          </a:p>
        </p:txBody>
      </p:sp>
      <p:sp>
        <p:nvSpPr>
          <p:cNvPr id="3" name="Footer Placeholder 2">
            <a:extLst>
              <a:ext uri="{FF2B5EF4-FFF2-40B4-BE49-F238E27FC236}">
                <a16:creationId xmlns:a16="http://schemas.microsoft.com/office/drawing/2014/main" id="{8A4B15C1-EEA9-309F-5378-4C6BB98A741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4C52D9A-55F6-4694-6B10-E9B661B28EC3}"/>
              </a:ext>
            </a:extLst>
          </p:cNvPr>
          <p:cNvSpPr>
            <a:spLocks noGrp="1"/>
          </p:cNvSpPr>
          <p:nvPr>
            <p:ph type="sldNum" sz="quarter" idx="12"/>
          </p:nvPr>
        </p:nvSpPr>
        <p:spPr/>
        <p:txBody>
          <a:bodyPr/>
          <a:lstStyle/>
          <a:p>
            <a:fld id="{55124E8F-CD84-47DA-A52E-E3DDA8F81507}" type="slidenum">
              <a:rPr lang="en-IN" smtClean="0"/>
              <a:t>‹#›</a:t>
            </a:fld>
            <a:endParaRPr lang="en-IN"/>
          </a:p>
        </p:txBody>
      </p:sp>
    </p:spTree>
    <p:extLst>
      <p:ext uri="{BB962C8B-B14F-4D97-AF65-F5344CB8AC3E}">
        <p14:creationId xmlns:p14="http://schemas.microsoft.com/office/powerpoint/2010/main" val="1431995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B1496-C4F0-72A9-91DD-666ED0E162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4E83880-FD26-FECF-2409-F0C062AE59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252BC10-0C39-F0D9-4E9C-D890348784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B90EED-AB97-7A01-E483-2C2D6AF0D684}"/>
              </a:ext>
            </a:extLst>
          </p:cNvPr>
          <p:cNvSpPr>
            <a:spLocks noGrp="1"/>
          </p:cNvSpPr>
          <p:nvPr>
            <p:ph type="dt" sz="half" idx="10"/>
          </p:nvPr>
        </p:nvSpPr>
        <p:spPr/>
        <p:txBody>
          <a:bodyPr/>
          <a:lstStyle/>
          <a:p>
            <a:fld id="{CDAF388D-2CC2-4262-9F88-0952A7E86F50}" type="datetimeFigureOut">
              <a:rPr lang="en-IN" smtClean="0"/>
              <a:t>25-07-2025</a:t>
            </a:fld>
            <a:endParaRPr lang="en-IN"/>
          </a:p>
        </p:txBody>
      </p:sp>
      <p:sp>
        <p:nvSpPr>
          <p:cNvPr id="6" name="Footer Placeholder 5">
            <a:extLst>
              <a:ext uri="{FF2B5EF4-FFF2-40B4-BE49-F238E27FC236}">
                <a16:creationId xmlns:a16="http://schemas.microsoft.com/office/drawing/2014/main" id="{FD11B918-52E4-187C-76E1-3BAC5F58DA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733410-5A66-B116-6CD4-854B2CD1B14F}"/>
              </a:ext>
            </a:extLst>
          </p:cNvPr>
          <p:cNvSpPr>
            <a:spLocks noGrp="1"/>
          </p:cNvSpPr>
          <p:nvPr>
            <p:ph type="sldNum" sz="quarter" idx="12"/>
          </p:nvPr>
        </p:nvSpPr>
        <p:spPr/>
        <p:txBody>
          <a:bodyPr/>
          <a:lstStyle/>
          <a:p>
            <a:fld id="{55124E8F-CD84-47DA-A52E-E3DDA8F81507}" type="slidenum">
              <a:rPr lang="en-IN" smtClean="0"/>
              <a:t>‹#›</a:t>
            </a:fld>
            <a:endParaRPr lang="en-IN"/>
          </a:p>
        </p:txBody>
      </p:sp>
    </p:spTree>
    <p:extLst>
      <p:ext uri="{BB962C8B-B14F-4D97-AF65-F5344CB8AC3E}">
        <p14:creationId xmlns:p14="http://schemas.microsoft.com/office/powerpoint/2010/main" val="3749548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3E31C-8503-3723-0BE5-E6D6196DD5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4D58521-0BD8-254F-9A7A-929B86595A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99A535F-FD09-5EDE-3F96-5785B05060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9BE0ED-62B6-9F73-AF41-3D5E4EE9F9FC}"/>
              </a:ext>
            </a:extLst>
          </p:cNvPr>
          <p:cNvSpPr>
            <a:spLocks noGrp="1"/>
          </p:cNvSpPr>
          <p:nvPr>
            <p:ph type="dt" sz="half" idx="10"/>
          </p:nvPr>
        </p:nvSpPr>
        <p:spPr/>
        <p:txBody>
          <a:bodyPr/>
          <a:lstStyle/>
          <a:p>
            <a:fld id="{CDAF388D-2CC2-4262-9F88-0952A7E86F50}" type="datetimeFigureOut">
              <a:rPr lang="en-IN" smtClean="0"/>
              <a:t>25-07-2025</a:t>
            </a:fld>
            <a:endParaRPr lang="en-IN"/>
          </a:p>
        </p:txBody>
      </p:sp>
      <p:sp>
        <p:nvSpPr>
          <p:cNvPr id="6" name="Footer Placeholder 5">
            <a:extLst>
              <a:ext uri="{FF2B5EF4-FFF2-40B4-BE49-F238E27FC236}">
                <a16:creationId xmlns:a16="http://schemas.microsoft.com/office/drawing/2014/main" id="{15B33BD8-51AA-7FE7-E099-8671102F3B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3B621E-BDC4-6471-F5AC-D712825F4338}"/>
              </a:ext>
            </a:extLst>
          </p:cNvPr>
          <p:cNvSpPr>
            <a:spLocks noGrp="1"/>
          </p:cNvSpPr>
          <p:nvPr>
            <p:ph type="sldNum" sz="quarter" idx="12"/>
          </p:nvPr>
        </p:nvSpPr>
        <p:spPr/>
        <p:txBody>
          <a:bodyPr/>
          <a:lstStyle/>
          <a:p>
            <a:fld id="{55124E8F-CD84-47DA-A52E-E3DDA8F81507}" type="slidenum">
              <a:rPr lang="en-IN" smtClean="0"/>
              <a:t>‹#›</a:t>
            </a:fld>
            <a:endParaRPr lang="en-IN"/>
          </a:p>
        </p:txBody>
      </p:sp>
    </p:spTree>
    <p:extLst>
      <p:ext uri="{BB962C8B-B14F-4D97-AF65-F5344CB8AC3E}">
        <p14:creationId xmlns:p14="http://schemas.microsoft.com/office/powerpoint/2010/main" val="2379549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6FC5A-32A8-C881-61D5-9F5333DFB29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AC0EE8-37C7-714C-5FD3-F68F161AB3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05291E-5068-64EA-07F9-8DF325C2F2D3}"/>
              </a:ext>
            </a:extLst>
          </p:cNvPr>
          <p:cNvSpPr>
            <a:spLocks noGrp="1"/>
          </p:cNvSpPr>
          <p:nvPr>
            <p:ph type="dt" sz="half" idx="10"/>
          </p:nvPr>
        </p:nvSpPr>
        <p:spPr/>
        <p:txBody>
          <a:bodyPr/>
          <a:lstStyle/>
          <a:p>
            <a:fld id="{CDAF388D-2CC2-4262-9F88-0952A7E86F50}" type="datetimeFigureOut">
              <a:rPr lang="en-IN" smtClean="0"/>
              <a:t>25-07-2025</a:t>
            </a:fld>
            <a:endParaRPr lang="en-IN"/>
          </a:p>
        </p:txBody>
      </p:sp>
      <p:sp>
        <p:nvSpPr>
          <p:cNvPr id="5" name="Footer Placeholder 4">
            <a:extLst>
              <a:ext uri="{FF2B5EF4-FFF2-40B4-BE49-F238E27FC236}">
                <a16:creationId xmlns:a16="http://schemas.microsoft.com/office/drawing/2014/main" id="{46CD6D71-6574-D712-E6EC-8988883192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F2610F-F0BE-16AA-E379-42DEEEA614C9}"/>
              </a:ext>
            </a:extLst>
          </p:cNvPr>
          <p:cNvSpPr>
            <a:spLocks noGrp="1"/>
          </p:cNvSpPr>
          <p:nvPr>
            <p:ph type="sldNum" sz="quarter" idx="12"/>
          </p:nvPr>
        </p:nvSpPr>
        <p:spPr/>
        <p:txBody>
          <a:bodyPr/>
          <a:lstStyle/>
          <a:p>
            <a:fld id="{55124E8F-CD84-47DA-A52E-E3DDA8F81507}" type="slidenum">
              <a:rPr lang="en-IN" smtClean="0"/>
              <a:t>‹#›</a:t>
            </a:fld>
            <a:endParaRPr lang="en-IN"/>
          </a:p>
        </p:txBody>
      </p:sp>
    </p:spTree>
    <p:extLst>
      <p:ext uri="{BB962C8B-B14F-4D97-AF65-F5344CB8AC3E}">
        <p14:creationId xmlns:p14="http://schemas.microsoft.com/office/powerpoint/2010/main" val="4118514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1D3508-8126-B1EA-C272-0789D6BE3C6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87AA5D0-6B6E-97CE-6613-15A745C728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E2CAC8-4437-D656-5FD7-4EFE5920E862}"/>
              </a:ext>
            </a:extLst>
          </p:cNvPr>
          <p:cNvSpPr>
            <a:spLocks noGrp="1"/>
          </p:cNvSpPr>
          <p:nvPr>
            <p:ph type="dt" sz="half" idx="10"/>
          </p:nvPr>
        </p:nvSpPr>
        <p:spPr/>
        <p:txBody>
          <a:bodyPr/>
          <a:lstStyle/>
          <a:p>
            <a:fld id="{CDAF388D-2CC2-4262-9F88-0952A7E86F50}" type="datetimeFigureOut">
              <a:rPr lang="en-IN" smtClean="0"/>
              <a:t>25-07-2025</a:t>
            </a:fld>
            <a:endParaRPr lang="en-IN"/>
          </a:p>
        </p:txBody>
      </p:sp>
      <p:sp>
        <p:nvSpPr>
          <p:cNvPr id="5" name="Footer Placeholder 4">
            <a:extLst>
              <a:ext uri="{FF2B5EF4-FFF2-40B4-BE49-F238E27FC236}">
                <a16:creationId xmlns:a16="http://schemas.microsoft.com/office/drawing/2014/main" id="{A52D130A-AA30-38B1-005A-0BF1C731F6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3B5B34-3A09-D399-650B-443BA2F4D17B}"/>
              </a:ext>
            </a:extLst>
          </p:cNvPr>
          <p:cNvSpPr>
            <a:spLocks noGrp="1"/>
          </p:cNvSpPr>
          <p:nvPr>
            <p:ph type="sldNum" sz="quarter" idx="12"/>
          </p:nvPr>
        </p:nvSpPr>
        <p:spPr/>
        <p:txBody>
          <a:bodyPr/>
          <a:lstStyle/>
          <a:p>
            <a:fld id="{55124E8F-CD84-47DA-A52E-E3DDA8F81507}" type="slidenum">
              <a:rPr lang="en-IN" smtClean="0"/>
              <a:t>‹#›</a:t>
            </a:fld>
            <a:endParaRPr lang="en-IN"/>
          </a:p>
        </p:txBody>
      </p:sp>
    </p:spTree>
    <p:extLst>
      <p:ext uri="{BB962C8B-B14F-4D97-AF65-F5344CB8AC3E}">
        <p14:creationId xmlns:p14="http://schemas.microsoft.com/office/powerpoint/2010/main" val="1660626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C88FD8-D66B-3A04-B45A-3805CA158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036C94-B0F4-9184-48C4-3A85D9E430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B33940-C9EF-9A8D-6406-2E9DC11DC6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AF388D-2CC2-4262-9F88-0952A7E86F50}" type="datetimeFigureOut">
              <a:rPr lang="en-IN" smtClean="0"/>
              <a:t>25-07-2025</a:t>
            </a:fld>
            <a:endParaRPr lang="en-IN"/>
          </a:p>
        </p:txBody>
      </p:sp>
      <p:sp>
        <p:nvSpPr>
          <p:cNvPr id="5" name="Footer Placeholder 4">
            <a:extLst>
              <a:ext uri="{FF2B5EF4-FFF2-40B4-BE49-F238E27FC236}">
                <a16:creationId xmlns:a16="http://schemas.microsoft.com/office/drawing/2014/main" id="{DA01209C-3B8D-F5A5-B6E0-7739C1BABE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E3F4764-159A-D980-12BD-61BC29A3CF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124E8F-CD84-47DA-A52E-E3DDA8F81507}" type="slidenum">
              <a:rPr lang="en-IN" smtClean="0"/>
              <a:t>‹#›</a:t>
            </a:fld>
            <a:endParaRPr lang="en-IN"/>
          </a:p>
        </p:txBody>
      </p:sp>
    </p:spTree>
    <p:extLst>
      <p:ext uri="{BB962C8B-B14F-4D97-AF65-F5344CB8AC3E}">
        <p14:creationId xmlns:p14="http://schemas.microsoft.com/office/powerpoint/2010/main" val="2951383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linkedin.com/company/classroom-tech/" TargetMode="External"/><Relationship Id="rId2" Type="http://schemas.openxmlformats.org/officeDocument/2006/relationships/hyperlink" Target="https://classroomtech.in/"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hyperlink" Target="https://www.kaggle.com/datasets/akxiit/blinkit-sales-dataset/data" TargetMode="Externa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0221D13-A12D-EA28-904E-29F91712CC30}"/>
              </a:ext>
            </a:extLst>
          </p:cNvPr>
          <p:cNvSpPr/>
          <p:nvPr/>
        </p:nvSpPr>
        <p:spPr>
          <a:xfrm>
            <a:off x="0" y="1923068"/>
            <a:ext cx="6259398" cy="193249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8" name="Picture 7">
            <a:extLst>
              <a:ext uri="{FF2B5EF4-FFF2-40B4-BE49-F238E27FC236}">
                <a16:creationId xmlns:a16="http://schemas.microsoft.com/office/drawing/2014/main" id="{D9F407EB-4621-E376-B4ED-45A5DF2E46EC}"/>
              </a:ext>
            </a:extLst>
          </p:cNvPr>
          <p:cNvPicPr>
            <a:picLocks noChangeAspect="1"/>
          </p:cNvPicPr>
          <p:nvPr/>
        </p:nvPicPr>
        <p:blipFill>
          <a:blip r:embed="rId2">
            <a:extLst>
              <a:ext uri="{28A0092B-C50C-407E-A947-70E740481C1C}">
                <a14:useLocalDpi xmlns:a14="http://schemas.microsoft.com/office/drawing/2010/main" val="0"/>
              </a:ext>
            </a:extLst>
          </a:blip>
          <a:srcRect r="3989"/>
          <a:stretch>
            <a:fillRect/>
          </a:stretch>
        </p:blipFill>
        <p:spPr>
          <a:xfrm>
            <a:off x="-100013" y="0"/>
            <a:ext cx="12292013" cy="6858000"/>
          </a:xfrm>
          <a:prstGeom prst="rect">
            <a:avLst/>
          </a:prstGeom>
          <a:solidFill>
            <a:schemeClr val="tx1"/>
          </a:solidFill>
        </p:spPr>
      </p:pic>
    </p:spTree>
    <p:extLst>
      <p:ext uri="{BB962C8B-B14F-4D97-AF65-F5344CB8AC3E}">
        <p14:creationId xmlns:p14="http://schemas.microsoft.com/office/powerpoint/2010/main" val="3435384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9A146-A1FF-8891-30B4-1632E5EA613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495CE94-12B5-AFC3-583C-85FB96629255}"/>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8A964CFB-5763-BC5E-55EE-4617C0C6B606}"/>
              </a:ext>
            </a:extLst>
          </p:cNvPr>
          <p:cNvSpPr/>
          <p:nvPr/>
        </p:nvSpPr>
        <p:spPr>
          <a:xfrm>
            <a:off x="0" y="1923068"/>
            <a:ext cx="6259398" cy="193249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78179752-C69D-BA11-1358-301F5035BD3F}"/>
              </a:ext>
            </a:extLst>
          </p:cNvPr>
          <p:cNvSpPr txBox="1"/>
          <p:nvPr/>
        </p:nvSpPr>
        <p:spPr>
          <a:xfrm>
            <a:off x="622169" y="2036190"/>
            <a:ext cx="6146276" cy="1938992"/>
          </a:xfrm>
          <a:prstGeom prst="rect">
            <a:avLst/>
          </a:prstGeom>
          <a:noFill/>
        </p:spPr>
        <p:txBody>
          <a:bodyPr wrap="square" rtlCol="0">
            <a:spAutoFit/>
          </a:bodyPr>
          <a:lstStyle/>
          <a:p>
            <a:r>
              <a:rPr lang="en-IN" sz="6000" b="1" dirty="0">
                <a:latin typeface="Segoe UI" panose="020B0502040204020203" pitchFamily="34" charset="0"/>
                <a:cs typeface="Segoe UI" panose="020B0502040204020203" pitchFamily="34" charset="0"/>
              </a:rPr>
              <a:t>Blink</a:t>
            </a:r>
            <a:r>
              <a:rPr lang="en-IN" sz="6000" b="1" dirty="0">
                <a:solidFill>
                  <a:srgbClr val="006400"/>
                </a:solidFill>
                <a:latin typeface="Segoe UI" panose="020B0502040204020203" pitchFamily="34" charset="0"/>
                <a:cs typeface="Segoe UI" panose="020B0502040204020203" pitchFamily="34" charset="0"/>
              </a:rPr>
              <a:t>it</a:t>
            </a:r>
            <a:r>
              <a:rPr lang="en-IN" sz="6000" dirty="0">
                <a:latin typeface="Segoe UI" panose="020B0502040204020203" pitchFamily="34" charset="0"/>
                <a:cs typeface="Segoe UI" panose="020B0502040204020203" pitchFamily="34" charset="0"/>
              </a:rPr>
              <a:t> Sales Data Analysis</a:t>
            </a:r>
          </a:p>
        </p:txBody>
      </p:sp>
    </p:spTree>
    <p:extLst>
      <p:ext uri="{BB962C8B-B14F-4D97-AF65-F5344CB8AC3E}">
        <p14:creationId xmlns:p14="http://schemas.microsoft.com/office/powerpoint/2010/main" val="4032827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7DC5FB2-C7AE-4BB8-7A75-F94B94AE6725}"/>
              </a:ext>
            </a:extLst>
          </p:cNvPr>
          <p:cNvSpPr txBox="1"/>
          <p:nvPr/>
        </p:nvSpPr>
        <p:spPr>
          <a:xfrm>
            <a:off x="2505173" y="527901"/>
            <a:ext cx="7181654" cy="5205656"/>
          </a:xfrm>
          <a:prstGeom prst="rect">
            <a:avLst/>
          </a:prstGeom>
          <a:noFill/>
        </p:spPr>
        <p:txBody>
          <a:bodyPr wrap="square" rtlCol="0">
            <a:spAutoFit/>
          </a:bodyPr>
          <a:lstStyle/>
          <a:p>
            <a:pPr>
              <a:lnSpc>
                <a:spcPct val="150000"/>
              </a:lnSpc>
            </a:pPr>
            <a:r>
              <a:rPr lang="en-IN" sz="2000" b="1" dirty="0">
                <a:solidFill>
                  <a:schemeClr val="bg1"/>
                </a:solidFill>
                <a:latin typeface="Segoe UI" panose="020B0502040204020203" pitchFamily="34" charset="0"/>
                <a:cs typeface="Segoe UI" panose="020B0502040204020203" pitchFamily="34" charset="0"/>
              </a:rPr>
              <a:t>Your Name:</a:t>
            </a:r>
            <a:r>
              <a:rPr lang="en-IN" sz="2000" dirty="0">
                <a:solidFill>
                  <a:schemeClr val="bg1"/>
                </a:solidFill>
                <a:latin typeface="Segoe UI" panose="020B0502040204020203" pitchFamily="34" charset="0"/>
                <a:cs typeface="Segoe UI" panose="020B0502040204020203" pitchFamily="34" charset="0"/>
              </a:rPr>
              <a:t> Arpita chakraborty</a:t>
            </a:r>
            <a:endParaRPr lang="en-IN" dirty="0">
              <a:solidFill>
                <a:schemeClr val="bg1"/>
              </a:solidFill>
              <a:latin typeface="Segoe UI" panose="020B0502040204020203" pitchFamily="34" charset="0"/>
              <a:cs typeface="Segoe UI" panose="020B0502040204020203" pitchFamily="34" charset="0"/>
            </a:endParaRPr>
          </a:p>
          <a:p>
            <a:pPr>
              <a:lnSpc>
                <a:spcPct val="150000"/>
              </a:lnSpc>
            </a:pPr>
            <a:r>
              <a:rPr lang="en-IN" sz="2000" b="1" dirty="0">
                <a:solidFill>
                  <a:schemeClr val="bg1"/>
                </a:solidFill>
                <a:latin typeface="Segoe UI" panose="020B0502040204020203" pitchFamily="34" charset="0"/>
                <a:cs typeface="Segoe UI" panose="020B0502040204020203" pitchFamily="34" charset="0"/>
              </a:rPr>
              <a:t>College Name:</a:t>
            </a:r>
            <a:r>
              <a:rPr lang="en-IN" sz="2000" dirty="0">
                <a:solidFill>
                  <a:schemeClr val="bg1"/>
                </a:solidFill>
                <a:latin typeface="Segoe UI" panose="020B0502040204020203" pitchFamily="34" charset="0"/>
                <a:cs typeface="Segoe UI" panose="020B0502040204020203" pitchFamily="34" charset="0"/>
              </a:rPr>
              <a:t> </a:t>
            </a:r>
            <a:r>
              <a:rPr lang="en-US" dirty="0">
                <a:solidFill>
                  <a:schemeClr val="bg1"/>
                </a:solidFill>
                <a:latin typeface="Segoe UI" panose="020B0502040204020203" pitchFamily="34" charset="0"/>
                <a:cs typeface="Segoe UI" panose="020B0502040204020203" pitchFamily="34" charset="0"/>
              </a:rPr>
              <a:t>Guru Nanak Institute of Technology</a:t>
            </a:r>
            <a:endParaRPr lang="en-IN" dirty="0">
              <a:solidFill>
                <a:schemeClr val="bg1"/>
              </a:solidFill>
              <a:latin typeface="Segoe UI" panose="020B0502040204020203" pitchFamily="34" charset="0"/>
              <a:cs typeface="Segoe UI" panose="020B0502040204020203" pitchFamily="34" charset="0"/>
            </a:endParaRPr>
          </a:p>
          <a:p>
            <a:pPr>
              <a:lnSpc>
                <a:spcPct val="150000"/>
              </a:lnSpc>
            </a:pPr>
            <a:r>
              <a:rPr lang="en-IN" sz="2000" b="1" dirty="0">
                <a:solidFill>
                  <a:schemeClr val="bg1"/>
                </a:solidFill>
                <a:latin typeface="Segoe UI" panose="020B0502040204020203" pitchFamily="34" charset="0"/>
                <a:cs typeface="Segoe UI" panose="020B0502040204020203" pitchFamily="34" charset="0"/>
              </a:rPr>
              <a:t>Department:</a:t>
            </a:r>
            <a:r>
              <a:rPr lang="en-IN" sz="2000" dirty="0">
                <a:solidFill>
                  <a:schemeClr val="bg1"/>
                </a:solidFill>
                <a:latin typeface="Segoe UI" panose="020B0502040204020203" pitchFamily="34" charset="0"/>
                <a:cs typeface="Segoe UI" panose="020B0502040204020203" pitchFamily="34" charset="0"/>
              </a:rPr>
              <a:t> </a:t>
            </a:r>
            <a:r>
              <a:rPr lang="en-IN" dirty="0">
                <a:solidFill>
                  <a:schemeClr val="bg1"/>
                </a:solidFill>
                <a:latin typeface="Segoe UI" panose="020B0502040204020203" pitchFamily="34" charset="0"/>
                <a:cs typeface="Segoe UI" panose="020B0502040204020203" pitchFamily="34" charset="0"/>
              </a:rPr>
              <a:t>Master of Computer Applications</a:t>
            </a:r>
          </a:p>
          <a:p>
            <a:pPr>
              <a:lnSpc>
                <a:spcPct val="150000"/>
              </a:lnSpc>
            </a:pPr>
            <a:r>
              <a:rPr lang="en-IN" sz="2000" b="1" dirty="0">
                <a:solidFill>
                  <a:schemeClr val="bg1"/>
                </a:solidFill>
                <a:latin typeface="Segoe UI" panose="020B0502040204020203" pitchFamily="34" charset="0"/>
                <a:cs typeface="Segoe UI" panose="020B0502040204020203" pitchFamily="34" charset="0"/>
              </a:rPr>
              <a:t>Semester: </a:t>
            </a:r>
            <a:r>
              <a:rPr lang="en-IN" dirty="0">
                <a:solidFill>
                  <a:schemeClr val="bg1"/>
                </a:solidFill>
                <a:latin typeface="Segoe UI" panose="020B0502040204020203" pitchFamily="34" charset="0"/>
                <a:cs typeface="Segoe UI" panose="020B0502040204020203" pitchFamily="34" charset="0"/>
              </a:rPr>
              <a:t>3</a:t>
            </a:r>
            <a:r>
              <a:rPr lang="en-IN" baseline="30000" dirty="0">
                <a:solidFill>
                  <a:schemeClr val="bg1"/>
                </a:solidFill>
                <a:latin typeface="Segoe UI" panose="020B0502040204020203" pitchFamily="34" charset="0"/>
                <a:cs typeface="Segoe UI" panose="020B0502040204020203" pitchFamily="34" charset="0"/>
              </a:rPr>
              <a:t>rd</a:t>
            </a:r>
            <a:r>
              <a:rPr lang="en-IN" dirty="0">
                <a:solidFill>
                  <a:schemeClr val="bg1"/>
                </a:solidFill>
                <a:latin typeface="Segoe UI" panose="020B0502040204020203" pitchFamily="34" charset="0"/>
                <a:cs typeface="Segoe UI" panose="020B0502040204020203" pitchFamily="34" charset="0"/>
              </a:rPr>
              <a:t> Semester </a:t>
            </a:r>
          </a:p>
          <a:p>
            <a:endParaRPr lang="en-IN" dirty="0">
              <a:solidFill>
                <a:schemeClr val="bg1"/>
              </a:solidFill>
            </a:endParaRPr>
          </a:p>
          <a:p>
            <a:pPr algn="ctr">
              <a:lnSpc>
                <a:spcPct val="150000"/>
              </a:lnSpc>
            </a:pPr>
            <a:r>
              <a:rPr lang="en-IN" sz="3200" b="1" dirty="0">
                <a:solidFill>
                  <a:schemeClr val="bg1"/>
                </a:solidFill>
                <a:latin typeface="Segoe UI" panose="020B0502040204020203" pitchFamily="34" charset="0"/>
                <a:cs typeface="Segoe UI" panose="020B0502040204020203" pitchFamily="34" charset="0"/>
              </a:rPr>
              <a:t>🎓Internship Under Classroom</a:t>
            </a:r>
            <a:r>
              <a:rPr lang="en-IN" sz="3200" dirty="0">
                <a:solidFill>
                  <a:schemeClr val="bg1"/>
                </a:solidFill>
                <a:latin typeface="Segoe UI" panose="020B0502040204020203" pitchFamily="34" charset="0"/>
                <a:cs typeface="Segoe UI" panose="020B0502040204020203" pitchFamily="34" charset="0"/>
              </a:rPr>
              <a:t> </a:t>
            </a:r>
          </a:p>
          <a:p>
            <a:pPr>
              <a:lnSpc>
                <a:spcPct val="150000"/>
              </a:lnSpc>
            </a:pPr>
            <a:r>
              <a:rPr lang="en-IN" sz="2000" dirty="0">
                <a:solidFill>
                  <a:schemeClr val="bg1"/>
                </a:solidFill>
                <a:latin typeface="Segoe UI" panose="020B0502040204020203" pitchFamily="34" charset="0"/>
                <a:cs typeface="Segoe UI" panose="020B0502040204020203" pitchFamily="34" charset="0"/>
              </a:rPr>
              <a:t>📞 Contact Us </a:t>
            </a:r>
          </a:p>
          <a:p>
            <a:pPr>
              <a:lnSpc>
                <a:spcPct val="150000"/>
              </a:lnSpc>
            </a:pPr>
            <a:r>
              <a:rPr lang="en-IN" sz="2000" dirty="0">
                <a:solidFill>
                  <a:schemeClr val="bg1"/>
                </a:solidFill>
                <a:latin typeface="Segoe UI" panose="020B0502040204020203" pitchFamily="34" charset="0"/>
                <a:cs typeface="Segoe UI" panose="020B0502040204020203" pitchFamily="34" charset="0"/>
              </a:rPr>
              <a:t>📱 Phone: </a:t>
            </a:r>
            <a:r>
              <a:rPr lang="en-IN" sz="1600" dirty="0">
                <a:solidFill>
                  <a:schemeClr val="bg1"/>
                </a:solidFill>
                <a:latin typeface="Segoe UI" panose="020B0502040204020203" pitchFamily="34" charset="0"/>
                <a:cs typeface="Segoe UI" panose="020B0502040204020203" pitchFamily="34" charset="0"/>
              </a:rPr>
              <a:t>8981838547 </a:t>
            </a:r>
          </a:p>
          <a:p>
            <a:pPr>
              <a:lnSpc>
                <a:spcPct val="150000"/>
              </a:lnSpc>
            </a:pPr>
            <a:r>
              <a:rPr lang="en-IN" sz="2000" dirty="0">
                <a:solidFill>
                  <a:schemeClr val="bg1"/>
                </a:solidFill>
                <a:latin typeface="Segoe UI" panose="020B0502040204020203" pitchFamily="34" charset="0"/>
                <a:cs typeface="Segoe UI" panose="020B0502040204020203" pitchFamily="34" charset="0"/>
              </a:rPr>
              <a:t>🌐 Website</a:t>
            </a:r>
            <a:r>
              <a:rPr lang="en-IN" sz="1600" dirty="0">
                <a:solidFill>
                  <a:schemeClr val="bg1"/>
                </a:solidFill>
                <a:latin typeface="Segoe UI" panose="020B0502040204020203" pitchFamily="34" charset="0"/>
                <a:cs typeface="Segoe UI" panose="020B0502040204020203" pitchFamily="34" charset="0"/>
              </a:rPr>
              <a:t>: </a:t>
            </a:r>
            <a:r>
              <a:rPr lang="en-IN" sz="1600" dirty="0">
                <a:solidFill>
                  <a:schemeClr val="bg1"/>
                </a:solidFill>
                <a:latin typeface="Segoe UI" panose="020B0502040204020203" pitchFamily="34" charset="0"/>
                <a:cs typeface="Segoe UI" panose="020B0502040204020203" pitchFamily="34" charset="0"/>
                <a:hlinkClick r:id="rId2">
                  <a:extLst>
                    <a:ext uri="{A12FA001-AC4F-418D-AE19-62706E023703}">
                      <ahyp:hlinkClr xmlns:ahyp="http://schemas.microsoft.com/office/drawing/2018/hyperlinkcolor" val="tx"/>
                    </a:ext>
                  </a:extLst>
                </a:hlinkClick>
              </a:rPr>
              <a:t>https://classroomtech.in</a:t>
            </a:r>
            <a:r>
              <a:rPr lang="en-IN" sz="1600" dirty="0">
                <a:solidFill>
                  <a:schemeClr val="bg1"/>
                </a:solidFill>
                <a:latin typeface="Segoe UI" panose="020B0502040204020203" pitchFamily="34" charset="0"/>
                <a:cs typeface="Segoe UI" panose="020B0502040204020203" pitchFamily="34" charset="0"/>
              </a:rPr>
              <a:t> </a:t>
            </a:r>
          </a:p>
          <a:p>
            <a:pPr>
              <a:lnSpc>
                <a:spcPct val="150000"/>
              </a:lnSpc>
            </a:pPr>
            <a:r>
              <a:rPr lang="en-IN" sz="2000" dirty="0">
                <a:solidFill>
                  <a:schemeClr val="bg1"/>
                </a:solidFill>
                <a:latin typeface="Segoe UI" panose="020B0502040204020203" pitchFamily="34" charset="0"/>
                <a:cs typeface="Segoe UI" panose="020B0502040204020203" pitchFamily="34" charset="0"/>
              </a:rPr>
              <a:t>🔗 LinkedIn: </a:t>
            </a:r>
            <a:r>
              <a:rPr lang="en-IN" sz="1600" dirty="0">
                <a:solidFill>
                  <a:schemeClr val="bg1"/>
                </a:solidFill>
                <a:latin typeface="Segoe UI" panose="020B0502040204020203" pitchFamily="34" charset="0"/>
                <a:cs typeface="Segoe UI" panose="020B0502040204020203" pitchFamily="34" charset="0"/>
                <a:hlinkClick r:id="rId3">
                  <a:extLst>
                    <a:ext uri="{A12FA001-AC4F-418D-AE19-62706E023703}">
                      <ahyp:hlinkClr xmlns:ahyp="http://schemas.microsoft.com/office/drawing/2018/hyperlinkcolor" val="tx"/>
                    </a:ext>
                  </a:extLst>
                </a:hlinkClick>
              </a:rPr>
              <a:t>https://www.linkedin.com/company/classroom-tech/</a:t>
            </a:r>
            <a:r>
              <a:rPr lang="en-IN" sz="1600" dirty="0">
                <a:solidFill>
                  <a:schemeClr val="bg1"/>
                </a:solidFill>
                <a:latin typeface="Segoe UI" panose="020B0502040204020203" pitchFamily="34" charset="0"/>
                <a:cs typeface="Segoe UI" panose="020B0502040204020203" pitchFamily="34" charset="0"/>
              </a:rPr>
              <a:t> </a:t>
            </a:r>
          </a:p>
          <a:p>
            <a:pPr>
              <a:lnSpc>
                <a:spcPct val="150000"/>
              </a:lnSpc>
            </a:pPr>
            <a:r>
              <a:rPr lang="en-US" sz="2000" b="1" dirty="0">
                <a:solidFill>
                  <a:schemeClr val="bg1"/>
                </a:solidFill>
                <a:latin typeface="Segoe UI" panose="020B0502040204020203" pitchFamily="34" charset="0"/>
                <a:cs typeface="Segoe UI" panose="020B0502040204020203" pitchFamily="34" charset="0"/>
              </a:rPr>
              <a:t>⌚</a:t>
            </a:r>
            <a:r>
              <a:rPr lang="en-IN" sz="2000" b="1" dirty="0">
                <a:solidFill>
                  <a:schemeClr val="bg1"/>
                </a:solidFill>
                <a:latin typeface="Segoe UI" panose="020B0502040204020203" pitchFamily="34" charset="0"/>
                <a:cs typeface="Segoe UI" panose="020B0502040204020203" pitchFamily="34" charset="0"/>
              </a:rPr>
              <a:t>Duration:</a:t>
            </a:r>
            <a:r>
              <a:rPr lang="en-IN" sz="2000" dirty="0">
                <a:solidFill>
                  <a:schemeClr val="bg1"/>
                </a:solidFill>
                <a:latin typeface="Segoe UI" panose="020B0502040204020203" pitchFamily="34" charset="0"/>
                <a:cs typeface="Segoe UI" panose="020B0502040204020203" pitchFamily="34" charset="0"/>
              </a:rPr>
              <a:t> </a:t>
            </a:r>
            <a:r>
              <a:rPr lang="en-IN" sz="1600" dirty="0">
                <a:solidFill>
                  <a:schemeClr val="bg1"/>
                </a:solidFill>
                <a:latin typeface="Segoe UI" panose="020B0502040204020203" pitchFamily="34" charset="0"/>
                <a:cs typeface="Segoe UI" panose="020B0502040204020203" pitchFamily="34" charset="0"/>
              </a:rPr>
              <a:t>3 months (April 1, 2025 – June 30, 2025)</a:t>
            </a:r>
          </a:p>
        </p:txBody>
      </p:sp>
    </p:spTree>
    <p:extLst>
      <p:ext uri="{BB962C8B-B14F-4D97-AF65-F5344CB8AC3E}">
        <p14:creationId xmlns:p14="http://schemas.microsoft.com/office/powerpoint/2010/main" val="2985650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7A353A-9719-4F60-658A-0D3D25D89709}"/>
              </a:ext>
            </a:extLst>
          </p:cNvPr>
          <p:cNvSpPr txBox="1"/>
          <p:nvPr/>
        </p:nvSpPr>
        <p:spPr>
          <a:xfrm>
            <a:off x="1928075" y="2484846"/>
            <a:ext cx="8823490" cy="1477328"/>
          </a:xfrm>
          <a:prstGeom prst="rect">
            <a:avLst/>
          </a:prstGeom>
          <a:noFill/>
        </p:spPr>
        <p:txBody>
          <a:bodyPr wrap="square" rtlCol="0">
            <a:spAutoFit/>
          </a:bodyPr>
          <a:lstStyle/>
          <a:p>
            <a:r>
              <a:rPr lang="en-US" dirty="0">
                <a:solidFill>
                  <a:schemeClr val="bg1"/>
                </a:solidFill>
                <a:latin typeface="Segoe UI" panose="020B0502040204020203" pitchFamily="34" charset="0"/>
                <a:cs typeface="Segoe UI" panose="020B0502040204020203" pitchFamily="34" charset="0"/>
              </a:rPr>
              <a:t>Thanking my guide, </a:t>
            </a:r>
            <a:r>
              <a:rPr lang="en-US" b="1" dirty="0">
                <a:solidFill>
                  <a:schemeClr val="bg1"/>
                </a:solidFill>
                <a:latin typeface="Segoe UI" panose="020B0502040204020203" pitchFamily="34" charset="0"/>
                <a:cs typeface="Segoe UI" panose="020B0502040204020203" pitchFamily="34" charset="0"/>
              </a:rPr>
              <a:t>Mr. Satyaki Das </a:t>
            </a:r>
            <a:r>
              <a:rPr lang="en-US" dirty="0">
                <a:solidFill>
                  <a:schemeClr val="bg1"/>
                </a:solidFill>
                <a:latin typeface="Segoe UI" panose="020B0502040204020203" pitchFamily="34" charset="0"/>
                <a:cs typeface="Segoe UI" panose="020B0502040204020203" pitchFamily="34" charset="0"/>
              </a:rPr>
              <a:t>, for their invaluable support and guidance throughout this project. I would also like to express my gratitude to </a:t>
            </a:r>
            <a:r>
              <a:rPr lang="en-US" b="1" dirty="0">
                <a:solidFill>
                  <a:schemeClr val="bg1"/>
                </a:solidFill>
                <a:latin typeface="Segoe UI" panose="020B0502040204020203" pitchFamily="34" charset="0"/>
                <a:cs typeface="Segoe UI" panose="020B0502040204020203" pitchFamily="34" charset="0"/>
              </a:rPr>
              <a:t>Classroom Tech </a:t>
            </a:r>
            <a:r>
              <a:rPr lang="en-US" dirty="0">
                <a:solidFill>
                  <a:schemeClr val="bg1"/>
                </a:solidFill>
                <a:latin typeface="Segoe UI" panose="020B0502040204020203" pitchFamily="34" charset="0"/>
                <a:cs typeface="Segoe UI" panose="020B0502040204020203" pitchFamily="34" charset="0"/>
              </a:rPr>
              <a:t>for providing me with this opportunity and the necessary resources. Finally, I thank my family and friends for their constant encouragement.</a:t>
            </a:r>
          </a:p>
          <a:p>
            <a:endParaRPr lang="en-IN" dirty="0"/>
          </a:p>
        </p:txBody>
      </p:sp>
      <p:sp>
        <p:nvSpPr>
          <p:cNvPr id="5" name="TextBox 4">
            <a:extLst>
              <a:ext uri="{FF2B5EF4-FFF2-40B4-BE49-F238E27FC236}">
                <a16:creationId xmlns:a16="http://schemas.microsoft.com/office/drawing/2014/main" id="{52ECD892-B2CB-4041-121C-987411069AD6}"/>
              </a:ext>
            </a:extLst>
          </p:cNvPr>
          <p:cNvSpPr txBox="1"/>
          <p:nvPr/>
        </p:nvSpPr>
        <p:spPr>
          <a:xfrm>
            <a:off x="2356700" y="1371161"/>
            <a:ext cx="6664751" cy="707886"/>
          </a:xfrm>
          <a:prstGeom prst="rect">
            <a:avLst/>
          </a:prstGeom>
          <a:noFill/>
        </p:spPr>
        <p:txBody>
          <a:bodyPr wrap="square" rtlCol="0">
            <a:spAutoFit/>
          </a:bodyPr>
          <a:lstStyle/>
          <a:p>
            <a:r>
              <a:rPr lang="en-IN" sz="4000" b="1" dirty="0">
                <a:latin typeface="Segoe UI" panose="020B0502040204020203" pitchFamily="34" charset="0"/>
                <a:cs typeface="Segoe UI" panose="020B0502040204020203" pitchFamily="34" charset="0"/>
              </a:rPr>
              <a:t>⭐</a:t>
            </a:r>
            <a:r>
              <a:rPr lang="en-IN" sz="4000" b="1" dirty="0">
                <a:solidFill>
                  <a:schemeClr val="bg1"/>
                </a:solidFill>
                <a:latin typeface="Segoe UI" panose="020B0502040204020203" pitchFamily="34" charset="0"/>
                <a:cs typeface="Segoe UI" panose="020B0502040204020203" pitchFamily="34" charset="0"/>
              </a:rPr>
              <a:t>Acknowledgement</a:t>
            </a:r>
          </a:p>
        </p:txBody>
      </p:sp>
    </p:spTree>
    <p:extLst>
      <p:ext uri="{BB962C8B-B14F-4D97-AF65-F5344CB8AC3E}">
        <p14:creationId xmlns:p14="http://schemas.microsoft.com/office/powerpoint/2010/main" val="2246312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6DD33DFB-FDFD-A879-3714-D20BC4A27AA9}"/>
              </a:ext>
            </a:extLst>
          </p:cNvPr>
          <p:cNvSpPr>
            <a:spLocks noChangeArrowheads="1"/>
          </p:cNvSpPr>
          <p:nvPr/>
        </p:nvSpPr>
        <p:spPr bwMode="auto">
          <a:xfrm rot="10800000" flipV="1">
            <a:off x="2548967" y="1582340"/>
            <a:ext cx="5965301"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1️⃣</a:t>
            </a:r>
            <a:r>
              <a:rPr kumimoji="0" lang="en-US" altLang="en-US"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Title Slide:</a:t>
            </a:r>
            <a:r>
              <a:rPr kumimoji="0" lang="en-US" altLang="en-US"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Page 1</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2️⃣Acknowledgement:</a:t>
            </a:r>
            <a:r>
              <a:rPr kumimoji="0" lang="en-US" altLang="en-US" sz="18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Page 2</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3️⃣Table of Contents:</a:t>
            </a:r>
            <a:r>
              <a:rPr kumimoji="0" lang="en-US" altLang="en-US" sz="18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Page 3</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4️⃣Objective / Problem Statement:</a:t>
            </a:r>
            <a:r>
              <a:rPr kumimoji="0" lang="en-US" altLang="en-US" sz="18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Page 4</a:t>
            </a:r>
          </a:p>
          <a:p>
            <a:pPr marL="0" marR="0" lvl="0" indent="0" algn="l" defTabSz="914400" rtl="0" eaLnBrk="0" fontAlgn="base" latinLnBrk="0" hangingPunct="0">
              <a:lnSpc>
                <a:spcPct val="100000"/>
              </a:lnSpc>
              <a:spcBef>
                <a:spcPct val="0"/>
              </a:spcBef>
              <a:spcAft>
                <a:spcPct val="0"/>
              </a:spcAft>
              <a:buClrTx/>
              <a:buSzTx/>
              <a:tabLst/>
            </a:pPr>
            <a:r>
              <a:rPr lang="en-US" altLang="en-US" dirty="0">
                <a:solidFill>
                  <a:schemeClr val="bg1"/>
                </a:solidFill>
                <a:latin typeface="Segoe UI" panose="020B0502040204020203" pitchFamily="34" charset="0"/>
                <a:cs typeface="Segoe UI" panose="020B0502040204020203" pitchFamily="34" charset="0"/>
              </a:rPr>
              <a:t>5️⃣</a:t>
            </a:r>
            <a:r>
              <a:rPr lang="en-US" altLang="en-US" b="1" dirty="0">
                <a:solidFill>
                  <a:schemeClr val="bg1"/>
                </a:solidFill>
                <a:latin typeface="Segoe UI" panose="020B0502040204020203" pitchFamily="34" charset="0"/>
                <a:cs typeface="Segoe UI" panose="020B0502040204020203" pitchFamily="34" charset="0"/>
              </a:rPr>
              <a:t>Dataset Overview: </a:t>
            </a:r>
            <a:r>
              <a:rPr lang="en-US" altLang="en-US" dirty="0">
                <a:solidFill>
                  <a:schemeClr val="bg1"/>
                </a:solidFill>
                <a:latin typeface="Segoe UI" panose="020B0502040204020203" pitchFamily="34" charset="0"/>
                <a:cs typeface="Segoe UI" panose="020B0502040204020203" pitchFamily="34" charset="0"/>
              </a:rPr>
              <a:t>Page 5-6</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6️⃣</a:t>
            </a:r>
            <a:r>
              <a:rPr kumimoji="0" lang="en-US" altLang="en-US" sz="18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Tools Used: </a:t>
            </a:r>
            <a:r>
              <a:rPr kumimoji="0" lang="en-US" altLang="en-US" sz="180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Page 7</a:t>
            </a:r>
          </a:p>
          <a:p>
            <a:pPr marL="0" marR="0" lvl="0" indent="0" algn="l" defTabSz="914400" rtl="0" eaLnBrk="0" fontAlgn="base" latinLnBrk="0" hangingPunct="0">
              <a:lnSpc>
                <a:spcPct val="100000"/>
              </a:lnSpc>
              <a:spcBef>
                <a:spcPct val="0"/>
              </a:spcBef>
              <a:spcAft>
                <a:spcPct val="0"/>
              </a:spcAft>
              <a:buClrTx/>
              <a:buSzTx/>
              <a:tabLst/>
            </a:pPr>
            <a:r>
              <a:rPr lang="en-US" altLang="en-US" b="0" dirty="0">
                <a:solidFill>
                  <a:schemeClr val="bg1"/>
                </a:solidFill>
                <a:latin typeface="Segoe UI" panose="020B0502040204020203" pitchFamily="34" charset="0"/>
                <a:cs typeface="Segoe UI" panose="020B0502040204020203" pitchFamily="34" charset="0"/>
              </a:rPr>
              <a:t>7️⃣</a:t>
            </a:r>
            <a:r>
              <a:rPr lang="en-US" altLang="en-US" b="1" dirty="0">
                <a:solidFill>
                  <a:schemeClr val="bg1"/>
                </a:solidFill>
                <a:latin typeface="Segoe UI" panose="020B0502040204020203" pitchFamily="34" charset="0"/>
                <a:cs typeface="Segoe UI" panose="020B0502040204020203" pitchFamily="34" charset="0"/>
              </a:rPr>
              <a:t>Methodology: </a:t>
            </a:r>
            <a:r>
              <a:rPr lang="en-US" altLang="en-US" dirty="0">
                <a:solidFill>
                  <a:schemeClr val="bg1"/>
                </a:solidFill>
                <a:latin typeface="Segoe UI" panose="020B0502040204020203" pitchFamily="34" charset="0"/>
                <a:cs typeface="Segoe UI" panose="020B0502040204020203" pitchFamily="34" charset="0"/>
              </a:rPr>
              <a:t>Page 8</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8️⃣</a:t>
            </a:r>
            <a:r>
              <a:rPr kumimoji="0" lang="en-US" altLang="en-US" sz="18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Detailed Slide for Each Visualization: </a:t>
            </a:r>
            <a:r>
              <a:rPr kumimoji="0" lang="en-US" altLang="en-US" sz="180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Page </a:t>
            </a:r>
            <a:r>
              <a:rPr lang="en-US" altLang="en-US" dirty="0">
                <a:solidFill>
                  <a:schemeClr val="bg1"/>
                </a:solidFill>
                <a:latin typeface="Segoe UI" panose="020B0502040204020203" pitchFamily="34" charset="0"/>
                <a:cs typeface="Segoe UI" panose="020B0502040204020203" pitchFamily="34" charset="0"/>
              </a:rPr>
              <a:t>11-32</a:t>
            </a:r>
            <a:endParaRPr kumimoji="0" lang="en-US" altLang="en-US" sz="180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b="0" dirty="0">
                <a:solidFill>
                  <a:schemeClr val="bg1"/>
                </a:solidFill>
                <a:latin typeface="Segoe UI" panose="020B0502040204020203" pitchFamily="34" charset="0"/>
                <a:cs typeface="Segoe UI" panose="020B0502040204020203" pitchFamily="34" charset="0"/>
              </a:rPr>
              <a:t>9️⃣</a:t>
            </a:r>
            <a:r>
              <a:rPr lang="en-US" altLang="en-US" b="1" dirty="0">
                <a:solidFill>
                  <a:schemeClr val="bg1"/>
                </a:solidFill>
                <a:latin typeface="Segoe UI" panose="020B0502040204020203" pitchFamily="34" charset="0"/>
                <a:cs typeface="Segoe UI" panose="020B0502040204020203" pitchFamily="34" charset="0"/>
              </a:rPr>
              <a:t>Key Findings: </a:t>
            </a:r>
            <a:r>
              <a:rPr lang="en-US" altLang="en-US" dirty="0">
                <a:solidFill>
                  <a:schemeClr val="bg1"/>
                </a:solidFill>
                <a:latin typeface="Segoe UI" panose="020B0502040204020203" pitchFamily="34" charset="0"/>
                <a:cs typeface="Segoe UI" panose="020B0502040204020203" pitchFamily="34" charset="0"/>
              </a:rPr>
              <a:t>Page 33</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a:t>
            </a:r>
            <a:r>
              <a:rPr kumimoji="0" lang="en-US" altLang="en-US" sz="18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Conclusion: </a:t>
            </a:r>
            <a:r>
              <a:rPr kumimoji="0" lang="en-US" altLang="en-US" sz="180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Page </a:t>
            </a:r>
            <a:r>
              <a:rPr lang="en-US" altLang="en-US" dirty="0">
                <a:solidFill>
                  <a:schemeClr val="bg1"/>
                </a:solidFill>
                <a:latin typeface="Segoe UI" panose="020B0502040204020203" pitchFamily="34" charset="0"/>
                <a:cs typeface="Segoe UI" panose="020B0502040204020203" pitchFamily="34" charset="0"/>
              </a:rPr>
              <a:t>34</a:t>
            </a:r>
            <a:endParaRPr kumimoji="0" lang="en-US" altLang="en-US" sz="180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dirty="0">
                <a:solidFill>
                  <a:schemeClr val="bg1"/>
                </a:solidFill>
                <a:latin typeface="Segoe UI" panose="020B0502040204020203" pitchFamily="34" charset="0"/>
                <a:cs typeface="Segoe UI" panose="020B0502040204020203" pitchFamily="34" charset="0"/>
              </a:rPr>
              <a:t>1️⃣1️⃣</a:t>
            </a:r>
            <a:r>
              <a:rPr lang="en-US" altLang="en-US" b="1" dirty="0">
                <a:solidFill>
                  <a:schemeClr val="bg1"/>
                </a:solidFill>
                <a:latin typeface="Segoe UI" panose="020B0502040204020203" pitchFamily="34" charset="0"/>
                <a:cs typeface="Segoe UI" panose="020B0502040204020203" pitchFamily="34" charset="0"/>
              </a:rPr>
              <a:t>References: </a:t>
            </a:r>
            <a:r>
              <a:rPr lang="en-US" altLang="en-US" dirty="0">
                <a:solidFill>
                  <a:schemeClr val="bg1"/>
                </a:solidFill>
                <a:latin typeface="Segoe UI" panose="020B0502040204020203" pitchFamily="34" charset="0"/>
                <a:cs typeface="Segoe UI" panose="020B0502040204020203" pitchFamily="34" charset="0"/>
              </a:rPr>
              <a:t>Page 35</a:t>
            </a:r>
            <a:endParaRPr kumimoji="0" lang="en-US" altLang="en-US" sz="180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b="0" dirty="0">
                <a:solidFill>
                  <a:schemeClr val="bg1"/>
                </a:solidFill>
                <a:latin typeface="Segoe UI" panose="020B0502040204020203" pitchFamily="34" charset="0"/>
                <a:cs typeface="Segoe UI" panose="020B0502040204020203" pitchFamily="34" charset="0"/>
              </a:rPr>
              <a:t>1️⃣2️⃣ </a:t>
            </a:r>
            <a:r>
              <a:rPr lang="en-US" altLang="en-US" b="1" dirty="0" err="1">
                <a:solidFill>
                  <a:schemeClr val="bg1"/>
                </a:solidFill>
                <a:latin typeface="Segoe UI" panose="020B0502040204020203" pitchFamily="34" charset="0"/>
                <a:cs typeface="Segoe UI" panose="020B0502040204020203" pitchFamily="34" charset="0"/>
              </a:rPr>
              <a:t>Github</a:t>
            </a:r>
            <a:r>
              <a:rPr lang="en-US" altLang="en-US" b="1" dirty="0">
                <a:solidFill>
                  <a:schemeClr val="bg1"/>
                </a:solidFill>
                <a:latin typeface="Segoe UI" panose="020B0502040204020203" pitchFamily="34" charset="0"/>
                <a:cs typeface="Segoe UI" panose="020B0502040204020203" pitchFamily="34" charset="0"/>
              </a:rPr>
              <a:t> Repository Link: </a:t>
            </a:r>
            <a:r>
              <a:rPr lang="en-US" altLang="en-US" dirty="0">
                <a:solidFill>
                  <a:schemeClr val="bg1"/>
                </a:solidFill>
                <a:latin typeface="Segoe UI" panose="020B0502040204020203" pitchFamily="34" charset="0"/>
                <a:cs typeface="Segoe UI" panose="020B0502040204020203" pitchFamily="34" charset="0"/>
              </a:rPr>
              <a:t>Page 36</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1️⃣3️⃣</a:t>
            </a:r>
            <a:r>
              <a:rPr kumimoji="0" lang="en-US" altLang="en-US" sz="18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Thank You!: </a:t>
            </a:r>
            <a:r>
              <a:rPr kumimoji="0" lang="en-US" altLang="en-US" sz="180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Page 37</a:t>
            </a:r>
            <a:endParaRPr kumimoji="0" lang="en-US" altLang="en-US" sz="18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p:txBody>
      </p:sp>
      <p:sp>
        <p:nvSpPr>
          <p:cNvPr id="10" name="TextBox 9">
            <a:extLst>
              <a:ext uri="{FF2B5EF4-FFF2-40B4-BE49-F238E27FC236}">
                <a16:creationId xmlns:a16="http://schemas.microsoft.com/office/drawing/2014/main" id="{F432913F-BC35-2B4F-A84B-752D695750D4}"/>
              </a:ext>
            </a:extLst>
          </p:cNvPr>
          <p:cNvSpPr txBox="1"/>
          <p:nvPr/>
        </p:nvSpPr>
        <p:spPr>
          <a:xfrm>
            <a:off x="2548967" y="643223"/>
            <a:ext cx="4945341" cy="584775"/>
          </a:xfrm>
          <a:prstGeom prst="rect">
            <a:avLst/>
          </a:prstGeom>
          <a:noFill/>
        </p:spPr>
        <p:txBody>
          <a:bodyPr wrap="square" rtlCol="0">
            <a:spAutoFit/>
          </a:bodyPr>
          <a:lstStyle/>
          <a:p>
            <a:r>
              <a:rPr lang="en-US" sz="3200" b="1" dirty="0">
                <a:latin typeface="Segoe UI" panose="020B0502040204020203" pitchFamily="34" charset="0"/>
                <a:cs typeface="Segoe UI" panose="020B0502040204020203" pitchFamily="34" charset="0"/>
              </a:rPr>
              <a:t>💻</a:t>
            </a:r>
            <a:r>
              <a:rPr lang="en-IN" sz="3200" b="1" dirty="0">
                <a:solidFill>
                  <a:schemeClr val="bg1"/>
                </a:solidFill>
                <a:latin typeface="Segoe UI" panose="020B0502040204020203" pitchFamily="34" charset="0"/>
                <a:cs typeface="Segoe UI" panose="020B0502040204020203" pitchFamily="34" charset="0"/>
              </a:rPr>
              <a:t>Table of Contents</a:t>
            </a:r>
          </a:p>
        </p:txBody>
      </p:sp>
    </p:spTree>
    <p:extLst>
      <p:ext uri="{BB962C8B-B14F-4D97-AF65-F5344CB8AC3E}">
        <p14:creationId xmlns:p14="http://schemas.microsoft.com/office/powerpoint/2010/main" val="3847320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935AB23-325E-86D0-27E5-7DB012657ECD}"/>
              </a:ext>
            </a:extLst>
          </p:cNvPr>
          <p:cNvSpPr txBox="1"/>
          <p:nvPr/>
        </p:nvSpPr>
        <p:spPr>
          <a:xfrm>
            <a:off x="452486" y="4308049"/>
            <a:ext cx="4996207" cy="3789576"/>
          </a:xfrm>
          <a:prstGeom prst="rect">
            <a:avLst/>
          </a:prstGeom>
          <a:noFill/>
        </p:spPr>
        <p:txBody>
          <a:bodyPr wrap="square" rtlCol="0">
            <a:spAutoFit/>
          </a:bodyPr>
          <a:lstStyle/>
          <a:p>
            <a:endParaRPr lang="en-IN" dirty="0"/>
          </a:p>
        </p:txBody>
      </p:sp>
      <p:sp>
        <p:nvSpPr>
          <p:cNvPr id="9" name="Rectangle 3">
            <a:extLst>
              <a:ext uri="{FF2B5EF4-FFF2-40B4-BE49-F238E27FC236}">
                <a16:creationId xmlns:a16="http://schemas.microsoft.com/office/drawing/2014/main" id="{1D73DFCE-1DF1-689F-0B4C-2B5D7330D073}"/>
              </a:ext>
            </a:extLst>
          </p:cNvPr>
          <p:cNvSpPr>
            <a:spLocks noChangeArrowheads="1"/>
          </p:cNvSpPr>
          <p:nvPr/>
        </p:nvSpPr>
        <p:spPr bwMode="auto">
          <a:xfrm>
            <a:off x="2602436" y="1401523"/>
            <a:ext cx="730891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1️⃣</a:t>
            </a:r>
            <a:r>
              <a:rPr kumimoji="0" lang="en-US" altLang="en-US" sz="18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Goal of the Project: </a:t>
            </a:r>
          </a:p>
          <a:p>
            <a:pPr lvl="1" eaLnBrk="0" fontAlgn="base" hangingPunct="0">
              <a:spcBef>
                <a:spcPct val="0"/>
              </a:spcBef>
              <a:spcAft>
                <a:spcPct val="0"/>
              </a:spcAft>
            </a:pPr>
            <a:r>
              <a:rPr kumimoji="0" lang="en-US" altLang="en-US"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The primary goal of this project was to analyze </a:t>
            </a:r>
            <a:r>
              <a:rPr kumimoji="0" lang="en-US" altLang="en-US"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Blinkit's</a:t>
            </a:r>
            <a:r>
              <a:rPr kumimoji="0" lang="en-US" altLang="en-US"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sales data to derive actionable insights into customer behavior, product performance, delivery efficiency, and campaign effectiveness.</a:t>
            </a:r>
          </a:p>
          <a:p>
            <a:pPr lvl="1" eaLnBrk="0" fontAlgn="base" hangingPunct="0">
              <a:spcBef>
                <a:spcPct val="0"/>
              </a:spcBef>
              <a:spcAft>
                <a:spcPct val="0"/>
              </a:spcAft>
            </a:pPr>
            <a:endParaRPr kumimoji="0" lang="en-US" altLang="en-US"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bg1"/>
                </a:solidFill>
                <a:effectLst/>
                <a:latin typeface="Arial" panose="020B0604020202020204" pitchFamily="34" charset="0"/>
              </a:rPr>
              <a:t>2️⃣Questions Addressed:</a:t>
            </a:r>
            <a:r>
              <a:rPr kumimoji="0" lang="en-US" altLang="en-US" sz="1800" b="0" i="0" u="none" strike="noStrike" cap="none" normalizeH="0" baseline="0" dirty="0">
                <a:ln>
                  <a:noFill/>
                </a:ln>
                <a:solidFill>
                  <a:schemeClr val="bg1"/>
                </a:solidFill>
                <a:effectLst/>
                <a:latin typeface="Arial" panose="020B0604020202020204" pitchFamily="34" charset="0"/>
              </a:rPr>
              <a:t> </a:t>
            </a:r>
            <a:endParaRPr lang="en-US" altLang="en-US" dirty="0">
              <a:solidFill>
                <a:schemeClr val="bg1"/>
              </a:solidFill>
              <a:latin typeface="Arial" panose="020B0604020202020204"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This analysis aimed to answer questions such as:</a:t>
            </a: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What are the overall revenue and customer lifetime value? </a:t>
            </a: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How are customers segmented, and what is the distribution of these segments? </a:t>
            </a: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Which </a:t>
            </a:r>
            <a:r>
              <a:rPr kumimoji="0" lang="en-US" altLang="en-US"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pincodes</a:t>
            </a:r>
            <a:r>
              <a:rPr kumimoji="0" lang="en-US" altLang="en-US"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generate the most orders? </a:t>
            </a: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What are the most frequently ordered products and categories? </a:t>
            </a: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How efficient is the delivery process, and what factors influence delivery time? </a:t>
            </a: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Which marketing campaigns are most effective in terms of revenue and ROAS?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EA1CD34A-A66E-E339-A16B-DC8DAFE81C5A}"/>
              </a:ext>
            </a:extLst>
          </p:cNvPr>
          <p:cNvSpPr txBox="1"/>
          <p:nvPr/>
        </p:nvSpPr>
        <p:spPr>
          <a:xfrm>
            <a:off x="2602436" y="602114"/>
            <a:ext cx="6004874" cy="584775"/>
          </a:xfrm>
          <a:prstGeom prst="rect">
            <a:avLst/>
          </a:prstGeom>
          <a:noFill/>
        </p:spPr>
        <p:txBody>
          <a:bodyPr wrap="square" rtlCol="0">
            <a:spAutoFit/>
          </a:bodyPr>
          <a:lstStyle/>
          <a:p>
            <a:r>
              <a:rPr lang="en-IN" sz="3200" b="1" dirty="0"/>
              <a:t>💡</a:t>
            </a:r>
            <a:r>
              <a:rPr lang="en-IN" sz="3200" b="1" dirty="0">
                <a:solidFill>
                  <a:schemeClr val="bg1"/>
                </a:solidFill>
              </a:rPr>
              <a:t>Objective / Problem Statement</a:t>
            </a:r>
          </a:p>
        </p:txBody>
      </p:sp>
    </p:spTree>
    <p:extLst>
      <p:ext uri="{BB962C8B-B14F-4D97-AF65-F5344CB8AC3E}">
        <p14:creationId xmlns:p14="http://schemas.microsoft.com/office/powerpoint/2010/main" val="73081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F4F7DABA-716C-F983-40D8-B9352E7828AD}"/>
              </a:ext>
            </a:extLst>
          </p:cNvPr>
          <p:cNvSpPr>
            <a:spLocks noChangeArrowheads="1"/>
          </p:cNvSpPr>
          <p:nvPr/>
        </p:nvSpPr>
        <p:spPr bwMode="auto">
          <a:xfrm>
            <a:off x="2330194" y="1190345"/>
            <a:ext cx="864260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1600" b="1" dirty="0">
                <a:latin typeface="Segoe UI" panose="020B0502040204020203" pitchFamily="34" charset="0"/>
                <a:cs typeface="Segoe UI" panose="020B0502040204020203" pitchFamily="34" charset="0"/>
              </a:rPr>
              <a:t>🗂️ </a:t>
            </a: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Dataset Name:</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Blinkit</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Sales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Source:</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Kaggle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Description:</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A comprehensive dataset containing various aspects of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Blinkit's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operations, including sales, customer information, product details, campaign performance, delivery metrics, and feedback.</a:t>
            </a:r>
          </a:p>
        </p:txBody>
      </p:sp>
      <p:sp>
        <p:nvSpPr>
          <p:cNvPr id="9" name="Rectangle 5">
            <a:extLst>
              <a:ext uri="{FF2B5EF4-FFF2-40B4-BE49-F238E27FC236}">
                <a16:creationId xmlns:a16="http://schemas.microsoft.com/office/drawing/2014/main" id="{9A5792FE-B725-3569-F3BB-E71E507A6E83}"/>
              </a:ext>
            </a:extLst>
          </p:cNvPr>
          <p:cNvSpPr>
            <a:spLocks noChangeArrowheads="1"/>
          </p:cNvSpPr>
          <p:nvPr/>
        </p:nvSpPr>
        <p:spPr bwMode="auto">
          <a:xfrm rot="10800000" flipV="1">
            <a:off x="2330194" y="2559113"/>
            <a:ext cx="8936609" cy="357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a:t>
            </a:r>
            <a:r>
              <a:rPr kumimoji="0" lang="en-US" altLang="en-US"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Key Tables and Columns Used for Analysis:</a:t>
            </a:r>
            <a:endParaRPr kumimoji="0" lang="en-US" altLang="en-US" b="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600" b="1" dirty="0">
                <a:solidFill>
                  <a:schemeClr val="bg1"/>
                </a:solidFill>
                <a:latin typeface="Segoe UI" panose="020B0502040204020203" pitchFamily="34" charset="0"/>
                <a:cs typeface="Segoe UI" panose="020B0502040204020203" pitchFamily="34" charset="0"/>
              </a:rPr>
              <a:t>1️⃣</a:t>
            </a: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Overall Metrics (KPIs):</a:t>
            </a:r>
            <a:endPar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Total Revenue, Total Customer Lifetime Value, Average Order Value, Total Campaign Revenue</a:t>
            </a:r>
          </a:p>
          <a:p>
            <a:pPr marL="0" marR="0" lvl="0" indent="0" algn="l" defTabSz="914400" rtl="0" eaLnBrk="0" fontAlgn="base" latinLnBrk="0" hangingPunct="0">
              <a:lnSpc>
                <a:spcPct val="100000"/>
              </a:lnSpc>
              <a:spcBef>
                <a:spcPct val="0"/>
              </a:spcBef>
              <a:spcAft>
                <a:spcPct val="0"/>
              </a:spcAft>
              <a:buClrTx/>
              <a:buSzTx/>
              <a:tabLst/>
            </a:pPr>
            <a:r>
              <a:rPr lang="en-US" altLang="en-US" sz="1600" b="1" dirty="0">
                <a:solidFill>
                  <a:schemeClr val="bg1"/>
                </a:solidFill>
                <a:latin typeface="Segoe UI" panose="020B0502040204020203" pitchFamily="34" charset="0"/>
                <a:cs typeface="Segoe UI" panose="020B0502040204020203" pitchFamily="34" charset="0"/>
              </a:rPr>
              <a:t>2️⃣</a:t>
            </a: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Customer Details Table:</a:t>
            </a:r>
            <a:endPar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Rows: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18 (sample shown)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Columns: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3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customer_id</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customer_name</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email)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Purpose:</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Customer identification and contact information.</a:t>
            </a:r>
          </a:p>
          <a:p>
            <a:pPr marL="0" marR="0" lvl="0" indent="0" algn="l" defTabSz="914400" rtl="0" eaLnBrk="0" fontAlgn="base" latinLnBrk="0" hangingPunct="0">
              <a:lnSpc>
                <a:spcPct val="100000"/>
              </a:lnSpc>
              <a:spcBef>
                <a:spcPct val="0"/>
              </a:spcBef>
              <a:spcAft>
                <a:spcPct val="0"/>
              </a:spcAft>
              <a:buClrTx/>
              <a:buSzTx/>
              <a:tabLst/>
            </a:pPr>
            <a:r>
              <a:rPr lang="en-US" altLang="en-US" sz="1600" b="1" dirty="0">
                <a:solidFill>
                  <a:schemeClr val="bg1"/>
                </a:solidFill>
                <a:latin typeface="Segoe UI" panose="020B0502040204020203" pitchFamily="34" charset="0"/>
                <a:cs typeface="Segoe UI" panose="020B0502040204020203" pitchFamily="34" charset="0"/>
              </a:rPr>
              <a:t>3️⃣</a:t>
            </a: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Customer Lifetime Value Table:</a:t>
            </a:r>
            <a:endPar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Rows: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14 (sample shown)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Columns: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4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customer_id</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customer_name</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Sum of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avg_order_value</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a:t>
            </a:r>
          </a:p>
          <a:p>
            <a:pPr marL="457200" marR="0" lvl="1"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Total Customer Lifetime Value)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Purpose:</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Analyzing customer value and spending patterns.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66B5D26B-26F4-2A5A-BBBB-76D67942B245}"/>
              </a:ext>
            </a:extLst>
          </p:cNvPr>
          <p:cNvSpPr txBox="1"/>
          <p:nvPr/>
        </p:nvSpPr>
        <p:spPr>
          <a:xfrm>
            <a:off x="2330194" y="364807"/>
            <a:ext cx="6094428" cy="646331"/>
          </a:xfrm>
          <a:prstGeom prst="rect">
            <a:avLst/>
          </a:prstGeom>
          <a:noFill/>
        </p:spPr>
        <p:txBody>
          <a:bodyPr wrap="square">
            <a:spAutoFit/>
          </a:bodyPr>
          <a:lstStyle/>
          <a:p>
            <a:r>
              <a:rPr lang="en-IN" sz="3600" b="1" dirty="0">
                <a:latin typeface="Segoe UI" panose="020B0502040204020203" pitchFamily="34" charset="0"/>
                <a:cs typeface="Segoe UI" panose="020B0502040204020203" pitchFamily="34" charset="0"/>
              </a:rPr>
              <a:t>🗂️</a:t>
            </a:r>
            <a:r>
              <a:rPr lang="en-IN" sz="3600" b="1" dirty="0">
                <a:solidFill>
                  <a:schemeClr val="bg1"/>
                </a:solidFill>
                <a:latin typeface="Segoe UI" panose="020B0502040204020203" pitchFamily="34" charset="0"/>
                <a:cs typeface="Segoe UI" panose="020B0502040204020203" pitchFamily="34" charset="0"/>
              </a:rPr>
              <a:t>Dataset Overview</a:t>
            </a:r>
          </a:p>
        </p:txBody>
      </p:sp>
    </p:spTree>
    <p:extLst>
      <p:ext uri="{BB962C8B-B14F-4D97-AF65-F5344CB8AC3E}">
        <p14:creationId xmlns:p14="http://schemas.microsoft.com/office/powerpoint/2010/main" val="2513422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076A6-8106-33A6-E2C8-A2ECA2FED6AC}"/>
            </a:ext>
          </a:extLst>
        </p:cNvPr>
        <p:cNvGrpSpPr/>
        <p:nvPr/>
      </p:nvGrpSpPr>
      <p:grpSpPr>
        <a:xfrm>
          <a:off x="0" y="0"/>
          <a:ext cx="0" cy="0"/>
          <a:chOff x="0" y="0"/>
          <a:chExt cx="0" cy="0"/>
        </a:xfrm>
      </p:grpSpPr>
      <p:sp>
        <p:nvSpPr>
          <p:cNvPr id="5" name="Rectangle 3">
            <a:extLst>
              <a:ext uri="{FF2B5EF4-FFF2-40B4-BE49-F238E27FC236}">
                <a16:creationId xmlns:a16="http://schemas.microsoft.com/office/drawing/2014/main" id="{FFFB087C-9225-2F6E-286C-0B4572726FAC}"/>
              </a:ext>
            </a:extLst>
          </p:cNvPr>
          <p:cNvSpPr>
            <a:spLocks noChangeArrowheads="1"/>
          </p:cNvSpPr>
          <p:nvPr/>
        </p:nvSpPr>
        <p:spPr bwMode="auto">
          <a:xfrm>
            <a:off x="2545237" y="418189"/>
            <a:ext cx="9492792"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600" b="1" dirty="0">
                <a:latin typeface="Segoe UI" panose="020B0502040204020203" pitchFamily="34" charset="0"/>
                <a:cs typeface="Segoe UI" panose="020B0502040204020203" pitchFamily="34" charset="0"/>
              </a:rPr>
              <a:t>4️⃣</a:t>
            </a: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Order Quantity Per Product Category Table:</a:t>
            </a:r>
            <a:endPar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Rows: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9</a:t>
            </a: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Columns: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2 (category, Count of quantity)</a:t>
            </a: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Purpose:</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Understanding product category performance by volume.</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5️⃣All Campaigns Table:</a:t>
            </a:r>
            <a:endPar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Rows: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14 (sample shown)</a:t>
            </a: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Columns: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4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campaign_id</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campaign_name</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Sum of spend, Sum of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revenue_generated</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a:t>
            </a: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Purpose:</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Evaluating marketing campaign effectiveness.</a:t>
            </a:r>
          </a:p>
          <a:p>
            <a:pPr marL="0" marR="0" lvl="0" indent="0" algn="l" defTabSz="914400" rtl="0" eaLnBrk="0" fontAlgn="base" latinLnBrk="0" hangingPunct="0">
              <a:lnSpc>
                <a:spcPct val="100000"/>
              </a:lnSpc>
              <a:spcBef>
                <a:spcPct val="0"/>
              </a:spcBef>
              <a:spcAft>
                <a:spcPct val="0"/>
              </a:spcAft>
              <a:buClrTx/>
              <a:buSzTx/>
              <a:tabLst/>
            </a:pPr>
            <a:r>
              <a:rPr lang="en-US" altLang="en-US" sz="1600" b="1" dirty="0">
                <a:solidFill>
                  <a:schemeClr val="bg1"/>
                </a:solidFill>
                <a:latin typeface="Segoe UI" panose="020B0502040204020203" pitchFamily="34" charset="0"/>
                <a:cs typeface="Segoe UI" panose="020B0502040204020203" pitchFamily="34" charset="0"/>
              </a:rPr>
              <a:t>6️⃣</a:t>
            </a: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Feedback Details Table:</a:t>
            </a:r>
            <a:endPar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Rows: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10 (sample shown)</a:t>
            </a: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Columns: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5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feedback_id</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order_id</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sentiment,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feedback_category</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rating)</a:t>
            </a: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Purpose:</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Analyzing customer sentiment and feedback categories.</a:t>
            </a:r>
          </a:p>
          <a:p>
            <a:pPr marL="0" marR="0" lvl="0" indent="0" algn="l" defTabSz="914400" rtl="0" eaLnBrk="0" fontAlgn="base" latinLnBrk="0" hangingPunct="0">
              <a:lnSpc>
                <a:spcPct val="100000"/>
              </a:lnSpc>
              <a:spcBef>
                <a:spcPct val="0"/>
              </a:spcBef>
              <a:spcAft>
                <a:spcPct val="0"/>
              </a:spcAft>
              <a:buClrTx/>
              <a:buSzTx/>
              <a:tabLst/>
            </a:pPr>
            <a:r>
              <a:rPr lang="en-US" altLang="en-US" sz="1600" b="1" dirty="0">
                <a:solidFill>
                  <a:schemeClr val="bg1"/>
                </a:solidFill>
                <a:latin typeface="Segoe UI" panose="020B0502040204020203" pitchFamily="34" charset="0"/>
                <a:cs typeface="Segoe UI" panose="020B0502040204020203" pitchFamily="34" charset="0"/>
              </a:rPr>
              <a:t>7️⃣</a:t>
            </a: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Total Sales Revenue per Product Table:</a:t>
            </a:r>
            <a:endPar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Rows: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10</a:t>
            </a: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Columns: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2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product_name</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Total Sales Revenue per Product)</a:t>
            </a: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Purpose:</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Tracking revenue generated by each product.</a:t>
            </a:r>
          </a:p>
          <a:p>
            <a:pPr marL="0" marR="0" lvl="0" indent="0" algn="l" defTabSz="914400" rtl="0" eaLnBrk="0" fontAlgn="base" latinLnBrk="0" hangingPunct="0">
              <a:lnSpc>
                <a:spcPct val="100000"/>
              </a:lnSpc>
              <a:spcBef>
                <a:spcPct val="0"/>
              </a:spcBef>
              <a:spcAft>
                <a:spcPct val="0"/>
              </a:spcAft>
              <a:buClrTx/>
              <a:buSzTx/>
              <a:tabLst/>
            </a:pPr>
            <a:r>
              <a:rPr lang="en-US" altLang="en-US" sz="1600" b="1" dirty="0">
                <a:solidFill>
                  <a:schemeClr val="bg1"/>
                </a:solidFill>
                <a:latin typeface="Segoe UI" panose="020B0502040204020203" pitchFamily="34" charset="0"/>
                <a:cs typeface="Segoe UI" panose="020B0502040204020203" pitchFamily="34" charset="0"/>
              </a:rPr>
              <a:t>8️⃣</a:t>
            </a: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Customers Orders by Store ID Table:</a:t>
            </a:r>
            <a:endPar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Rows: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11 (sample shown)</a:t>
            </a: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Columns: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3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store_id</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order_id</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Sum of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order_total</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a:t>
            </a: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Purpose:</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Understanding order distribution across different stores.</a:t>
            </a:r>
          </a:p>
          <a:p>
            <a:pPr marL="0" marR="0" lvl="0" indent="0" algn="l" defTabSz="914400" rtl="0" eaLnBrk="0" fontAlgn="base" latinLnBrk="0" hangingPunct="0">
              <a:lnSpc>
                <a:spcPct val="100000"/>
              </a:lnSpc>
              <a:spcBef>
                <a:spcPct val="0"/>
              </a:spcBef>
              <a:spcAft>
                <a:spcPct val="0"/>
              </a:spcAft>
              <a:buClrTx/>
              <a:buSzTx/>
              <a:tabLst/>
            </a:pPr>
            <a:r>
              <a:rPr lang="en-US" altLang="en-US" sz="1600" b="1" dirty="0">
                <a:solidFill>
                  <a:schemeClr val="bg1"/>
                </a:solidFill>
                <a:latin typeface="Segoe UI" panose="020B0502040204020203" pitchFamily="34" charset="0"/>
                <a:cs typeface="Segoe UI" panose="020B0502040204020203" pitchFamily="34" charset="0"/>
              </a:rPr>
              <a:t>9️⃣</a:t>
            </a: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Product Category Ratings Table:</a:t>
            </a:r>
            <a:endPar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Rows: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4 (sample shown)</a:t>
            </a: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Columns: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3 (category, Average Customer Rating Emoji, Rating)</a:t>
            </a: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Purpose:</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Evaluating customer satisfaction with product categories.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92771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38BEC65-D073-1D91-C9BB-62702956780C}"/>
              </a:ext>
            </a:extLst>
          </p:cNvPr>
          <p:cNvSpPr txBox="1"/>
          <p:nvPr/>
        </p:nvSpPr>
        <p:spPr>
          <a:xfrm>
            <a:off x="2413263" y="1725104"/>
            <a:ext cx="8323867" cy="3770263"/>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1️⃣</a:t>
            </a:r>
            <a:r>
              <a:rPr lang="en-US" b="1" dirty="0">
                <a:solidFill>
                  <a:schemeClr val="bg1"/>
                </a:solidFill>
                <a:latin typeface="Segoe UI" panose="020B0502040204020203" pitchFamily="34" charset="0"/>
                <a:cs typeface="Segoe UI" panose="020B0502040204020203" pitchFamily="34" charset="0"/>
              </a:rPr>
              <a:t>Power BI:</a:t>
            </a:r>
          </a:p>
          <a:p>
            <a:endParaRPr lang="en-US" sz="1100" dirty="0">
              <a:solidFill>
                <a:schemeClr val="bg1"/>
              </a:solidFill>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r>
              <a:rPr lang="en-US" dirty="0">
                <a:solidFill>
                  <a:schemeClr val="bg1"/>
                </a:solidFill>
                <a:latin typeface="Segoe UI" panose="020B0502040204020203" pitchFamily="34" charset="0"/>
                <a:cs typeface="Segoe UI" panose="020B0502040204020203" pitchFamily="34" charset="0"/>
              </a:rPr>
              <a:t>Utilized for data cleaning, transformation, and modeling.</a:t>
            </a:r>
          </a:p>
          <a:p>
            <a:pPr marL="742950" lvl="1" indent="-285750">
              <a:buFont typeface="Arial" panose="020B0604020202020204" pitchFamily="34" charset="0"/>
              <a:buChar char="•"/>
            </a:pPr>
            <a:r>
              <a:rPr lang="en-US" dirty="0">
                <a:solidFill>
                  <a:schemeClr val="bg1"/>
                </a:solidFill>
                <a:latin typeface="Segoe UI" panose="020B0502040204020203" pitchFamily="34" charset="0"/>
                <a:cs typeface="Segoe UI" panose="020B0502040204020203" pitchFamily="34" charset="0"/>
              </a:rPr>
              <a:t>Developed interactive dashboards and reports for insightful data visualization.</a:t>
            </a:r>
          </a:p>
          <a:p>
            <a:pPr marL="742950" lvl="1" indent="-285750">
              <a:buFont typeface="Arial" panose="020B0604020202020204" pitchFamily="34" charset="0"/>
              <a:buChar char="•"/>
            </a:pPr>
            <a:r>
              <a:rPr lang="en-US" dirty="0">
                <a:solidFill>
                  <a:schemeClr val="bg1"/>
                </a:solidFill>
                <a:latin typeface="Segoe UI" panose="020B0502040204020203" pitchFamily="34" charset="0"/>
                <a:cs typeface="Segoe UI" panose="020B0502040204020203" pitchFamily="34" charset="0"/>
              </a:rPr>
              <a:t>Enabled dynamic filtering and drill-down capabilities for deeper analysis.</a:t>
            </a:r>
          </a:p>
          <a:p>
            <a:pPr lvl="1"/>
            <a:endParaRPr lang="en-US" sz="1200" dirty="0">
              <a:solidFill>
                <a:schemeClr val="bg1"/>
              </a:solidFill>
              <a:latin typeface="Segoe UI" panose="020B0502040204020203" pitchFamily="34" charset="0"/>
              <a:cs typeface="Segoe UI" panose="020B0502040204020203" pitchFamily="34" charset="0"/>
            </a:endParaRPr>
          </a:p>
          <a:p>
            <a:r>
              <a:rPr lang="en-US" b="1" dirty="0">
                <a:solidFill>
                  <a:schemeClr val="bg1"/>
                </a:solidFill>
                <a:latin typeface="Segoe UI" panose="020B0502040204020203" pitchFamily="34" charset="0"/>
                <a:cs typeface="Segoe UI" panose="020B0502040204020203" pitchFamily="34" charset="0"/>
              </a:rPr>
              <a:t>2️⃣GitHub for Repository Management:</a:t>
            </a:r>
          </a:p>
          <a:p>
            <a:endParaRPr lang="en-US" sz="1100" dirty="0">
              <a:solidFill>
                <a:schemeClr val="bg1"/>
              </a:solidFill>
              <a:latin typeface="Segoe UI" panose="020B0502040204020203" pitchFamily="34" charset="0"/>
              <a:cs typeface="Segoe UI" panose="020B0502040204020203" pitchFamily="34" charset="0"/>
            </a:endParaRPr>
          </a:p>
          <a:p>
            <a:pPr marL="742950" lvl="1" indent="-285750">
              <a:buFont typeface="Arial" panose="020B0604020202020204" pitchFamily="34" charset="0"/>
              <a:buChar char="•"/>
            </a:pPr>
            <a:r>
              <a:rPr lang="en-US" dirty="0">
                <a:solidFill>
                  <a:schemeClr val="bg1"/>
                </a:solidFill>
                <a:latin typeface="Segoe UI" panose="020B0502040204020203" pitchFamily="34" charset="0"/>
                <a:cs typeface="Segoe UI" panose="020B0502040204020203" pitchFamily="34" charset="0"/>
              </a:rPr>
              <a:t>Used for version control of project files, including Power BI reports and documentation.</a:t>
            </a:r>
          </a:p>
          <a:p>
            <a:pPr marL="742950" lvl="1" indent="-285750">
              <a:buFont typeface="Arial" panose="020B0604020202020204" pitchFamily="34" charset="0"/>
              <a:buChar char="•"/>
            </a:pPr>
            <a:r>
              <a:rPr lang="en-US" dirty="0">
                <a:solidFill>
                  <a:schemeClr val="bg1"/>
                </a:solidFill>
                <a:latin typeface="Segoe UI" panose="020B0502040204020203" pitchFamily="34" charset="0"/>
                <a:cs typeface="Segoe UI" panose="020B0502040204020203" pitchFamily="34" charset="0"/>
              </a:rPr>
              <a:t>Facilitated collaboration and ensured tracking of all changes made during the analysis process.</a:t>
            </a:r>
          </a:p>
          <a:p>
            <a:endParaRPr lang="en-IN" dirty="0">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369DC08-D53C-50F1-498C-EE04CA9B284E}"/>
              </a:ext>
            </a:extLst>
          </p:cNvPr>
          <p:cNvSpPr txBox="1"/>
          <p:nvPr/>
        </p:nvSpPr>
        <p:spPr>
          <a:xfrm>
            <a:off x="2413263" y="697145"/>
            <a:ext cx="5162746" cy="707886"/>
          </a:xfrm>
          <a:prstGeom prst="rect">
            <a:avLst/>
          </a:prstGeom>
          <a:noFill/>
        </p:spPr>
        <p:txBody>
          <a:bodyPr wrap="square" rtlCol="0">
            <a:spAutoFit/>
          </a:bodyPr>
          <a:lstStyle/>
          <a:p>
            <a:r>
              <a:rPr lang="en-IN" sz="4000" b="1" dirty="0">
                <a:latin typeface="Segoe UI" panose="020B0502040204020203" pitchFamily="34" charset="0"/>
                <a:cs typeface="Segoe UI" panose="020B0502040204020203" pitchFamily="34" charset="0"/>
              </a:rPr>
              <a:t>🛠️</a:t>
            </a:r>
            <a:r>
              <a:rPr lang="en-IN" sz="4000" b="1" dirty="0">
                <a:solidFill>
                  <a:schemeClr val="bg1"/>
                </a:solidFill>
                <a:latin typeface="Segoe UI" panose="020B0502040204020203" pitchFamily="34" charset="0"/>
                <a:cs typeface="Segoe UI" panose="020B0502040204020203" pitchFamily="34" charset="0"/>
              </a:rPr>
              <a:t>Tools Used</a:t>
            </a:r>
          </a:p>
        </p:txBody>
      </p:sp>
    </p:spTree>
    <p:extLst>
      <p:ext uri="{BB962C8B-B14F-4D97-AF65-F5344CB8AC3E}">
        <p14:creationId xmlns:p14="http://schemas.microsoft.com/office/powerpoint/2010/main" val="14896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EEB1B-B39A-58EF-40FC-FD111338C3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E7B682C-4D9E-7110-ABBC-BB4E77E98984}"/>
              </a:ext>
            </a:extLst>
          </p:cNvPr>
          <p:cNvSpPr txBox="1"/>
          <p:nvPr/>
        </p:nvSpPr>
        <p:spPr>
          <a:xfrm rot="10800000">
            <a:off x="914400" y="1946787"/>
            <a:ext cx="5181600" cy="3407638"/>
          </a:xfrm>
          <a:prstGeom prst="rect">
            <a:avLst/>
          </a:prstGeom>
          <a:noFill/>
        </p:spPr>
        <p:txBody>
          <a:bodyPr wrap="square" rtlCol="0">
            <a:spAutoFit/>
          </a:bodyPr>
          <a:lstStyle/>
          <a:p>
            <a:endParaRPr lang="en-IN" dirty="0"/>
          </a:p>
        </p:txBody>
      </p:sp>
      <p:sp>
        <p:nvSpPr>
          <p:cNvPr id="6" name="Rectangle 2">
            <a:extLst>
              <a:ext uri="{FF2B5EF4-FFF2-40B4-BE49-F238E27FC236}">
                <a16:creationId xmlns:a16="http://schemas.microsoft.com/office/drawing/2014/main" id="{E910F4EA-E12D-8208-310B-FC4EEDBC4F3A}"/>
              </a:ext>
            </a:extLst>
          </p:cNvPr>
          <p:cNvSpPr>
            <a:spLocks noChangeArrowheads="1"/>
          </p:cNvSpPr>
          <p:nvPr/>
        </p:nvSpPr>
        <p:spPr bwMode="auto">
          <a:xfrm rot="10800000" flipV="1">
            <a:off x="2371624" y="1326893"/>
            <a:ext cx="8318371"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600" b="1" dirty="0">
                <a:latin typeface="Segoe UI" panose="020B0502040204020203" pitchFamily="34" charset="0"/>
                <a:cs typeface="Segoe UI" panose="020B0502040204020203" pitchFamily="34" charset="0"/>
              </a:rPr>
              <a:t>1️⃣</a:t>
            </a: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Data Acquisition: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a:p>
            <a:pPr lvl="1" eaLnBrk="0" fontAlgn="base" hangingPunct="0">
              <a:spcBef>
                <a:spcPct val="0"/>
              </a:spcBef>
              <a:spcAft>
                <a:spcPct val="0"/>
              </a:spcAft>
              <a:buFontTx/>
              <a:buChar char="•"/>
            </a:pP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Obtained the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Blinkit</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Sales Data from Kaggle.</a:t>
            </a:r>
          </a:p>
          <a:p>
            <a:pPr lvl="1" eaLnBrk="0" fontAlgn="base" hangingPunct="0">
              <a:spcBef>
                <a:spcPct val="0"/>
              </a:spcBef>
              <a:spcAft>
                <a:spcPct val="0"/>
              </a:spcAft>
            </a:pPr>
            <a:endPar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600" b="1" dirty="0">
                <a:solidFill>
                  <a:schemeClr val="bg1"/>
                </a:solidFill>
                <a:latin typeface="Segoe UI" panose="020B0502040204020203" pitchFamily="34" charset="0"/>
                <a:cs typeface="Segoe UI" panose="020B0502040204020203" pitchFamily="34" charset="0"/>
              </a:rPr>
              <a:t>2️⃣</a:t>
            </a: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Data Cleaning &amp; Transformation: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Missing Values Handling:</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Identified and addressed missing data points, employing appropriate strategies (e.g., imputation) to maintain data quality.</a:t>
            </a: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Outlier Removal:</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Analyzed data for outliers that could skew results and applied techniques to mitigate their impact, ensuring robust analysis.</a:t>
            </a:r>
          </a:p>
          <a:p>
            <a:pPr lvl="1" eaLnBrk="0" fontAlgn="base" hangingPunct="0">
              <a:spcBef>
                <a:spcPct val="0"/>
              </a:spcBef>
              <a:spcAft>
                <a:spcPct val="0"/>
              </a:spcAft>
            </a:pPr>
            <a:endPar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600" b="1" dirty="0">
                <a:solidFill>
                  <a:schemeClr val="bg1"/>
                </a:solidFill>
                <a:latin typeface="Segoe UI" panose="020B0502040204020203" pitchFamily="34" charset="0"/>
                <a:cs typeface="Segoe UI" panose="020B0502040204020203" pitchFamily="34" charset="0"/>
              </a:rPr>
              <a:t>3️⃣</a:t>
            </a: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Visualization Creation: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endParaRP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Key Performance Indicators (KPIs):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Designed prominent cards to display critical business metrics like Total Revenue, Customer Lifetime Value, and Average Order Value for immediate insights.</a:t>
            </a:r>
          </a:p>
          <a:p>
            <a:pPr lvl="1" eaLnBrk="0" fontAlgn="base" hangingPunct="0">
              <a:spcBef>
                <a:spcPct val="0"/>
              </a:spcBef>
              <a:spcAft>
                <a:spcPct val="0"/>
              </a:spcAft>
              <a:buFontTx/>
              <a:buChar char="•"/>
            </a:pPr>
            <a:r>
              <a:rPr kumimoji="0" lang="en-US" altLang="en-US" sz="1600" b="1"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Distribution Analysis: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 Utilized pie charts and bar charts to illustrate the distribution of customer segments and the concentration of orders across different </a:t>
            </a:r>
            <a:r>
              <a:rPr kumimoji="0" lang="en-US" altLang="en-US" sz="1600" b="0" i="0" u="none" strike="noStrike" cap="none" normalizeH="0" baseline="0" dirty="0" err="1">
                <a:ln>
                  <a:noFill/>
                </a:ln>
                <a:solidFill>
                  <a:schemeClr val="bg1"/>
                </a:solidFill>
                <a:effectLst/>
                <a:latin typeface="Segoe UI" panose="020B0502040204020203" pitchFamily="34" charset="0"/>
                <a:cs typeface="Segoe UI" panose="020B0502040204020203" pitchFamily="34" charset="0"/>
              </a:rPr>
              <a:t>pincodes</a:t>
            </a:r>
            <a:r>
              <a:rPr kumimoji="0" lang="en-US" altLang="en-US" sz="1600"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p:txBody>
      </p:sp>
      <p:sp>
        <p:nvSpPr>
          <p:cNvPr id="8" name="TextBox 7">
            <a:extLst>
              <a:ext uri="{FF2B5EF4-FFF2-40B4-BE49-F238E27FC236}">
                <a16:creationId xmlns:a16="http://schemas.microsoft.com/office/drawing/2014/main" id="{35CF5DE0-7F99-CC38-04D1-B052A13F91B3}"/>
              </a:ext>
            </a:extLst>
          </p:cNvPr>
          <p:cNvSpPr txBox="1"/>
          <p:nvPr/>
        </p:nvSpPr>
        <p:spPr>
          <a:xfrm>
            <a:off x="2371624" y="370613"/>
            <a:ext cx="6132136" cy="646331"/>
          </a:xfrm>
          <a:prstGeom prst="rect">
            <a:avLst/>
          </a:prstGeom>
          <a:noFill/>
        </p:spPr>
        <p:txBody>
          <a:bodyPr wrap="square">
            <a:spAutoFit/>
          </a:bodyPr>
          <a:lstStyle/>
          <a:p>
            <a:pPr>
              <a:buNone/>
            </a:pPr>
            <a:r>
              <a:rPr lang="en-IN" sz="3600" b="1" dirty="0">
                <a:latin typeface="Segoe UI" panose="020B0502040204020203" pitchFamily="34" charset="0"/>
                <a:cs typeface="Segoe UI" panose="020B0502040204020203" pitchFamily="34" charset="0"/>
              </a:rPr>
              <a:t>📋</a:t>
            </a:r>
            <a:r>
              <a:rPr lang="en-IN" sz="3600" b="1" dirty="0">
                <a:solidFill>
                  <a:schemeClr val="bg1"/>
                </a:solidFill>
                <a:latin typeface="Segoe UI" panose="020B0502040204020203" pitchFamily="34" charset="0"/>
                <a:cs typeface="Segoe UI" panose="020B0502040204020203" pitchFamily="34" charset="0"/>
              </a:rPr>
              <a:t>Methodology</a:t>
            </a:r>
          </a:p>
        </p:txBody>
      </p:sp>
    </p:spTree>
    <p:extLst>
      <p:ext uri="{BB962C8B-B14F-4D97-AF65-F5344CB8AC3E}">
        <p14:creationId xmlns:p14="http://schemas.microsoft.com/office/powerpoint/2010/main" val="3060938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09A12A3-8921-1086-1391-E55AB7B4E5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6182" y="1921664"/>
            <a:ext cx="4005943" cy="301467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Rectangle: Rounded Corners 3">
            <a:extLst>
              <a:ext uri="{FF2B5EF4-FFF2-40B4-BE49-F238E27FC236}">
                <a16:creationId xmlns:a16="http://schemas.microsoft.com/office/drawing/2014/main" id="{089793E1-83DF-BC3D-F170-A05BA337D18A}"/>
              </a:ext>
            </a:extLst>
          </p:cNvPr>
          <p:cNvSpPr/>
          <p:nvPr/>
        </p:nvSpPr>
        <p:spPr>
          <a:xfrm>
            <a:off x="320637" y="589205"/>
            <a:ext cx="6117034"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pPr algn="ctr"/>
            <a:r>
              <a:rPr lang="en-US" sz="1600" b="1" dirty="0">
                <a:solidFill>
                  <a:schemeClr val="accent6">
                    <a:lumMod val="50000"/>
                  </a:schemeClr>
                </a:solidFill>
                <a:latin typeface="Papyrus" panose="03070502060502030205" pitchFamily="66" charset="0"/>
                <a:ea typeface="PMingLiU-ExtB" panose="02020500000000000000" pitchFamily="18" charset="-120"/>
                <a:cs typeface="Segoe UI" panose="020B0502040204020203" pitchFamily="34" charset="0"/>
              </a:rPr>
              <a:t>1</a:t>
            </a:r>
            <a:r>
              <a:rPr lang="en-US" sz="1600" b="1" dirty="0">
                <a:solidFill>
                  <a:schemeClr val="tx1"/>
                </a:solidFill>
                <a:latin typeface="Papyrus" panose="03070502060502030205" pitchFamily="66" charset="0"/>
                <a:ea typeface="PMingLiU-ExtB" panose="02020500000000000000" pitchFamily="18" charset="-120"/>
                <a:cs typeface="Segoe UI" panose="020B0502040204020203" pitchFamily="34" charset="0"/>
              </a:rPr>
              <a:t>. </a:t>
            </a:r>
            <a:r>
              <a:rPr lang="en-US" sz="1600" b="1" u="sng" dirty="0">
                <a:solidFill>
                  <a:schemeClr val="tx1"/>
                </a:solidFill>
                <a:latin typeface="Papyrus" panose="03070502060502030205" pitchFamily="66" charset="0"/>
                <a:ea typeface="PMingLiU-ExtB" panose="02020500000000000000" pitchFamily="18" charset="-120"/>
                <a:cs typeface="Segoe UI" panose="020B0502040204020203" pitchFamily="34" charset="0"/>
              </a:rPr>
              <a:t>ORDER ID BY CUSTOMER NAME </a:t>
            </a:r>
            <a:endParaRPr lang="en-IN" sz="1600" b="1" u="sng" dirty="0">
              <a:solidFill>
                <a:schemeClr val="tx1"/>
              </a:solidFill>
              <a:latin typeface="Papyrus" panose="03070502060502030205" pitchFamily="66" charset="0"/>
              <a:ea typeface="PMingLiU-ExtB" panose="02020500000000000000" pitchFamily="18" charset="-120"/>
              <a:cs typeface="Segoe UI" panose="020B0502040204020203" pitchFamily="34" charset="0"/>
            </a:endParaRPr>
          </a:p>
          <a:p>
            <a:pPr algn="ctr"/>
            <a:endParaRPr lang="en-US" dirty="0"/>
          </a:p>
        </p:txBody>
      </p:sp>
      <p:sp>
        <p:nvSpPr>
          <p:cNvPr id="7" name="Flowchart: Off-page Connector 6">
            <a:extLst>
              <a:ext uri="{FF2B5EF4-FFF2-40B4-BE49-F238E27FC236}">
                <a16:creationId xmlns:a16="http://schemas.microsoft.com/office/drawing/2014/main" id="{4C214CC6-687E-53B7-9441-5B91D992B6B9}"/>
              </a:ext>
            </a:extLst>
          </p:cNvPr>
          <p:cNvSpPr/>
          <p:nvPr/>
        </p:nvSpPr>
        <p:spPr>
          <a:xfrm>
            <a:off x="7480198" y="140108"/>
            <a:ext cx="3933965" cy="6577781"/>
          </a:xfrm>
          <a:prstGeom prst="flowChartOffpageConnector">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lvl="0" indent="-342900" eaLnBrk="0" fontAlgn="base" hangingPunct="0">
              <a:spcBef>
                <a:spcPct val="0"/>
              </a:spcBef>
              <a:spcAft>
                <a:spcPct val="0"/>
              </a:spcAft>
              <a:buFont typeface="Wingdings" panose="05000000000000000000" pitchFamily="2" charset="2"/>
              <a:buChar char="q"/>
            </a:pPr>
            <a:r>
              <a:rPr lang="en-US" altLang="en-US" b="1" u="sng" dirty="0">
                <a:solidFill>
                  <a:schemeClr val="bg1"/>
                </a:solidFill>
                <a:latin typeface="Arial" panose="020B0604020202020204" pitchFamily="34" charset="0"/>
              </a:rPr>
              <a:t>Purpose</a:t>
            </a:r>
          </a:p>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lvl="0" eaLnBrk="0" fontAlgn="base" hangingPunct="0">
              <a:spcBef>
                <a:spcPct val="0"/>
              </a:spcBef>
              <a:spcAft>
                <a:spcPct val="0"/>
              </a:spcAft>
            </a:pPr>
            <a:r>
              <a:rPr lang="en-US" altLang="en-US" sz="1400" dirty="0">
                <a:solidFill>
                  <a:schemeClr val="bg1"/>
                </a:solidFill>
                <a:latin typeface="Arial Narrow" panose="020B0606020202030204" pitchFamily="34" charset="0"/>
                <a:cs typeface="Aparajita" panose="02020603050405020304" pitchFamily="18" charset="0"/>
              </a:rPr>
              <a:t>The visual shows a </a:t>
            </a:r>
            <a:r>
              <a:rPr lang="en-US" altLang="en-US" sz="1400" b="1" dirty="0">
                <a:solidFill>
                  <a:schemeClr val="bg1"/>
                </a:solidFill>
                <a:latin typeface="Arial Narrow" panose="020B0606020202030204" pitchFamily="34" charset="0"/>
                <a:cs typeface="Aparajita" panose="02020603050405020304" pitchFamily="18" charset="0"/>
              </a:rPr>
              <a:t>bar chart</a:t>
            </a:r>
            <a:r>
              <a:rPr lang="en-US" altLang="en-US" sz="1400" dirty="0">
                <a:solidFill>
                  <a:schemeClr val="bg1"/>
                </a:solidFill>
                <a:latin typeface="Arial Narrow" panose="020B0606020202030204" pitchFamily="34" charset="0"/>
                <a:cs typeface="Aparajita" panose="02020603050405020304" pitchFamily="18" charset="0"/>
              </a:rPr>
              <a:t> representing the </a:t>
            </a:r>
            <a:r>
              <a:rPr lang="en-US" altLang="en-US" sz="1400" b="1" dirty="0">
                <a:solidFill>
                  <a:schemeClr val="bg1"/>
                </a:solidFill>
                <a:latin typeface="Arial Narrow" panose="020B0606020202030204" pitchFamily="34" charset="0"/>
                <a:cs typeface="Aparajita" panose="02020603050405020304" pitchFamily="18" charset="0"/>
              </a:rPr>
              <a:t>number of orders (Order IDs) placed by each customer</a:t>
            </a:r>
            <a:r>
              <a:rPr lang="en-US" altLang="en-US" sz="1400" dirty="0">
                <a:solidFill>
                  <a:schemeClr val="bg1"/>
                </a:solidFill>
                <a:latin typeface="Arial Narrow" panose="020B0606020202030204" pitchFamily="34" charset="0"/>
                <a:cs typeface="Aparajita" panose="02020603050405020304" pitchFamily="18" charset="0"/>
              </a:rPr>
              <a:t>. It aims to:</a:t>
            </a:r>
          </a:p>
          <a:p>
            <a:pPr lvl="0" eaLnBrk="0" fontAlgn="base" hangingPunct="0">
              <a:spcBef>
                <a:spcPct val="0"/>
              </a:spcBef>
              <a:spcAft>
                <a:spcPct val="0"/>
              </a:spcAft>
              <a:buFontTx/>
              <a:buChar char="•"/>
            </a:pPr>
            <a:r>
              <a:rPr lang="en-US" altLang="en-US" sz="1400" dirty="0">
                <a:solidFill>
                  <a:schemeClr val="bg1"/>
                </a:solidFill>
                <a:latin typeface="Arial Narrow" panose="020B0606020202030204" pitchFamily="34" charset="0"/>
                <a:cs typeface="Aparajita" panose="02020603050405020304" pitchFamily="18" charset="0"/>
              </a:rPr>
              <a:t>Identify </a:t>
            </a:r>
            <a:r>
              <a:rPr lang="en-US" altLang="en-US" sz="1400" b="1" dirty="0">
                <a:solidFill>
                  <a:schemeClr val="bg1"/>
                </a:solidFill>
                <a:latin typeface="Arial Narrow" panose="020B0606020202030204" pitchFamily="34" charset="0"/>
                <a:cs typeface="Aparajita" panose="02020603050405020304" pitchFamily="18" charset="0"/>
              </a:rPr>
              <a:t>which customers have placed the highest number of orders</a:t>
            </a:r>
            <a:r>
              <a:rPr lang="en-US" altLang="en-US" sz="1400" dirty="0">
                <a:solidFill>
                  <a:schemeClr val="bg1"/>
                </a:solidFill>
                <a:latin typeface="Arial Narrow" panose="020B0606020202030204" pitchFamily="34" charset="0"/>
                <a:cs typeface="Aparajita" panose="02020603050405020304" pitchFamily="18" charset="0"/>
              </a:rPr>
              <a:t>.</a:t>
            </a:r>
          </a:p>
          <a:p>
            <a:pPr lvl="0" eaLnBrk="0" fontAlgn="base" hangingPunct="0">
              <a:spcBef>
                <a:spcPct val="0"/>
              </a:spcBef>
              <a:spcAft>
                <a:spcPct val="0"/>
              </a:spcAft>
              <a:buFontTx/>
              <a:buChar char="•"/>
            </a:pPr>
            <a:r>
              <a:rPr lang="en-US" altLang="en-US" sz="1400" dirty="0">
                <a:solidFill>
                  <a:schemeClr val="bg1"/>
                </a:solidFill>
                <a:latin typeface="Arial Narrow" panose="020B0606020202030204" pitchFamily="34" charset="0"/>
                <a:cs typeface="Aparajita" panose="02020603050405020304" pitchFamily="18" charset="0"/>
              </a:rPr>
              <a:t>Provide a </a:t>
            </a:r>
            <a:r>
              <a:rPr lang="en-US" altLang="en-US" sz="1400" b="1" dirty="0">
                <a:solidFill>
                  <a:schemeClr val="bg1"/>
                </a:solidFill>
                <a:latin typeface="Arial Narrow" panose="020B0606020202030204" pitchFamily="34" charset="0"/>
                <a:cs typeface="Aparajita" panose="02020603050405020304" pitchFamily="18" charset="0"/>
              </a:rPr>
              <a:t>quick comparison</a:t>
            </a:r>
            <a:r>
              <a:rPr lang="en-US" altLang="en-US" sz="1400" dirty="0">
                <a:solidFill>
                  <a:schemeClr val="bg1"/>
                </a:solidFill>
                <a:latin typeface="Arial Narrow" panose="020B0606020202030204" pitchFamily="34" charset="0"/>
                <a:cs typeface="Aparajita" panose="02020603050405020304" pitchFamily="18" charset="0"/>
              </a:rPr>
              <a:t> among customers for sales analysis or CRM targeting.</a:t>
            </a:r>
          </a:p>
          <a:p>
            <a:pPr algn="ctr"/>
            <a:endParaRPr lang="en-US" dirty="0"/>
          </a:p>
        </p:txBody>
      </p:sp>
    </p:spTree>
    <p:extLst>
      <p:ext uri="{BB962C8B-B14F-4D97-AF65-F5344CB8AC3E}">
        <p14:creationId xmlns:p14="http://schemas.microsoft.com/office/powerpoint/2010/main" val="1322089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9D5CA-07EA-3B92-B208-7CD40DA5004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99D4A95-EB17-E0C1-1609-DB15B73CE9B7}"/>
              </a:ext>
            </a:extLst>
          </p:cNvPr>
          <p:cNvPicPr>
            <a:picLocks noChangeAspect="1"/>
          </p:cNvPicPr>
          <p:nvPr/>
        </p:nvPicPr>
        <p:blipFill>
          <a:blip r:embed="rId2"/>
          <a:stretch>
            <a:fillRect/>
          </a:stretch>
        </p:blipFill>
        <p:spPr>
          <a:xfrm>
            <a:off x="1295333" y="1872724"/>
            <a:ext cx="2705233" cy="218996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Rectangle: Rounded Corners 3">
            <a:extLst>
              <a:ext uri="{FF2B5EF4-FFF2-40B4-BE49-F238E27FC236}">
                <a16:creationId xmlns:a16="http://schemas.microsoft.com/office/drawing/2014/main" id="{54DFCC20-50EC-3364-A761-CDD6CBFF9471}"/>
              </a:ext>
            </a:extLst>
          </p:cNvPr>
          <p:cNvSpPr/>
          <p:nvPr/>
        </p:nvSpPr>
        <p:spPr>
          <a:xfrm>
            <a:off x="2921224" y="286150"/>
            <a:ext cx="6117034"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2400" b="1" u="sng" dirty="0">
                <a:solidFill>
                  <a:schemeClr val="tx1"/>
                </a:solidFill>
                <a:latin typeface="PMingLiU-ExtB" panose="02020500000000000000" pitchFamily="18" charset="-120"/>
                <a:ea typeface="PMingLiU-ExtB" panose="02020500000000000000" pitchFamily="18" charset="-120"/>
                <a:cs typeface="Segoe UI" panose="020B0502040204020203" pitchFamily="34" charset="0"/>
              </a:rPr>
              <a:t> </a:t>
            </a:r>
            <a:r>
              <a:rPr lang="en-US" sz="2400" b="1" dirty="0">
                <a:solidFill>
                  <a:schemeClr val="tx1"/>
                </a:solidFill>
                <a:latin typeface="Papyrus" panose="03070502060502030205" pitchFamily="66" charset="0"/>
              </a:rPr>
              <a:t>2. Customer segment &amp; feedback category</a:t>
            </a:r>
          </a:p>
        </p:txBody>
      </p:sp>
      <p:pic>
        <p:nvPicPr>
          <p:cNvPr id="9" name="Picture 8">
            <a:extLst>
              <a:ext uri="{FF2B5EF4-FFF2-40B4-BE49-F238E27FC236}">
                <a16:creationId xmlns:a16="http://schemas.microsoft.com/office/drawing/2014/main" id="{10458555-04D3-D38C-B2F9-0286D6998520}"/>
              </a:ext>
            </a:extLst>
          </p:cNvPr>
          <p:cNvPicPr>
            <a:picLocks noChangeAspect="1"/>
          </p:cNvPicPr>
          <p:nvPr/>
        </p:nvPicPr>
        <p:blipFill>
          <a:blip r:embed="rId3"/>
          <a:stretch>
            <a:fillRect/>
          </a:stretch>
        </p:blipFill>
        <p:spPr>
          <a:xfrm>
            <a:off x="7626177" y="1870698"/>
            <a:ext cx="2824162" cy="218996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3" name="Arrow: Pentagon 12">
            <a:extLst>
              <a:ext uri="{FF2B5EF4-FFF2-40B4-BE49-F238E27FC236}">
                <a16:creationId xmlns:a16="http://schemas.microsoft.com/office/drawing/2014/main" id="{F5303EB0-8C53-B3D2-DCB0-A539FCBF9634}"/>
              </a:ext>
            </a:extLst>
          </p:cNvPr>
          <p:cNvSpPr/>
          <p:nvPr/>
        </p:nvSpPr>
        <p:spPr>
          <a:xfrm>
            <a:off x="754286" y="4604626"/>
            <a:ext cx="4333875" cy="1814513"/>
          </a:xfrm>
          <a:prstGeom prst="homePlate">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lvl="0" indent="-285750" eaLnBrk="0" fontAlgn="base" hangingPunct="0">
              <a:spcBef>
                <a:spcPct val="0"/>
              </a:spcBef>
              <a:spcAft>
                <a:spcPct val="0"/>
              </a:spcAft>
              <a:buFont typeface="Wingdings" panose="05000000000000000000" pitchFamily="2" charset="2"/>
              <a:buChar char="q"/>
            </a:pPr>
            <a:r>
              <a:rPr lang="en-US" altLang="en-US" sz="1200" b="1" dirty="0">
                <a:solidFill>
                  <a:schemeClr val="bg1"/>
                </a:solidFill>
                <a:latin typeface="Arial" panose="020B0604020202020204" pitchFamily="34" charset="0"/>
              </a:rPr>
              <a:t>Purpose</a:t>
            </a:r>
          </a:p>
          <a:p>
            <a:pPr lvl="0" eaLnBrk="0" fontAlgn="base" hangingPunct="0">
              <a:spcBef>
                <a:spcPct val="0"/>
              </a:spcBef>
              <a:spcAft>
                <a:spcPct val="0"/>
              </a:spcAft>
            </a:pPr>
            <a:r>
              <a:rPr lang="en-US" altLang="en-US" sz="1200" dirty="0">
                <a:solidFill>
                  <a:schemeClr val="bg1"/>
                </a:solidFill>
                <a:latin typeface="Arial" panose="020B0604020202020204" pitchFamily="34" charset="0"/>
              </a:rPr>
              <a:t>This </a:t>
            </a:r>
            <a:r>
              <a:rPr lang="en-US" altLang="en-US" sz="1200" b="1" dirty="0">
                <a:solidFill>
                  <a:schemeClr val="bg1"/>
                </a:solidFill>
                <a:latin typeface="Arial" panose="020B0604020202020204" pitchFamily="34" charset="0"/>
              </a:rPr>
              <a:t>donut chart</a:t>
            </a:r>
            <a:r>
              <a:rPr lang="en-US" altLang="en-US" sz="1200" dirty="0">
                <a:solidFill>
                  <a:schemeClr val="bg1"/>
                </a:solidFill>
                <a:latin typeface="Arial" panose="020B0604020202020204" pitchFamily="34" charset="0"/>
              </a:rPr>
              <a:t> visualizes the </a:t>
            </a:r>
            <a:r>
              <a:rPr lang="en-US" altLang="en-US" sz="1200" b="1" dirty="0">
                <a:solidFill>
                  <a:schemeClr val="bg1"/>
                </a:solidFill>
                <a:latin typeface="Arial" panose="020B0604020202020204" pitchFamily="34" charset="0"/>
              </a:rPr>
              <a:t>distribution of customers by segment type</a:t>
            </a:r>
            <a:r>
              <a:rPr lang="en-US" altLang="en-US" sz="1200" dirty="0">
                <a:solidFill>
                  <a:schemeClr val="bg1"/>
                </a:solidFill>
                <a:latin typeface="Arial" panose="020B0604020202020204" pitchFamily="34" charset="0"/>
              </a:rPr>
              <a:t>. Its main aims are:</a:t>
            </a:r>
          </a:p>
          <a:p>
            <a:pPr lvl="0" eaLnBrk="0" fontAlgn="base" hangingPunct="0">
              <a:spcBef>
                <a:spcPct val="0"/>
              </a:spcBef>
              <a:spcAft>
                <a:spcPct val="0"/>
              </a:spcAft>
              <a:buFontTx/>
              <a:buChar char="•"/>
            </a:pPr>
            <a:r>
              <a:rPr lang="en-US" altLang="en-US" sz="1200" dirty="0">
                <a:solidFill>
                  <a:schemeClr val="bg1"/>
                </a:solidFill>
                <a:latin typeface="Arial" panose="020B0604020202020204" pitchFamily="34" charset="0"/>
              </a:rPr>
              <a:t>To show </a:t>
            </a:r>
            <a:r>
              <a:rPr lang="en-US" altLang="en-US" sz="1200" b="1" dirty="0">
                <a:solidFill>
                  <a:schemeClr val="bg1"/>
                </a:solidFill>
                <a:latin typeface="Arial" panose="020B0604020202020204" pitchFamily="34" charset="0"/>
              </a:rPr>
              <a:t>how customers are divided</a:t>
            </a:r>
            <a:r>
              <a:rPr lang="en-US" altLang="en-US" sz="1200" dirty="0">
                <a:solidFill>
                  <a:schemeClr val="bg1"/>
                </a:solidFill>
                <a:latin typeface="Arial" panose="020B0604020202020204" pitchFamily="34" charset="0"/>
              </a:rPr>
              <a:t> among </a:t>
            </a:r>
            <a:r>
              <a:rPr lang="en-US" altLang="en-US" sz="1200" b="1" dirty="0">
                <a:solidFill>
                  <a:schemeClr val="bg1"/>
                </a:solidFill>
                <a:latin typeface="Arial" panose="020B0604020202020204" pitchFamily="34" charset="0"/>
              </a:rPr>
              <a:t>Premium, Inactive, New, and Regular</a:t>
            </a:r>
            <a:r>
              <a:rPr lang="en-US" altLang="en-US" sz="1200" dirty="0">
                <a:solidFill>
                  <a:schemeClr val="bg1"/>
                </a:solidFill>
                <a:latin typeface="Arial" panose="020B0604020202020204" pitchFamily="34" charset="0"/>
              </a:rPr>
              <a:t> segments.</a:t>
            </a:r>
          </a:p>
          <a:p>
            <a:pPr lvl="0" eaLnBrk="0" fontAlgn="base" hangingPunct="0">
              <a:spcBef>
                <a:spcPct val="0"/>
              </a:spcBef>
              <a:spcAft>
                <a:spcPct val="0"/>
              </a:spcAft>
              <a:buFontTx/>
              <a:buChar char="•"/>
            </a:pPr>
            <a:r>
              <a:rPr lang="en-US" altLang="en-US" sz="1200" dirty="0">
                <a:solidFill>
                  <a:schemeClr val="bg1"/>
                </a:solidFill>
                <a:latin typeface="Arial" panose="020B0604020202020204" pitchFamily="34" charset="0"/>
              </a:rPr>
              <a:t>To assist in </a:t>
            </a:r>
            <a:r>
              <a:rPr lang="en-US" altLang="en-US" sz="1200" b="1" dirty="0">
                <a:solidFill>
                  <a:schemeClr val="bg1"/>
                </a:solidFill>
                <a:latin typeface="Arial" panose="020B0604020202020204" pitchFamily="34" charset="0"/>
              </a:rPr>
              <a:t>customer base analysis</a:t>
            </a:r>
            <a:r>
              <a:rPr lang="en-US" altLang="en-US" sz="1200" dirty="0">
                <a:solidFill>
                  <a:schemeClr val="bg1"/>
                </a:solidFill>
                <a:latin typeface="Arial" panose="020B0604020202020204" pitchFamily="34" charset="0"/>
              </a:rPr>
              <a:t> for targeted marketing and retention strategies.</a:t>
            </a:r>
          </a:p>
        </p:txBody>
      </p:sp>
      <p:sp>
        <p:nvSpPr>
          <p:cNvPr id="14" name="Arrow: Pentagon 13">
            <a:extLst>
              <a:ext uri="{FF2B5EF4-FFF2-40B4-BE49-F238E27FC236}">
                <a16:creationId xmlns:a16="http://schemas.microsoft.com/office/drawing/2014/main" id="{FE971F41-F6E7-87D7-5BFB-8599D3081FC6}"/>
              </a:ext>
            </a:extLst>
          </p:cNvPr>
          <p:cNvSpPr/>
          <p:nvPr/>
        </p:nvSpPr>
        <p:spPr>
          <a:xfrm>
            <a:off x="7264623" y="4600574"/>
            <a:ext cx="4333875" cy="1814513"/>
          </a:xfrm>
          <a:prstGeom prst="homePlate">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lvl="0" indent="-285750" eaLnBrk="0" fontAlgn="base" hangingPunct="0">
              <a:spcBef>
                <a:spcPct val="0"/>
              </a:spcBef>
              <a:spcAft>
                <a:spcPct val="0"/>
              </a:spcAft>
              <a:buFont typeface="Wingdings" panose="05000000000000000000" pitchFamily="2" charset="2"/>
              <a:buChar char="q"/>
            </a:pPr>
            <a:r>
              <a:rPr lang="en-US" altLang="en-US" sz="1200" b="1" dirty="0">
                <a:solidFill>
                  <a:schemeClr val="bg1"/>
                </a:solidFill>
                <a:latin typeface="Arial" panose="020B0604020202020204" pitchFamily="34" charset="0"/>
              </a:rPr>
              <a:t>Purpose</a:t>
            </a:r>
          </a:p>
          <a:p>
            <a:pPr lvl="0" eaLnBrk="0" fontAlgn="base" hangingPunct="0">
              <a:spcBef>
                <a:spcPct val="0"/>
              </a:spcBef>
              <a:spcAft>
                <a:spcPct val="0"/>
              </a:spcAft>
            </a:pPr>
            <a:r>
              <a:rPr lang="en-US" sz="1200" b="1" dirty="0"/>
              <a:t>This helps the organization identify which areas receive the most feedback, allowing them to priorities improvements or maintain strong performing areas accordingly. Let me know if you also want insights from this data for your upcoming reports or Power BI summaries today.</a:t>
            </a:r>
            <a:endParaRPr lang="en-US" altLang="en-US" sz="1200" b="1" dirty="0">
              <a:solidFill>
                <a:schemeClr val="bg1"/>
              </a:solidFill>
              <a:latin typeface="Arial" panose="020B0604020202020204" pitchFamily="34" charset="0"/>
            </a:endParaRPr>
          </a:p>
        </p:txBody>
      </p:sp>
    </p:spTree>
    <p:extLst>
      <p:ext uri="{BB962C8B-B14F-4D97-AF65-F5344CB8AC3E}">
        <p14:creationId xmlns:p14="http://schemas.microsoft.com/office/powerpoint/2010/main" val="289567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F0117-5AAA-93E8-B4D6-19B23C816EB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4C9C36B-D45F-82B1-90F9-CE82FC17A4A4}"/>
              </a:ext>
            </a:extLst>
          </p:cNvPr>
          <p:cNvPicPr>
            <a:picLocks noChangeAspect="1"/>
          </p:cNvPicPr>
          <p:nvPr/>
        </p:nvPicPr>
        <p:blipFill>
          <a:blip r:embed="rId2"/>
          <a:stretch>
            <a:fillRect/>
          </a:stretch>
        </p:blipFill>
        <p:spPr>
          <a:xfrm>
            <a:off x="1647825" y="2217477"/>
            <a:ext cx="3517900" cy="242304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Rectangle: Rounded Corners 3">
            <a:extLst>
              <a:ext uri="{FF2B5EF4-FFF2-40B4-BE49-F238E27FC236}">
                <a16:creationId xmlns:a16="http://schemas.microsoft.com/office/drawing/2014/main" id="{C84D43BF-4D48-1B25-1EBB-D324AA25F335}"/>
              </a:ext>
            </a:extLst>
          </p:cNvPr>
          <p:cNvSpPr/>
          <p:nvPr/>
        </p:nvSpPr>
        <p:spPr>
          <a:xfrm>
            <a:off x="2402091" y="437584"/>
            <a:ext cx="6117034"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IN" sz="2400" b="1" dirty="0">
                <a:solidFill>
                  <a:schemeClr val="tx1"/>
                </a:solidFill>
                <a:latin typeface="Segoe UI" panose="020B0502040204020203" pitchFamily="34" charset="0"/>
                <a:cs typeface="Segoe UI" panose="020B0502040204020203" pitchFamily="34" charset="0"/>
              </a:rPr>
              <a:t>      </a:t>
            </a:r>
            <a:r>
              <a:rPr lang="en-IN" sz="2400" b="1" dirty="0">
                <a:solidFill>
                  <a:schemeClr val="tx1"/>
                </a:solidFill>
                <a:latin typeface="Papyrus" panose="03070502060502030205" pitchFamily="66" charset="0"/>
                <a:cs typeface="Segoe UI" panose="020B0502040204020203" pitchFamily="34" charset="0"/>
              </a:rPr>
              <a:t>3. </a:t>
            </a:r>
            <a:r>
              <a:rPr lang="en-IN" sz="2400" b="1" u="sng" dirty="0">
                <a:solidFill>
                  <a:schemeClr val="tx1"/>
                </a:solidFill>
                <a:latin typeface="Papyrus" panose="03070502060502030205" pitchFamily="66" charset="0"/>
                <a:cs typeface="Segoe UI" panose="020B0502040204020203" pitchFamily="34" charset="0"/>
              </a:rPr>
              <a:t>Most Frequent Product Name</a:t>
            </a:r>
          </a:p>
          <a:p>
            <a:pPr algn="ctr"/>
            <a:endParaRPr lang="en-US" dirty="0"/>
          </a:p>
        </p:txBody>
      </p:sp>
      <p:sp>
        <p:nvSpPr>
          <p:cNvPr id="6" name="Oval 5">
            <a:extLst>
              <a:ext uri="{FF2B5EF4-FFF2-40B4-BE49-F238E27FC236}">
                <a16:creationId xmlns:a16="http://schemas.microsoft.com/office/drawing/2014/main" id="{01A822BF-5E98-FC58-48A9-088534ED7739}"/>
              </a:ext>
            </a:extLst>
          </p:cNvPr>
          <p:cNvSpPr/>
          <p:nvPr/>
        </p:nvSpPr>
        <p:spPr>
          <a:xfrm>
            <a:off x="6290275" y="1864517"/>
            <a:ext cx="4253900" cy="3128963"/>
          </a:xfrm>
          <a:prstGeom prst="ellipse">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q"/>
            </a:pPr>
            <a:r>
              <a:rPr lang="en-US" sz="2400" b="1" dirty="0">
                <a:solidFill>
                  <a:schemeClr val="bg1"/>
                </a:solidFill>
              </a:rPr>
              <a:t>Information</a:t>
            </a:r>
          </a:p>
          <a:p>
            <a:pPr>
              <a:buFont typeface="Arial" panose="020B0604020202020204" pitchFamily="34" charset="0"/>
              <a:buChar char="•"/>
            </a:pPr>
            <a:r>
              <a:rPr lang="en-US" b="1" dirty="0">
                <a:solidFill>
                  <a:schemeClr val="bg1"/>
                </a:solidFill>
              </a:rPr>
              <a:t>Label Displayed:</a:t>
            </a:r>
            <a:r>
              <a:rPr lang="en-US" dirty="0">
                <a:solidFill>
                  <a:schemeClr val="bg1"/>
                </a:solidFill>
              </a:rPr>
              <a:t> </a:t>
            </a:r>
            <a:r>
              <a:rPr lang="en-US" i="1" dirty="0">
                <a:solidFill>
                  <a:schemeClr val="bg1"/>
                </a:solidFill>
              </a:rPr>
              <a:t>Baby Food</a:t>
            </a:r>
            <a:endParaRPr lang="en-US" dirty="0">
              <a:solidFill>
                <a:schemeClr val="bg1"/>
              </a:solidFill>
            </a:endParaRPr>
          </a:p>
          <a:p>
            <a:pPr>
              <a:buFont typeface="Arial" panose="020B0604020202020204" pitchFamily="34" charset="0"/>
              <a:buChar char="•"/>
            </a:pPr>
            <a:r>
              <a:rPr lang="en-US" b="1" dirty="0">
                <a:solidFill>
                  <a:schemeClr val="bg1"/>
                </a:solidFill>
              </a:rPr>
              <a:t>Context:</a:t>
            </a:r>
            <a:r>
              <a:rPr lang="en-US" dirty="0">
                <a:solidFill>
                  <a:schemeClr val="bg1"/>
                </a:solidFill>
              </a:rPr>
              <a:t> It is indicated as the </a:t>
            </a:r>
            <a:r>
              <a:rPr lang="en-US" b="1" dirty="0">
                <a:solidFill>
                  <a:schemeClr val="bg1"/>
                </a:solidFill>
              </a:rPr>
              <a:t>“Most Frequent Product.”</a:t>
            </a:r>
            <a:endParaRPr lang="en-US" dirty="0">
              <a:solidFill>
                <a:schemeClr val="bg1"/>
              </a:solidFill>
            </a:endParaRPr>
          </a:p>
        </p:txBody>
      </p:sp>
    </p:spTree>
    <p:extLst>
      <p:ext uri="{BB962C8B-B14F-4D97-AF65-F5344CB8AC3E}">
        <p14:creationId xmlns:p14="http://schemas.microsoft.com/office/powerpoint/2010/main" val="3155514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40779-3F67-287B-4775-4E5754BF5F9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2CE4A56-D674-F5E4-C31E-01DF4E97E591}"/>
              </a:ext>
            </a:extLst>
          </p:cNvPr>
          <p:cNvPicPr>
            <a:picLocks noChangeAspect="1"/>
          </p:cNvPicPr>
          <p:nvPr/>
        </p:nvPicPr>
        <p:blipFill>
          <a:blip r:embed="rId2"/>
          <a:stretch>
            <a:fillRect/>
          </a:stretch>
        </p:blipFill>
        <p:spPr>
          <a:xfrm>
            <a:off x="2315194" y="1947392"/>
            <a:ext cx="4042040" cy="148160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Picture 9">
            <a:extLst>
              <a:ext uri="{FF2B5EF4-FFF2-40B4-BE49-F238E27FC236}">
                <a16:creationId xmlns:a16="http://schemas.microsoft.com/office/drawing/2014/main" id="{776ABA6C-B6F4-F70A-7329-CA91D45070AA}"/>
              </a:ext>
            </a:extLst>
          </p:cNvPr>
          <p:cNvPicPr>
            <a:picLocks noChangeAspect="1"/>
          </p:cNvPicPr>
          <p:nvPr/>
        </p:nvPicPr>
        <p:blipFill>
          <a:blip r:embed="rId3"/>
          <a:stretch>
            <a:fillRect/>
          </a:stretch>
        </p:blipFill>
        <p:spPr>
          <a:xfrm>
            <a:off x="587761" y="3806018"/>
            <a:ext cx="4042040" cy="15790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Rectangle: Rounded Corners 3">
            <a:extLst>
              <a:ext uri="{FF2B5EF4-FFF2-40B4-BE49-F238E27FC236}">
                <a16:creationId xmlns:a16="http://schemas.microsoft.com/office/drawing/2014/main" id="{A2DB45FC-67C3-67FE-3985-9689BF0BE845}"/>
              </a:ext>
            </a:extLst>
          </p:cNvPr>
          <p:cNvSpPr/>
          <p:nvPr/>
        </p:nvSpPr>
        <p:spPr>
          <a:xfrm>
            <a:off x="240200" y="490461"/>
            <a:ext cx="6117034"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US" b="1" dirty="0">
                <a:solidFill>
                  <a:schemeClr val="tx1"/>
                </a:solidFill>
                <a:latin typeface="Papyrus" panose="03070502060502030205" pitchFamily="66" charset="0"/>
                <a:cs typeface="Segoe UI" panose="020B0502040204020203" pitchFamily="34" charset="0"/>
              </a:rPr>
              <a:t>4. </a:t>
            </a:r>
            <a:r>
              <a:rPr lang="en-US" b="1" u="sng" dirty="0">
                <a:solidFill>
                  <a:schemeClr val="tx1"/>
                </a:solidFill>
                <a:latin typeface="Papyrus" panose="03070502060502030205" pitchFamily="66" charset="0"/>
                <a:cs typeface="Segoe UI" panose="020B0502040204020203" pitchFamily="34" charset="0"/>
              </a:rPr>
              <a:t>Total Revenue , Total Customer Lifetime Value,</a:t>
            </a:r>
          </a:p>
          <a:p>
            <a:r>
              <a:rPr lang="en-US" b="1" u="sng" dirty="0">
                <a:solidFill>
                  <a:schemeClr val="tx1"/>
                </a:solidFill>
                <a:latin typeface="Papyrus" panose="03070502060502030205" pitchFamily="66" charset="0"/>
                <a:cs typeface="Segoe UI" panose="020B0502040204020203" pitchFamily="34" charset="0"/>
              </a:rPr>
              <a:t>Average Order Value, Retention Rate</a:t>
            </a:r>
            <a:endParaRPr lang="en-IN" b="1" u="sng" dirty="0">
              <a:solidFill>
                <a:schemeClr val="tx1"/>
              </a:solidFill>
              <a:latin typeface="Papyrus" panose="03070502060502030205" pitchFamily="66" charset="0"/>
              <a:cs typeface="Segoe UI" panose="020B0502040204020203" pitchFamily="34" charset="0"/>
            </a:endParaRPr>
          </a:p>
          <a:p>
            <a:pPr algn="ctr"/>
            <a:endParaRPr lang="en-US" dirty="0"/>
          </a:p>
        </p:txBody>
      </p:sp>
      <p:sp>
        <p:nvSpPr>
          <p:cNvPr id="5" name="Flowchart: Off-page Connector 4">
            <a:extLst>
              <a:ext uri="{FF2B5EF4-FFF2-40B4-BE49-F238E27FC236}">
                <a16:creationId xmlns:a16="http://schemas.microsoft.com/office/drawing/2014/main" id="{079A06C8-BA17-0137-0EC9-E2BA8EF1ED24}"/>
              </a:ext>
            </a:extLst>
          </p:cNvPr>
          <p:cNvSpPr/>
          <p:nvPr/>
        </p:nvSpPr>
        <p:spPr>
          <a:xfrm>
            <a:off x="7336411" y="140109"/>
            <a:ext cx="3933965" cy="6577781"/>
          </a:xfrm>
          <a:prstGeom prst="flowChartOffpageConnector">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lvl="0" indent="-342900" eaLnBrk="0" fontAlgn="base" hangingPunct="0">
              <a:spcBef>
                <a:spcPct val="0"/>
              </a:spcBef>
              <a:spcAft>
                <a:spcPct val="0"/>
              </a:spcAft>
              <a:buFont typeface="Wingdings" panose="05000000000000000000" pitchFamily="2" charset="2"/>
              <a:buChar char="q"/>
            </a:pPr>
            <a:r>
              <a:rPr lang="en-US" altLang="en-US" b="1" u="sng" dirty="0">
                <a:solidFill>
                  <a:schemeClr val="bg1"/>
                </a:solidFill>
                <a:latin typeface="Arial" panose="020B0604020202020204" pitchFamily="34" charset="0"/>
              </a:rPr>
              <a:t>Purpose</a:t>
            </a:r>
          </a:p>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a:buNone/>
            </a:pPr>
            <a:r>
              <a:rPr lang="en-US" sz="1200" b="1" dirty="0">
                <a:solidFill>
                  <a:schemeClr val="bg1"/>
                </a:solidFill>
                <a:latin typeface="Arial Narrow" panose="020B0606020202030204" pitchFamily="34" charset="0"/>
              </a:rPr>
              <a:t>These two KPI cards display:</a:t>
            </a:r>
          </a:p>
          <a:p>
            <a:pPr>
              <a:buFont typeface="+mj-lt"/>
              <a:buAutoNum type="arabicPeriod"/>
            </a:pPr>
            <a:r>
              <a:rPr lang="en-US" sz="1200" b="1" dirty="0">
                <a:solidFill>
                  <a:schemeClr val="bg1"/>
                </a:solidFill>
                <a:latin typeface="Arial Narrow" panose="020B0606020202030204" pitchFamily="34" charset="0"/>
              </a:rPr>
              <a:t>Average Order Value ($1K)</a:t>
            </a:r>
          </a:p>
          <a:p>
            <a:pPr marL="742950" lvl="1" indent="-285750">
              <a:buFont typeface="+mj-lt"/>
              <a:buAutoNum type="arabicPeriod"/>
            </a:pPr>
            <a:r>
              <a:rPr lang="en-US" sz="1200" b="1" dirty="0">
                <a:solidFill>
                  <a:schemeClr val="bg1"/>
                </a:solidFill>
                <a:latin typeface="Arial Narrow" panose="020B0606020202030204" pitchFamily="34" charset="0"/>
              </a:rPr>
              <a:t>Shows the average amount spent per order.</a:t>
            </a:r>
          </a:p>
          <a:p>
            <a:pPr marL="742950" lvl="1" indent="-285750">
              <a:buFont typeface="+mj-lt"/>
              <a:buAutoNum type="arabicPeriod"/>
            </a:pPr>
            <a:r>
              <a:rPr lang="en-US" sz="1200" b="1" dirty="0">
                <a:solidFill>
                  <a:schemeClr val="bg1"/>
                </a:solidFill>
                <a:latin typeface="Arial Narrow" panose="020B0606020202030204" pitchFamily="34" charset="0"/>
              </a:rPr>
              <a:t>Helps in assessing customer spending </a:t>
            </a:r>
            <a:r>
              <a:rPr lang="en-US" sz="1200" b="1" dirty="0" err="1">
                <a:solidFill>
                  <a:schemeClr val="bg1"/>
                </a:solidFill>
                <a:latin typeface="Arial Narrow" panose="020B0606020202030204" pitchFamily="34" charset="0"/>
              </a:rPr>
              <a:t>behaviour</a:t>
            </a:r>
            <a:r>
              <a:rPr lang="en-US" sz="1200" b="1" dirty="0">
                <a:solidFill>
                  <a:schemeClr val="bg1"/>
                </a:solidFill>
                <a:latin typeface="Arial Narrow" panose="020B0606020202030204" pitchFamily="34" charset="0"/>
              </a:rPr>
              <a:t> per transaction.</a:t>
            </a:r>
          </a:p>
          <a:p>
            <a:pPr>
              <a:buFont typeface="+mj-lt"/>
              <a:buAutoNum type="arabicPeriod"/>
            </a:pPr>
            <a:r>
              <a:rPr lang="en-US" sz="1200" b="1" dirty="0">
                <a:solidFill>
                  <a:schemeClr val="bg1"/>
                </a:solidFill>
                <a:latin typeface="Arial Narrow" panose="020B0606020202030204" pitchFamily="34" charset="0"/>
              </a:rPr>
              <a:t>Total Sales Revenue ($1.42M)</a:t>
            </a:r>
          </a:p>
          <a:p>
            <a:pPr marL="742950" lvl="1" indent="-285750">
              <a:buFont typeface="+mj-lt"/>
              <a:buAutoNum type="arabicPeriod"/>
            </a:pPr>
            <a:r>
              <a:rPr lang="en-US" sz="1200" b="1" dirty="0">
                <a:solidFill>
                  <a:schemeClr val="bg1"/>
                </a:solidFill>
                <a:latin typeface="Arial Narrow" panose="020B0606020202030204" pitchFamily="34" charset="0"/>
              </a:rPr>
              <a:t>Displays the total revenue generated from all sales.</a:t>
            </a:r>
          </a:p>
          <a:p>
            <a:pPr marL="742950" lvl="1" indent="-285750">
              <a:buFont typeface="+mj-lt"/>
              <a:buAutoNum type="arabicPeriod"/>
            </a:pPr>
            <a:r>
              <a:rPr lang="en-US" sz="1200" b="1" dirty="0">
                <a:solidFill>
                  <a:schemeClr val="bg1"/>
                </a:solidFill>
                <a:latin typeface="Arial Narrow" panose="020B0606020202030204" pitchFamily="34" charset="0"/>
              </a:rPr>
              <a:t>Indicates overall business performance and sales effectiveness.</a:t>
            </a:r>
          </a:p>
          <a:p>
            <a:r>
              <a:rPr lang="en-US" sz="1200" b="1" dirty="0">
                <a:solidFill>
                  <a:schemeClr val="bg1"/>
                </a:solidFill>
                <a:latin typeface="Arial Narrow" panose="020B0606020202030204" pitchFamily="34" charset="0"/>
              </a:rPr>
              <a:t>3.Retention Rate (68.7%)</a:t>
            </a:r>
          </a:p>
          <a:p>
            <a:pPr lvl="1"/>
            <a:r>
              <a:rPr lang="en-US" sz="1200" b="1" dirty="0">
                <a:solidFill>
                  <a:schemeClr val="bg1"/>
                </a:solidFill>
                <a:latin typeface="Arial Narrow" panose="020B0606020202030204" pitchFamily="34" charset="0"/>
              </a:rPr>
              <a:t>Shows the percentage of customers retained over a period.</a:t>
            </a:r>
          </a:p>
          <a:p>
            <a:pPr lvl="1"/>
            <a:r>
              <a:rPr lang="en-US" sz="1200" b="1" dirty="0">
                <a:solidFill>
                  <a:schemeClr val="bg1"/>
                </a:solidFill>
                <a:latin typeface="Arial Narrow" panose="020B0606020202030204" pitchFamily="34" charset="0"/>
              </a:rPr>
              <a:t>Used to measure customer loyalty and satisfaction.</a:t>
            </a:r>
          </a:p>
          <a:p>
            <a:r>
              <a:rPr lang="en-US" sz="1200" b="1" dirty="0">
                <a:solidFill>
                  <a:schemeClr val="bg1"/>
                </a:solidFill>
                <a:latin typeface="Arial Narrow" panose="020B0606020202030204" pitchFamily="34" charset="0"/>
              </a:rPr>
              <a:t>4.Total Customer Lifetime Value (₹ 3.08M)</a:t>
            </a:r>
          </a:p>
          <a:p>
            <a:pPr lvl="1"/>
            <a:r>
              <a:rPr lang="en-US" sz="1200" b="1" dirty="0">
                <a:solidFill>
                  <a:schemeClr val="bg1"/>
                </a:solidFill>
                <a:latin typeface="Arial Narrow" panose="020B0606020202030204" pitchFamily="34" charset="0"/>
              </a:rPr>
              <a:t>Shows the total revenue expected from all customers over their relationship with the business.</a:t>
            </a:r>
          </a:p>
          <a:p>
            <a:pPr lvl="1"/>
            <a:r>
              <a:rPr lang="en-US" sz="1200" b="1" dirty="0">
                <a:solidFill>
                  <a:schemeClr val="bg1"/>
                </a:solidFill>
                <a:latin typeface="Arial Narrow" panose="020B0606020202030204" pitchFamily="34" charset="0"/>
              </a:rPr>
              <a:t>Used to evaluate customer value contribution for strategic decisions.</a:t>
            </a:r>
          </a:p>
          <a:p>
            <a:pPr algn="ctr"/>
            <a:endParaRPr lang="en-US" dirty="0"/>
          </a:p>
        </p:txBody>
      </p:sp>
    </p:spTree>
    <p:extLst>
      <p:ext uri="{BB962C8B-B14F-4D97-AF65-F5344CB8AC3E}">
        <p14:creationId xmlns:p14="http://schemas.microsoft.com/office/powerpoint/2010/main" val="22719880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354CC-34D8-AEB9-953C-8E6F36E10E4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ED3BAF8-091D-64B1-D2C5-034E3872947F}"/>
              </a:ext>
            </a:extLst>
          </p:cNvPr>
          <p:cNvPicPr>
            <a:picLocks noChangeAspect="1"/>
          </p:cNvPicPr>
          <p:nvPr/>
        </p:nvPicPr>
        <p:blipFill>
          <a:blip r:embed="rId2"/>
          <a:stretch>
            <a:fillRect/>
          </a:stretch>
        </p:blipFill>
        <p:spPr>
          <a:xfrm>
            <a:off x="1592008" y="2070058"/>
            <a:ext cx="4503992" cy="27178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Rectangle: Rounded Corners 6">
            <a:extLst>
              <a:ext uri="{FF2B5EF4-FFF2-40B4-BE49-F238E27FC236}">
                <a16:creationId xmlns:a16="http://schemas.microsoft.com/office/drawing/2014/main" id="{85CD2DF6-7335-1191-C5A7-1E0746A2E40A}"/>
              </a:ext>
            </a:extLst>
          </p:cNvPr>
          <p:cNvSpPr/>
          <p:nvPr/>
        </p:nvSpPr>
        <p:spPr>
          <a:xfrm>
            <a:off x="945850" y="573000"/>
            <a:ext cx="6117034"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US" sz="2000" b="1" dirty="0">
                <a:solidFill>
                  <a:schemeClr val="bg1"/>
                </a:solidFill>
                <a:latin typeface="Segoe UI" panose="020B0502040204020203" pitchFamily="34" charset="0"/>
                <a:cs typeface="Segoe UI" panose="020B0502040204020203" pitchFamily="34" charset="0"/>
              </a:rPr>
              <a:t>          </a:t>
            </a:r>
            <a:r>
              <a:rPr lang="en-US" sz="2400" b="1" dirty="0">
                <a:solidFill>
                  <a:schemeClr val="tx1"/>
                </a:solidFill>
                <a:effectLst>
                  <a:outerShdw blurRad="38100" dist="38100" dir="2700000" algn="tl">
                    <a:srgbClr val="000000">
                      <a:alpha val="43137"/>
                    </a:srgbClr>
                  </a:outerShdw>
                </a:effectLst>
                <a:latin typeface="Segoe Script" panose="030B0504020000000003" pitchFamily="66" charset="0"/>
                <a:cs typeface="Segoe UI" panose="020B0502040204020203" pitchFamily="34" charset="0"/>
              </a:rPr>
              <a:t>5. </a:t>
            </a:r>
            <a:r>
              <a:rPr lang="en-IN" sz="2400" b="1" u="sng" dirty="0">
                <a:solidFill>
                  <a:schemeClr val="tx1"/>
                </a:solidFill>
                <a:effectLst>
                  <a:outerShdw blurRad="38100" dist="38100" dir="2700000" algn="tl">
                    <a:srgbClr val="000000">
                      <a:alpha val="43137"/>
                    </a:srgbClr>
                  </a:outerShdw>
                </a:effectLst>
                <a:latin typeface="Segoe Script" panose="030B0504020000000003" pitchFamily="66" charset="0"/>
                <a:cs typeface="Segoe UI" panose="020B0502040204020203" pitchFamily="34" charset="0"/>
              </a:rPr>
              <a:t>Total Orders by Month</a:t>
            </a:r>
          </a:p>
          <a:p>
            <a:pPr algn="ctr"/>
            <a:endParaRPr lang="en-US" dirty="0"/>
          </a:p>
        </p:txBody>
      </p:sp>
      <p:sp>
        <p:nvSpPr>
          <p:cNvPr id="9" name="Flowchart: Off-page Connector 8">
            <a:extLst>
              <a:ext uri="{FF2B5EF4-FFF2-40B4-BE49-F238E27FC236}">
                <a16:creationId xmlns:a16="http://schemas.microsoft.com/office/drawing/2014/main" id="{987FA8C5-A8BB-4421-4671-DAB1F33BB400}"/>
              </a:ext>
            </a:extLst>
          </p:cNvPr>
          <p:cNvSpPr/>
          <p:nvPr/>
        </p:nvSpPr>
        <p:spPr>
          <a:xfrm>
            <a:off x="7415169" y="140107"/>
            <a:ext cx="3933965" cy="6577781"/>
          </a:xfrm>
          <a:prstGeom prst="flowChartOffpageConnector">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marL="457200" indent="-457200">
              <a:buFont typeface="Wingdings" panose="05000000000000000000" pitchFamily="2" charset="2"/>
              <a:buChar char="q"/>
            </a:pPr>
            <a:r>
              <a:rPr lang="en-US" sz="2000" b="1" dirty="0">
                <a:solidFill>
                  <a:schemeClr val="bg1"/>
                </a:solidFill>
                <a:latin typeface="Arial Narrow" panose="020B0606020202030204" pitchFamily="34" charset="0"/>
              </a:rPr>
              <a:t>Purpose</a:t>
            </a:r>
          </a:p>
          <a:p>
            <a:pPr>
              <a:buNone/>
            </a:pPr>
            <a:r>
              <a:rPr lang="en-US" sz="2000" b="1" dirty="0">
                <a:solidFill>
                  <a:schemeClr val="bg1"/>
                </a:solidFill>
                <a:latin typeface="Arial Narrow" panose="020B0606020202030204" pitchFamily="34" charset="0"/>
              </a:rPr>
              <a:t>This bar chart shows the total number of orders placed each month. Its key aims are:</a:t>
            </a:r>
          </a:p>
          <a:p>
            <a:pPr>
              <a:buFont typeface="Arial" panose="020B0604020202020204" pitchFamily="34" charset="0"/>
              <a:buChar char="•"/>
            </a:pPr>
            <a:r>
              <a:rPr lang="en-US" sz="2000" b="1" dirty="0">
                <a:solidFill>
                  <a:schemeClr val="bg1"/>
                </a:solidFill>
                <a:latin typeface="Arial Narrow" panose="020B0606020202030204" pitchFamily="34" charset="0"/>
              </a:rPr>
              <a:t>To analyze order trends over months.</a:t>
            </a:r>
          </a:p>
          <a:p>
            <a:pPr>
              <a:buFont typeface="Arial" panose="020B0604020202020204" pitchFamily="34" charset="0"/>
              <a:buChar char="•"/>
            </a:pPr>
            <a:r>
              <a:rPr lang="en-US" sz="2000" b="1" dirty="0">
                <a:solidFill>
                  <a:schemeClr val="bg1"/>
                </a:solidFill>
                <a:latin typeface="Arial Narrow" panose="020B0606020202030204" pitchFamily="34" charset="0"/>
              </a:rPr>
              <a:t>To identify seasonal patterns or sales fluctuations for planning inventory, marketing, and operations</a:t>
            </a:r>
            <a:r>
              <a:rPr lang="en-US" sz="2000" b="1" dirty="0">
                <a:latin typeface="Arial Narrow" panose="020B0606020202030204" pitchFamily="34" charset="0"/>
              </a:rPr>
              <a:t>.</a:t>
            </a:r>
          </a:p>
          <a:p>
            <a:pPr algn="ctr"/>
            <a:endParaRPr lang="en-US" dirty="0"/>
          </a:p>
        </p:txBody>
      </p:sp>
    </p:spTree>
    <p:extLst>
      <p:ext uri="{BB962C8B-B14F-4D97-AF65-F5344CB8AC3E}">
        <p14:creationId xmlns:p14="http://schemas.microsoft.com/office/powerpoint/2010/main" val="2680501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9A86C-166C-4032-5DC6-AE27637339E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E3D0412-08D5-9BD1-887D-9F8B21941075}"/>
              </a:ext>
            </a:extLst>
          </p:cNvPr>
          <p:cNvPicPr>
            <a:picLocks noChangeAspect="1"/>
          </p:cNvPicPr>
          <p:nvPr/>
        </p:nvPicPr>
        <p:blipFill>
          <a:blip r:embed="rId2"/>
          <a:stretch>
            <a:fillRect/>
          </a:stretch>
        </p:blipFill>
        <p:spPr>
          <a:xfrm>
            <a:off x="1159996" y="2031103"/>
            <a:ext cx="4526429" cy="279579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Rectangle: Rounded Corners 3">
            <a:extLst>
              <a:ext uri="{FF2B5EF4-FFF2-40B4-BE49-F238E27FC236}">
                <a16:creationId xmlns:a16="http://schemas.microsoft.com/office/drawing/2014/main" id="{EBC8339C-BDBF-7B52-6EB0-E0CC9FA1207D}"/>
              </a:ext>
            </a:extLst>
          </p:cNvPr>
          <p:cNvSpPr/>
          <p:nvPr/>
        </p:nvSpPr>
        <p:spPr>
          <a:xfrm>
            <a:off x="492721" y="638050"/>
            <a:ext cx="6117034"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US" sz="2000" b="1" dirty="0">
                <a:solidFill>
                  <a:schemeClr val="bg1"/>
                </a:solidFill>
                <a:latin typeface="Segoe UI" panose="020B0502040204020203" pitchFamily="34" charset="0"/>
                <a:cs typeface="Segoe UI" panose="020B0502040204020203" pitchFamily="34" charset="0"/>
              </a:rPr>
              <a:t>         </a:t>
            </a:r>
          </a:p>
          <a:p>
            <a:r>
              <a:rPr lang="en-US" sz="2000" b="1" dirty="0">
                <a:solidFill>
                  <a:schemeClr val="bg1"/>
                </a:solidFill>
                <a:latin typeface="Segoe UI" panose="020B0502040204020203" pitchFamily="34" charset="0"/>
                <a:cs typeface="Segoe UI" panose="020B0502040204020203" pitchFamily="34" charset="0"/>
              </a:rPr>
              <a:t>                </a:t>
            </a:r>
            <a:r>
              <a:rPr lang="en-US" sz="2400" b="1" dirty="0">
                <a:solidFill>
                  <a:schemeClr val="tx1"/>
                </a:solidFill>
                <a:latin typeface="Segoe Script" panose="030B0504020000000003" pitchFamily="66" charset="0"/>
                <a:cs typeface="Segoe UI" panose="020B0502040204020203" pitchFamily="34" charset="0"/>
              </a:rPr>
              <a:t>6. </a:t>
            </a:r>
            <a:r>
              <a:rPr lang="en-IN" sz="2400" b="1" u="sng" dirty="0">
                <a:solidFill>
                  <a:schemeClr val="tx1"/>
                </a:solidFill>
                <a:latin typeface="Segoe Script" panose="030B0504020000000003" pitchFamily="66" charset="0"/>
                <a:cs typeface="Segoe UI" panose="020B0502040204020203" pitchFamily="34" charset="0"/>
              </a:rPr>
              <a:t>Orders By Pin code</a:t>
            </a:r>
          </a:p>
          <a:p>
            <a:endParaRPr lang="en-IN" sz="2400" b="1" u="sng" dirty="0">
              <a:solidFill>
                <a:schemeClr val="tx1"/>
              </a:solidFill>
              <a:effectLst>
                <a:outerShdw blurRad="38100" dist="38100" dir="2700000" algn="tl">
                  <a:srgbClr val="000000">
                    <a:alpha val="43137"/>
                  </a:srgbClr>
                </a:outerShdw>
              </a:effectLst>
              <a:latin typeface="Segoe Script" panose="030B0504020000000003" pitchFamily="66" charset="0"/>
              <a:cs typeface="Segoe UI" panose="020B0502040204020203" pitchFamily="34" charset="0"/>
            </a:endParaRPr>
          </a:p>
          <a:p>
            <a:pPr algn="ctr"/>
            <a:endParaRPr lang="en-US" dirty="0"/>
          </a:p>
        </p:txBody>
      </p:sp>
      <p:sp>
        <p:nvSpPr>
          <p:cNvPr id="5" name="Flowchart: Off-page Connector 4">
            <a:extLst>
              <a:ext uri="{FF2B5EF4-FFF2-40B4-BE49-F238E27FC236}">
                <a16:creationId xmlns:a16="http://schemas.microsoft.com/office/drawing/2014/main" id="{7D71365E-B879-C3FA-031E-896F2ABA059D}"/>
              </a:ext>
            </a:extLst>
          </p:cNvPr>
          <p:cNvSpPr/>
          <p:nvPr/>
        </p:nvSpPr>
        <p:spPr>
          <a:xfrm>
            <a:off x="7357925" y="140108"/>
            <a:ext cx="3933965" cy="6577781"/>
          </a:xfrm>
          <a:prstGeom prst="flowChartOffpageConnector">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a:buNone/>
            </a:pPr>
            <a:r>
              <a:rPr lang="en-US" sz="2800" dirty="0"/>
              <a:t>🎯 </a:t>
            </a:r>
            <a:r>
              <a:rPr lang="en-US" sz="2800" b="1" dirty="0">
                <a:solidFill>
                  <a:schemeClr val="bg1"/>
                </a:solidFill>
              </a:rPr>
              <a:t>Purpose of this map:</a:t>
            </a:r>
            <a:endParaRPr lang="en-US" sz="2800" dirty="0">
              <a:solidFill>
                <a:schemeClr val="bg1"/>
              </a:solidFill>
            </a:endParaRPr>
          </a:p>
          <a:p>
            <a:pPr>
              <a:buFont typeface="Arial" panose="020B0604020202020204" pitchFamily="34" charset="0"/>
              <a:buChar char="•"/>
            </a:pPr>
            <a:r>
              <a:rPr lang="en-US" sz="2000" b="1" dirty="0">
                <a:solidFill>
                  <a:schemeClr val="bg1"/>
                </a:solidFill>
                <a:latin typeface="Arial Narrow" panose="020B0606020202030204" pitchFamily="34" charset="0"/>
              </a:rPr>
              <a:t>To visualize order distribution by pin code/location.</a:t>
            </a:r>
          </a:p>
          <a:p>
            <a:pPr>
              <a:buFont typeface="Arial" panose="020B0604020202020204" pitchFamily="34" charset="0"/>
              <a:buChar char="•"/>
            </a:pPr>
            <a:r>
              <a:rPr lang="en-US" sz="2000" b="1" dirty="0">
                <a:solidFill>
                  <a:schemeClr val="bg1"/>
                </a:solidFill>
                <a:latin typeface="Arial Narrow" panose="020B0606020202030204" pitchFamily="34" charset="0"/>
              </a:rPr>
              <a:t>Helps identify:</a:t>
            </a:r>
          </a:p>
          <a:p>
            <a:pPr marL="742950" lvl="1" indent="-285750">
              <a:buFont typeface="Arial" panose="020B0604020202020204" pitchFamily="34" charset="0"/>
              <a:buChar char="•"/>
            </a:pPr>
            <a:r>
              <a:rPr lang="en-US" sz="2000" b="1" dirty="0">
                <a:solidFill>
                  <a:schemeClr val="bg1"/>
                </a:solidFill>
                <a:latin typeface="Arial Narrow" panose="020B0606020202030204" pitchFamily="34" charset="0"/>
              </a:rPr>
              <a:t>Regions with high or low order density</a:t>
            </a:r>
          </a:p>
          <a:p>
            <a:pPr marL="742950" lvl="1" indent="-285750">
              <a:buFont typeface="Arial" panose="020B0604020202020204" pitchFamily="34" charset="0"/>
              <a:buChar char="•"/>
            </a:pPr>
            <a:r>
              <a:rPr lang="en-US" sz="2000" b="1" dirty="0">
                <a:solidFill>
                  <a:schemeClr val="bg1"/>
                </a:solidFill>
                <a:latin typeface="Arial Narrow" panose="020B0606020202030204" pitchFamily="34" charset="0"/>
              </a:rPr>
              <a:t>Geographic trends in customer orders and delivery coverage</a:t>
            </a:r>
          </a:p>
          <a:p>
            <a:pPr marL="742950" lvl="1" indent="-285750">
              <a:buFont typeface="Arial" panose="020B0604020202020204" pitchFamily="34" charset="0"/>
              <a:buChar char="•"/>
            </a:pPr>
            <a:r>
              <a:rPr lang="en-US" sz="2000" b="1" dirty="0">
                <a:solidFill>
                  <a:schemeClr val="bg1"/>
                </a:solidFill>
                <a:latin typeface="Arial Narrow" panose="020B0606020202030204" pitchFamily="34" charset="0"/>
              </a:rPr>
              <a:t>Areas for targeted marketing or logistics optimization</a:t>
            </a:r>
            <a:endParaRPr lang="en-US" sz="2000" b="1" dirty="0">
              <a:latin typeface="Arial Narrow" panose="020B0606020202030204" pitchFamily="34" charset="0"/>
            </a:endParaRPr>
          </a:p>
        </p:txBody>
      </p:sp>
    </p:spTree>
    <p:extLst>
      <p:ext uri="{BB962C8B-B14F-4D97-AF65-F5344CB8AC3E}">
        <p14:creationId xmlns:p14="http://schemas.microsoft.com/office/powerpoint/2010/main" val="2829052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8BBCC-0773-BD16-0413-D8AC8DEE4D04}"/>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88E5B4C-A7C7-3299-03A2-6A0E9A74D111}"/>
              </a:ext>
            </a:extLst>
          </p:cNvPr>
          <p:cNvSpPr txBox="1"/>
          <p:nvPr/>
        </p:nvSpPr>
        <p:spPr>
          <a:xfrm>
            <a:off x="1298642" y="779185"/>
            <a:ext cx="5059295" cy="523220"/>
          </a:xfrm>
          <a:prstGeom prst="rect">
            <a:avLst/>
          </a:prstGeom>
          <a:noFill/>
        </p:spPr>
        <p:txBody>
          <a:bodyPr wrap="square" rtlCol="0">
            <a:spAutoFit/>
          </a:bodyPr>
          <a:lstStyle/>
          <a:p>
            <a:r>
              <a:rPr lang="en-US" sz="2800" b="1" dirty="0">
                <a:solidFill>
                  <a:schemeClr val="bg1"/>
                </a:solidFill>
                <a:latin typeface="Segoe UI" panose="020B0502040204020203" pitchFamily="34" charset="0"/>
                <a:cs typeface="Segoe UI" panose="020B0502040204020203" pitchFamily="34" charset="0"/>
              </a:rPr>
              <a:t>7. </a:t>
            </a:r>
            <a:r>
              <a:rPr lang="en-IN" sz="2800" b="1" u="sng" dirty="0">
                <a:solidFill>
                  <a:schemeClr val="bg1"/>
                </a:solidFill>
                <a:latin typeface="Segoe UI" panose="020B0502040204020203" pitchFamily="34" charset="0"/>
                <a:cs typeface="Segoe UI" panose="020B0502040204020203" pitchFamily="34" charset="0"/>
              </a:rPr>
              <a:t>Damage Stock By Product</a:t>
            </a:r>
          </a:p>
        </p:txBody>
      </p:sp>
      <p:pic>
        <p:nvPicPr>
          <p:cNvPr id="10" name="Picture 9">
            <a:extLst>
              <a:ext uri="{FF2B5EF4-FFF2-40B4-BE49-F238E27FC236}">
                <a16:creationId xmlns:a16="http://schemas.microsoft.com/office/drawing/2014/main" id="{BCCDEA80-DEDB-D0C3-916E-22BA014E97F6}"/>
              </a:ext>
            </a:extLst>
          </p:cNvPr>
          <p:cNvPicPr>
            <a:picLocks noChangeAspect="1"/>
          </p:cNvPicPr>
          <p:nvPr/>
        </p:nvPicPr>
        <p:blipFill>
          <a:blip r:embed="rId2"/>
          <a:stretch>
            <a:fillRect/>
          </a:stretch>
        </p:blipFill>
        <p:spPr>
          <a:xfrm>
            <a:off x="1444593" y="2129071"/>
            <a:ext cx="3973231" cy="314442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Rectangle: Rounded Corners 5">
            <a:extLst>
              <a:ext uri="{FF2B5EF4-FFF2-40B4-BE49-F238E27FC236}">
                <a16:creationId xmlns:a16="http://schemas.microsoft.com/office/drawing/2014/main" id="{145C82E7-2B3B-5ED6-67ED-679E4CF497CE}"/>
              </a:ext>
            </a:extLst>
          </p:cNvPr>
          <p:cNvSpPr/>
          <p:nvPr/>
        </p:nvSpPr>
        <p:spPr>
          <a:xfrm>
            <a:off x="650738" y="671097"/>
            <a:ext cx="5560940"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US" sz="2000" b="1" dirty="0">
                <a:solidFill>
                  <a:schemeClr val="bg1"/>
                </a:solidFill>
                <a:latin typeface="Segoe UI" panose="020B0502040204020203" pitchFamily="34" charset="0"/>
                <a:cs typeface="Segoe UI" panose="020B0502040204020203" pitchFamily="34" charset="0"/>
              </a:rPr>
              <a:t>         </a:t>
            </a:r>
          </a:p>
          <a:p>
            <a:r>
              <a:rPr lang="en-US" sz="2000" b="1" dirty="0">
                <a:solidFill>
                  <a:schemeClr val="bg1"/>
                </a:solidFill>
                <a:latin typeface="Segoe UI" panose="020B0502040204020203" pitchFamily="34" charset="0"/>
                <a:cs typeface="Segoe UI" panose="020B0502040204020203" pitchFamily="34" charset="0"/>
              </a:rPr>
              <a:t>        </a:t>
            </a:r>
          </a:p>
          <a:p>
            <a:r>
              <a:rPr lang="en-US" sz="2000" b="1" dirty="0">
                <a:solidFill>
                  <a:schemeClr val="bg1"/>
                </a:solidFill>
                <a:latin typeface="Segoe UI" panose="020B0502040204020203" pitchFamily="34" charset="0"/>
                <a:cs typeface="Segoe UI" panose="020B0502040204020203" pitchFamily="34" charset="0"/>
              </a:rPr>
              <a:t>       </a:t>
            </a:r>
            <a:r>
              <a:rPr lang="en-US" sz="2400" b="1" dirty="0">
                <a:solidFill>
                  <a:schemeClr val="tx1"/>
                </a:solidFill>
                <a:latin typeface="Segoe Script" panose="030B0504020000000003" pitchFamily="66" charset="0"/>
                <a:cs typeface="Segoe UI" panose="020B0502040204020203" pitchFamily="34" charset="0"/>
              </a:rPr>
              <a:t>7. </a:t>
            </a:r>
            <a:r>
              <a:rPr lang="en-IN" sz="2400" b="1" u="sng" dirty="0">
                <a:solidFill>
                  <a:schemeClr val="tx1"/>
                </a:solidFill>
                <a:latin typeface="Segoe Script" panose="030B0504020000000003" pitchFamily="66" charset="0"/>
                <a:cs typeface="Segoe UI" panose="020B0502040204020203" pitchFamily="34" charset="0"/>
              </a:rPr>
              <a:t>Damage Stock By Product</a:t>
            </a:r>
          </a:p>
          <a:p>
            <a:endParaRPr lang="en-IN" sz="2400" b="1" u="sng"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effectLst>
                <a:outerShdw blurRad="38100" dist="38100" dir="2700000" algn="tl">
                  <a:srgbClr val="000000">
                    <a:alpha val="43137"/>
                  </a:srgbClr>
                </a:outerShdw>
              </a:effectLst>
              <a:latin typeface="Segoe Script" panose="030B0504020000000003" pitchFamily="66" charset="0"/>
              <a:cs typeface="Segoe UI" panose="020B0502040204020203" pitchFamily="34" charset="0"/>
            </a:endParaRPr>
          </a:p>
          <a:p>
            <a:pPr algn="ctr"/>
            <a:endParaRPr lang="en-US" dirty="0"/>
          </a:p>
        </p:txBody>
      </p:sp>
      <p:sp>
        <p:nvSpPr>
          <p:cNvPr id="7" name="Flowchart: Off-page Connector 6">
            <a:extLst>
              <a:ext uri="{FF2B5EF4-FFF2-40B4-BE49-F238E27FC236}">
                <a16:creationId xmlns:a16="http://schemas.microsoft.com/office/drawing/2014/main" id="{4750BCFC-4E73-1CF5-E23E-C685BC68D432}"/>
              </a:ext>
            </a:extLst>
          </p:cNvPr>
          <p:cNvSpPr/>
          <p:nvPr/>
        </p:nvSpPr>
        <p:spPr>
          <a:xfrm>
            <a:off x="7187993" y="140109"/>
            <a:ext cx="3933965" cy="6577781"/>
          </a:xfrm>
          <a:prstGeom prst="flowChartOffpageConnector">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a:buNone/>
            </a:pPr>
            <a:r>
              <a:rPr lang="en-US" sz="1400" b="1" u="sng" dirty="0">
                <a:latin typeface="Arial Narrow" panose="020B0606020202030204" pitchFamily="34" charset="0"/>
              </a:rPr>
              <a:t>✅ </a:t>
            </a:r>
            <a:r>
              <a:rPr lang="en-US" sz="1400" b="1" u="sng" dirty="0">
                <a:solidFill>
                  <a:schemeClr val="bg1"/>
                </a:solidFill>
                <a:latin typeface="Arial Narrow" panose="020B0606020202030204" pitchFamily="34" charset="0"/>
              </a:rPr>
              <a:t>Purpose:</a:t>
            </a:r>
            <a:br>
              <a:rPr lang="en-US" sz="1400" b="1" u="sng" dirty="0">
                <a:solidFill>
                  <a:schemeClr val="bg1"/>
                </a:solidFill>
                <a:latin typeface="Arial Narrow" panose="020B0606020202030204" pitchFamily="34" charset="0"/>
              </a:rPr>
            </a:br>
            <a:r>
              <a:rPr lang="en-US" sz="1400" b="1" dirty="0">
                <a:solidFill>
                  <a:schemeClr val="bg1"/>
                </a:solidFill>
                <a:latin typeface="Arial Narrow" panose="020B0606020202030204" pitchFamily="34" charset="0"/>
              </a:rPr>
              <a:t>This "Damaged Stock by Product" bar chart is used to:</a:t>
            </a:r>
          </a:p>
          <a:p>
            <a:pPr>
              <a:buFont typeface="+mj-lt"/>
              <a:buAutoNum type="arabicPeriod"/>
            </a:pPr>
            <a:r>
              <a:rPr lang="en-US" sz="1400" b="1" dirty="0">
                <a:solidFill>
                  <a:schemeClr val="bg1"/>
                </a:solidFill>
                <a:latin typeface="Arial Narrow" panose="020B0606020202030204" pitchFamily="34" charset="0"/>
              </a:rPr>
              <a:t>Display damaged stock quantities by product</a:t>
            </a:r>
            <a:br>
              <a:rPr lang="en-US" sz="1400" b="1" dirty="0">
                <a:solidFill>
                  <a:schemeClr val="bg1"/>
                </a:solidFill>
                <a:latin typeface="Arial Narrow" panose="020B0606020202030204" pitchFamily="34" charset="0"/>
              </a:rPr>
            </a:br>
            <a:r>
              <a:rPr lang="en-US" sz="1400" b="1" dirty="0">
                <a:solidFill>
                  <a:schemeClr val="bg1"/>
                </a:solidFill>
                <a:latin typeface="Arial Narrow" panose="020B0606020202030204" pitchFamily="34" charset="0"/>
              </a:rPr>
              <a:t>– Shows how many units of each product are damaged.</a:t>
            </a:r>
          </a:p>
          <a:p>
            <a:pPr>
              <a:buFont typeface="+mj-lt"/>
              <a:buAutoNum type="arabicPeriod"/>
            </a:pPr>
            <a:r>
              <a:rPr lang="en-US" sz="1400" b="1" dirty="0">
                <a:solidFill>
                  <a:schemeClr val="bg1"/>
                </a:solidFill>
                <a:latin typeface="Arial Narrow" panose="020B0606020202030204" pitchFamily="34" charset="0"/>
              </a:rPr>
              <a:t>Identify products with high damage rates</a:t>
            </a:r>
            <a:br>
              <a:rPr lang="en-US" sz="1400" b="1" dirty="0">
                <a:solidFill>
                  <a:schemeClr val="bg1"/>
                </a:solidFill>
                <a:latin typeface="Arial Narrow" panose="020B0606020202030204" pitchFamily="34" charset="0"/>
              </a:rPr>
            </a:br>
            <a:r>
              <a:rPr lang="en-US" sz="1400" b="1" dirty="0">
                <a:solidFill>
                  <a:schemeClr val="bg1"/>
                </a:solidFill>
                <a:latin typeface="Arial Narrow" panose="020B0606020202030204" pitchFamily="34" charset="0"/>
              </a:rPr>
              <a:t>– Helps prioritize which products (e.g. Dish products, Detergent) need better handling, packaging, or storage improvements.</a:t>
            </a:r>
          </a:p>
          <a:p>
            <a:pPr>
              <a:buFont typeface="+mj-lt"/>
              <a:buAutoNum type="arabicPeriod"/>
            </a:pPr>
            <a:r>
              <a:rPr lang="en-US" sz="1400" b="1" dirty="0">
                <a:solidFill>
                  <a:schemeClr val="bg1"/>
                </a:solidFill>
                <a:latin typeface="Arial Narrow" panose="020B0606020202030204" pitchFamily="34" charset="0"/>
              </a:rPr>
              <a:t>Support inventory and operational decisions</a:t>
            </a:r>
            <a:br>
              <a:rPr lang="en-US" sz="1400" b="1" dirty="0">
                <a:solidFill>
                  <a:schemeClr val="bg1"/>
                </a:solidFill>
                <a:latin typeface="Arial Narrow" panose="020B0606020202030204" pitchFamily="34" charset="0"/>
              </a:rPr>
            </a:br>
            <a:r>
              <a:rPr lang="en-US" sz="1400" b="1" dirty="0">
                <a:solidFill>
                  <a:schemeClr val="bg1"/>
                </a:solidFill>
                <a:latin typeface="Arial Narrow" panose="020B0606020202030204" pitchFamily="34" charset="0"/>
              </a:rPr>
              <a:t>– Useful for reducing wastage, improving quality control, and managing costs in warehouse and supply chain operations.</a:t>
            </a:r>
          </a:p>
        </p:txBody>
      </p:sp>
    </p:spTree>
    <p:extLst>
      <p:ext uri="{BB962C8B-B14F-4D97-AF65-F5344CB8AC3E}">
        <p14:creationId xmlns:p14="http://schemas.microsoft.com/office/powerpoint/2010/main" val="1047707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4146C-A410-E39C-C40F-B122626141B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029222D-8646-5996-AC49-9E237730D027}"/>
              </a:ext>
            </a:extLst>
          </p:cNvPr>
          <p:cNvSpPr txBox="1"/>
          <p:nvPr/>
        </p:nvSpPr>
        <p:spPr>
          <a:xfrm>
            <a:off x="1083339" y="699207"/>
            <a:ext cx="9466427" cy="461665"/>
          </a:xfrm>
          <a:prstGeom prst="rect">
            <a:avLst/>
          </a:prstGeom>
          <a:noFill/>
        </p:spPr>
        <p:txBody>
          <a:bodyPr wrap="square" rtlCol="0">
            <a:spAutoFit/>
          </a:bodyPr>
          <a:lstStyle/>
          <a:p>
            <a:r>
              <a:rPr lang="en-IN" sz="2400" b="1" dirty="0">
                <a:solidFill>
                  <a:schemeClr val="bg1"/>
                </a:solidFill>
                <a:latin typeface="Segoe UI" panose="020B0502040204020203" pitchFamily="34" charset="0"/>
                <a:cs typeface="Segoe UI" panose="020B0502040204020203" pitchFamily="34" charset="0"/>
              </a:rPr>
              <a:t>8. </a:t>
            </a:r>
            <a:r>
              <a:rPr lang="en-IN" sz="2400" b="1" u="sng" dirty="0">
                <a:solidFill>
                  <a:schemeClr val="bg1"/>
                </a:solidFill>
                <a:latin typeface="Segoe UI" panose="020B0502040204020203" pitchFamily="34" charset="0"/>
                <a:cs typeface="Segoe UI" panose="020B0502040204020203" pitchFamily="34" charset="0"/>
              </a:rPr>
              <a:t>Total Delivery Time, ROAS_FI, Total Orders And total revenue</a:t>
            </a:r>
          </a:p>
        </p:txBody>
      </p:sp>
      <p:pic>
        <p:nvPicPr>
          <p:cNvPr id="6" name="Picture 5">
            <a:extLst>
              <a:ext uri="{FF2B5EF4-FFF2-40B4-BE49-F238E27FC236}">
                <a16:creationId xmlns:a16="http://schemas.microsoft.com/office/drawing/2014/main" id="{809447AF-4B8B-D67F-AC2E-6D8B8DF5DE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438" y="1802642"/>
            <a:ext cx="2162477" cy="9918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Picture 10">
            <a:extLst>
              <a:ext uri="{FF2B5EF4-FFF2-40B4-BE49-F238E27FC236}">
                <a16:creationId xmlns:a16="http://schemas.microsoft.com/office/drawing/2014/main" id="{4E3FBC02-995D-8E30-AE67-711F6DCE30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43890" y="1738877"/>
            <a:ext cx="2011751" cy="111113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3" name="Picture 12">
            <a:extLst>
              <a:ext uri="{FF2B5EF4-FFF2-40B4-BE49-F238E27FC236}">
                <a16:creationId xmlns:a16="http://schemas.microsoft.com/office/drawing/2014/main" id="{5721F930-D5AE-C12A-17D6-CC9136B1FA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81763" y="1774607"/>
            <a:ext cx="2162477" cy="104789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5" name="Picture 14">
            <a:extLst>
              <a:ext uri="{FF2B5EF4-FFF2-40B4-BE49-F238E27FC236}">
                <a16:creationId xmlns:a16="http://schemas.microsoft.com/office/drawing/2014/main" id="{FAA5558F-07BC-4671-ABBC-2CC3982E53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04565" y="1809725"/>
            <a:ext cx="2011750" cy="98360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8" name="TextBox 17">
            <a:extLst>
              <a:ext uri="{FF2B5EF4-FFF2-40B4-BE49-F238E27FC236}">
                <a16:creationId xmlns:a16="http://schemas.microsoft.com/office/drawing/2014/main" id="{094F2165-51EB-AA86-029D-C4A31495189F}"/>
              </a:ext>
            </a:extLst>
          </p:cNvPr>
          <p:cNvSpPr txBox="1"/>
          <p:nvPr/>
        </p:nvSpPr>
        <p:spPr>
          <a:xfrm>
            <a:off x="3113945" y="3503710"/>
            <a:ext cx="6093618" cy="369332"/>
          </a:xfrm>
          <a:prstGeom prst="rect">
            <a:avLst/>
          </a:prstGeom>
          <a:noFill/>
        </p:spPr>
        <p:txBody>
          <a:bodyPr wrap="square">
            <a:spAutoFit/>
          </a:bodyPr>
          <a:lstStyle/>
          <a:p>
            <a:r>
              <a:rPr lang="en-US" sz="1800" b="1" dirty="0">
                <a:latin typeface="Segoe UI" panose="020B0502040204020203" pitchFamily="34" charset="0"/>
                <a:cs typeface="Segoe UI" panose="020B0502040204020203" pitchFamily="34" charset="0"/>
              </a:rPr>
              <a:t>Insights : </a:t>
            </a:r>
          </a:p>
        </p:txBody>
      </p:sp>
      <p:sp>
        <p:nvSpPr>
          <p:cNvPr id="29" name="Rectangle: Rounded Corners 28">
            <a:extLst>
              <a:ext uri="{FF2B5EF4-FFF2-40B4-BE49-F238E27FC236}">
                <a16:creationId xmlns:a16="http://schemas.microsoft.com/office/drawing/2014/main" id="{E73CE336-13CF-14E2-DD31-5059CDC7C842}"/>
              </a:ext>
            </a:extLst>
          </p:cNvPr>
          <p:cNvSpPr/>
          <p:nvPr/>
        </p:nvSpPr>
        <p:spPr>
          <a:xfrm>
            <a:off x="1083339" y="433574"/>
            <a:ext cx="9764850"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US" sz="2000" b="1" dirty="0">
                <a:solidFill>
                  <a:schemeClr val="bg1"/>
                </a:solidFill>
                <a:latin typeface="Segoe UI" panose="020B0502040204020203" pitchFamily="34" charset="0"/>
                <a:cs typeface="Segoe UI" panose="020B0502040204020203" pitchFamily="34" charset="0"/>
              </a:rPr>
              <a:t>         </a:t>
            </a:r>
          </a:p>
          <a:p>
            <a:r>
              <a:rPr lang="en-US" sz="2000" b="1" dirty="0">
                <a:solidFill>
                  <a:schemeClr val="bg1"/>
                </a:solidFill>
                <a:latin typeface="Segoe UI" panose="020B0502040204020203" pitchFamily="34" charset="0"/>
                <a:cs typeface="Segoe UI" panose="020B0502040204020203" pitchFamily="34" charset="0"/>
              </a:rPr>
              <a:t>      </a:t>
            </a:r>
            <a:r>
              <a:rPr lang="en-IN" sz="2000" b="1" dirty="0">
                <a:solidFill>
                  <a:schemeClr val="tx1"/>
                </a:solidFill>
                <a:latin typeface="Segoe Script" panose="030B0504020000000003" pitchFamily="66" charset="0"/>
                <a:cs typeface="Segoe UI" panose="020B0502040204020203" pitchFamily="34" charset="0"/>
              </a:rPr>
              <a:t>8. </a:t>
            </a:r>
            <a:r>
              <a:rPr lang="en-IN" sz="2000" b="1" u="sng" dirty="0">
                <a:solidFill>
                  <a:schemeClr val="tx1"/>
                </a:solidFill>
                <a:latin typeface="Segoe Script" panose="030B0504020000000003" pitchFamily="66" charset="0"/>
                <a:cs typeface="Segoe UI" panose="020B0502040204020203" pitchFamily="34" charset="0"/>
              </a:rPr>
              <a:t>Total Delivery Time, ROAS_FI, Total Orders And total revenue</a:t>
            </a:r>
          </a:p>
          <a:p>
            <a:endParaRPr lang="en-IN" sz="2400" b="1" u="sng" dirty="0">
              <a:solidFill>
                <a:schemeClr val="tx1"/>
              </a:solidFill>
              <a:effectLst>
                <a:outerShdw blurRad="38100" dist="38100" dir="2700000" algn="tl">
                  <a:srgbClr val="000000">
                    <a:alpha val="43137"/>
                  </a:srgbClr>
                </a:outerShdw>
              </a:effectLst>
              <a:latin typeface="Segoe Script" panose="030B0504020000000003" pitchFamily="66" charset="0"/>
              <a:cs typeface="Segoe UI" panose="020B0502040204020203" pitchFamily="34" charset="0"/>
            </a:endParaRPr>
          </a:p>
          <a:p>
            <a:pPr algn="ctr"/>
            <a:endParaRPr lang="en-US" dirty="0"/>
          </a:p>
        </p:txBody>
      </p:sp>
      <p:sp>
        <p:nvSpPr>
          <p:cNvPr id="30" name="Rectangle: Top Corners Rounded 29">
            <a:extLst>
              <a:ext uri="{FF2B5EF4-FFF2-40B4-BE49-F238E27FC236}">
                <a16:creationId xmlns:a16="http://schemas.microsoft.com/office/drawing/2014/main" id="{7CAC7CB6-C9D7-A156-4367-E5B054483836}"/>
              </a:ext>
            </a:extLst>
          </p:cNvPr>
          <p:cNvSpPr/>
          <p:nvPr/>
        </p:nvSpPr>
        <p:spPr>
          <a:xfrm>
            <a:off x="136287" y="3118896"/>
            <a:ext cx="2673389" cy="3524791"/>
          </a:xfrm>
          <a:prstGeom prst="round2SameRect">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buFontTx/>
              <a:buChar char="•"/>
            </a:pPr>
            <a:r>
              <a:rPr lang="en-US" altLang="en-US" sz="1600" b="1" u="sng" dirty="0">
                <a:solidFill>
                  <a:schemeClr val="bg1"/>
                </a:solidFill>
                <a:latin typeface="Arial Narrow" panose="020B0606020202030204" pitchFamily="34" charset="0"/>
              </a:rPr>
              <a:t>Total ROAS (Return On Ad Spend) – 197.27%</a:t>
            </a:r>
          </a:p>
          <a:p>
            <a:pPr lvl="0" eaLnBrk="0" fontAlgn="base" hangingPunct="0">
              <a:spcBef>
                <a:spcPct val="0"/>
              </a:spcBef>
              <a:spcAft>
                <a:spcPct val="0"/>
              </a:spcAft>
              <a:buFontTx/>
              <a:buChar char="•"/>
            </a:pPr>
            <a:r>
              <a:rPr lang="en-US" altLang="en-US" sz="1600" dirty="0">
                <a:solidFill>
                  <a:schemeClr val="bg1"/>
                </a:solidFill>
                <a:latin typeface="Arial Narrow" panose="020B0606020202030204" pitchFamily="34" charset="0"/>
              </a:rPr>
              <a:t>For every 1 unit spent on advertising, you are earning approximately 1.97 units in return.</a:t>
            </a:r>
          </a:p>
          <a:p>
            <a:pPr lvl="0" eaLnBrk="0" fontAlgn="base" hangingPunct="0">
              <a:spcBef>
                <a:spcPct val="0"/>
              </a:spcBef>
              <a:spcAft>
                <a:spcPct val="0"/>
              </a:spcAft>
              <a:buFontTx/>
              <a:buChar char="•"/>
            </a:pPr>
            <a:r>
              <a:rPr lang="en-US" altLang="en-US" sz="1600" dirty="0">
                <a:solidFill>
                  <a:schemeClr val="bg1"/>
                </a:solidFill>
                <a:latin typeface="Arial Narrow" panose="020B0606020202030204" pitchFamily="34" charset="0"/>
              </a:rPr>
              <a:t>This indicates efficient ad spending and positive profitability from ads.</a:t>
            </a:r>
            <a:endParaRPr lang="en-US" sz="1600" dirty="0">
              <a:latin typeface="Arial Narrow" panose="020B0606020202030204" pitchFamily="34" charset="0"/>
            </a:endParaRPr>
          </a:p>
        </p:txBody>
      </p:sp>
      <p:sp>
        <p:nvSpPr>
          <p:cNvPr id="31" name="Rectangle: Top Corners Rounded 30">
            <a:extLst>
              <a:ext uri="{FF2B5EF4-FFF2-40B4-BE49-F238E27FC236}">
                <a16:creationId xmlns:a16="http://schemas.microsoft.com/office/drawing/2014/main" id="{5F2B49BE-CA07-A701-3C1E-D3F3B0FAEF7B}"/>
              </a:ext>
            </a:extLst>
          </p:cNvPr>
          <p:cNvSpPr/>
          <p:nvPr/>
        </p:nvSpPr>
        <p:spPr>
          <a:xfrm>
            <a:off x="9240382" y="3118896"/>
            <a:ext cx="2673389" cy="3524789"/>
          </a:xfrm>
          <a:prstGeom prst="round2SameRect">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buFontTx/>
              <a:buChar char="•"/>
            </a:pPr>
            <a:r>
              <a:rPr lang="en-US" altLang="en-US" sz="1600" b="1" u="sng" dirty="0">
                <a:solidFill>
                  <a:schemeClr val="bg1"/>
                </a:solidFill>
                <a:latin typeface="Arial Narrow" panose="020B0606020202030204" pitchFamily="34" charset="0"/>
              </a:rPr>
              <a:t>Total Delivery Time – 311</a:t>
            </a:r>
            <a:r>
              <a:rPr lang="en-US" altLang="en-US" sz="1600" dirty="0">
                <a:solidFill>
                  <a:schemeClr val="bg1"/>
                </a:solidFill>
                <a:latin typeface="Arial Narrow" panose="020B0606020202030204" pitchFamily="34" charset="0"/>
              </a:rPr>
              <a:t>.</a:t>
            </a:r>
          </a:p>
          <a:p>
            <a:pPr lvl="0" eaLnBrk="0" fontAlgn="base" hangingPunct="0">
              <a:spcBef>
                <a:spcPct val="0"/>
              </a:spcBef>
              <a:spcAft>
                <a:spcPct val="0"/>
              </a:spcAft>
              <a:buFontTx/>
              <a:buChar char="•"/>
            </a:pPr>
            <a:r>
              <a:rPr lang="en-US" altLang="en-US" sz="1600" dirty="0">
                <a:solidFill>
                  <a:schemeClr val="bg1"/>
                </a:solidFill>
                <a:latin typeface="Arial Narrow" panose="020B0606020202030204" pitchFamily="34" charset="0"/>
              </a:rPr>
              <a:t>This indicates operational workload and timeline, which can be </a:t>
            </a:r>
            <a:r>
              <a:rPr lang="en-US" altLang="en-US" sz="1600" dirty="0" err="1">
                <a:solidFill>
                  <a:schemeClr val="bg1"/>
                </a:solidFill>
                <a:latin typeface="Arial Narrow" panose="020B0606020202030204" pitchFamily="34" charset="0"/>
              </a:rPr>
              <a:t>analysed</a:t>
            </a:r>
            <a:r>
              <a:rPr lang="en-US" altLang="en-US" sz="1600" dirty="0">
                <a:solidFill>
                  <a:schemeClr val="bg1"/>
                </a:solidFill>
                <a:latin typeface="Arial Narrow" panose="020B0606020202030204" pitchFamily="34" charset="0"/>
              </a:rPr>
              <a:t> further for efficiency improvements.</a:t>
            </a:r>
          </a:p>
        </p:txBody>
      </p:sp>
      <p:sp>
        <p:nvSpPr>
          <p:cNvPr id="32" name="Rectangle: Top Corners Rounded 31">
            <a:extLst>
              <a:ext uri="{FF2B5EF4-FFF2-40B4-BE49-F238E27FC236}">
                <a16:creationId xmlns:a16="http://schemas.microsoft.com/office/drawing/2014/main" id="{6F419E0D-A3CC-7EB0-E993-F89BF1179FB7}"/>
              </a:ext>
            </a:extLst>
          </p:cNvPr>
          <p:cNvSpPr/>
          <p:nvPr/>
        </p:nvSpPr>
        <p:spPr>
          <a:xfrm>
            <a:off x="3113945" y="3110671"/>
            <a:ext cx="2673389" cy="3533015"/>
          </a:xfrm>
          <a:prstGeom prst="round2SameRect">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buFontTx/>
              <a:buChar char="•"/>
            </a:pPr>
            <a:r>
              <a:rPr lang="en-US" altLang="en-US" sz="1600" b="1" u="sng" dirty="0">
                <a:solidFill>
                  <a:schemeClr val="bg1"/>
                </a:solidFill>
                <a:latin typeface="Arial Narrow" panose="020B0606020202030204" pitchFamily="34" charset="0"/>
              </a:rPr>
              <a:t>Total Orders – 5000</a:t>
            </a:r>
            <a:endParaRPr lang="en-US" altLang="en-US" sz="1600" u="sng" dirty="0">
              <a:solidFill>
                <a:schemeClr val="bg1"/>
              </a:solidFill>
              <a:latin typeface="Arial Narrow" panose="020B0606020202030204" pitchFamily="34" charset="0"/>
            </a:endParaRPr>
          </a:p>
          <a:p>
            <a:pPr lvl="0" eaLnBrk="0" fontAlgn="base" hangingPunct="0">
              <a:spcBef>
                <a:spcPct val="0"/>
              </a:spcBef>
              <a:spcAft>
                <a:spcPct val="0"/>
              </a:spcAft>
              <a:buFontTx/>
              <a:buChar char="•"/>
            </a:pPr>
            <a:r>
              <a:rPr lang="en-US" altLang="en-US" sz="1600" dirty="0">
                <a:solidFill>
                  <a:schemeClr val="bg1"/>
                </a:solidFill>
                <a:latin typeface="Arial Narrow" panose="020B0606020202030204" pitchFamily="34" charset="0"/>
              </a:rPr>
              <a:t>Shows a high volume of orders processed.</a:t>
            </a:r>
          </a:p>
          <a:p>
            <a:pPr lvl="0" eaLnBrk="0" fontAlgn="base" hangingPunct="0">
              <a:spcBef>
                <a:spcPct val="0"/>
              </a:spcBef>
              <a:spcAft>
                <a:spcPct val="0"/>
              </a:spcAft>
              <a:buFontTx/>
              <a:buChar char="•"/>
            </a:pPr>
            <a:r>
              <a:rPr lang="en-US" altLang="en-US" sz="1600" dirty="0">
                <a:solidFill>
                  <a:schemeClr val="bg1"/>
                </a:solidFill>
                <a:latin typeface="Arial Narrow" panose="020B0606020202030204" pitchFamily="34" charset="0"/>
              </a:rPr>
              <a:t>Indicates good market traction and product/service demand.</a:t>
            </a:r>
          </a:p>
        </p:txBody>
      </p:sp>
      <p:sp>
        <p:nvSpPr>
          <p:cNvPr id="33" name="Rectangle: Top Corners Rounded 32">
            <a:extLst>
              <a:ext uri="{FF2B5EF4-FFF2-40B4-BE49-F238E27FC236}">
                <a16:creationId xmlns:a16="http://schemas.microsoft.com/office/drawing/2014/main" id="{DB607B3D-408A-9F0E-363C-830C91237881}"/>
              </a:ext>
            </a:extLst>
          </p:cNvPr>
          <p:cNvSpPr/>
          <p:nvPr/>
        </p:nvSpPr>
        <p:spPr>
          <a:xfrm>
            <a:off x="6160754" y="3110670"/>
            <a:ext cx="2673389" cy="3533015"/>
          </a:xfrm>
          <a:prstGeom prst="round2SameRect">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buFontTx/>
              <a:buChar char="•"/>
            </a:pPr>
            <a:r>
              <a:rPr lang="en-US" altLang="en-US" sz="1600" b="1" u="sng" dirty="0">
                <a:solidFill>
                  <a:schemeClr val="bg1"/>
                </a:solidFill>
                <a:latin typeface="Arial Narrow" panose="020B0606020202030204" pitchFamily="34" charset="0"/>
              </a:rPr>
              <a:t>Total Revenue Generated – 32.19M</a:t>
            </a:r>
            <a:endParaRPr lang="en-US" altLang="en-US" sz="1600" u="sng" dirty="0">
              <a:solidFill>
                <a:schemeClr val="bg1"/>
              </a:solidFill>
              <a:latin typeface="Arial Narrow" panose="020B0606020202030204" pitchFamily="34" charset="0"/>
            </a:endParaRPr>
          </a:p>
          <a:p>
            <a:pPr lvl="0" eaLnBrk="0" fontAlgn="base" hangingPunct="0">
              <a:spcBef>
                <a:spcPct val="0"/>
              </a:spcBef>
              <a:spcAft>
                <a:spcPct val="0"/>
              </a:spcAft>
              <a:buFontTx/>
              <a:buChar char="•"/>
            </a:pPr>
            <a:r>
              <a:rPr lang="en-US" altLang="en-US" sz="1600" dirty="0">
                <a:solidFill>
                  <a:schemeClr val="bg1"/>
                </a:solidFill>
                <a:latin typeface="Arial Narrow" panose="020B0606020202030204" pitchFamily="34" charset="0"/>
              </a:rPr>
              <a:t>The business has generated a total revenue of 32.19 million units (likely currency).</a:t>
            </a:r>
          </a:p>
          <a:p>
            <a:pPr lvl="0" eaLnBrk="0" fontAlgn="base" hangingPunct="0">
              <a:spcBef>
                <a:spcPct val="0"/>
              </a:spcBef>
              <a:spcAft>
                <a:spcPct val="0"/>
              </a:spcAft>
              <a:buFontTx/>
              <a:buChar char="•"/>
            </a:pPr>
            <a:r>
              <a:rPr lang="en-US" altLang="en-US" sz="1600" dirty="0">
                <a:solidFill>
                  <a:schemeClr val="bg1"/>
                </a:solidFill>
                <a:latin typeface="Arial Narrow" panose="020B0606020202030204" pitchFamily="34" charset="0"/>
              </a:rPr>
              <a:t>This reflects strong financial performance aligned with the order volume and ROAS</a:t>
            </a:r>
            <a:r>
              <a:rPr lang="en-US" altLang="en-US" dirty="0">
                <a:solidFill>
                  <a:schemeClr val="bg1"/>
                </a:solidFill>
                <a:latin typeface="Arial" panose="020B0604020202020204" pitchFamily="34" charset="0"/>
              </a:rPr>
              <a:t>.</a:t>
            </a:r>
          </a:p>
        </p:txBody>
      </p:sp>
    </p:spTree>
    <p:extLst>
      <p:ext uri="{BB962C8B-B14F-4D97-AF65-F5344CB8AC3E}">
        <p14:creationId xmlns:p14="http://schemas.microsoft.com/office/powerpoint/2010/main" val="4057178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2B1B8-1F43-C78A-4FC7-1985E30B6BA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F99FAAF-FB83-9C91-966D-2BDA7144F98C}"/>
              </a:ext>
            </a:extLst>
          </p:cNvPr>
          <p:cNvPicPr>
            <a:picLocks noChangeAspect="1"/>
          </p:cNvPicPr>
          <p:nvPr/>
        </p:nvPicPr>
        <p:blipFill>
          <a:blip r:embed="rId2"/>
          <a:stretch>
            <a:fillRect/>
          </a:stretch>
        </p:blipFill>
        <p:spPr>
          <a:xfrm>
            <a:off x="1236699" y="2163693"/>
            <a:ext cx="4157662" cy="3567216"/>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4" name="Rectangle: Rounded Corners 3">
            <a:extLst>
              <a:ext uri="{FF2B5EF4-FFF2-40B4-BE49-F238E27FC236}">
                <a16:creationId xmlns:a16="http://schemas.microsoft.com/office/drawing/2014/main" id="{4DC2C075-9B41-966B-7869-75D1BAEBDE62}"/>
              </a:ext>
            </a:extLst>
          </p:cNvPr>
          <p:cNvSpPr/>
          <p:nvPr/>
        </p:nvSpPr>
        <p:spPr>
          <a:xfrm>
            <a:off x="535060" y="619058"/>
            <a:ext cx="5560940"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US" sz="2000" b="1" dirty="0">
                <a:solidFill>
                  <a:schemeClr val="bg1"/>
                </a:solidFill>
                <a:latin typeface="Segoe UI" panose="020B0502040204020203" pitchFamily="34" charset="0"/>
                <a:cs typeface="Segoe UI" panose="020B0502040204020203" pitchFamily="34" charset="0"/>
              </a:rPr>
              <a:t>         </a:t>
            </a:r>
          </a:p>
          <a:p>
            <a:r>
              <a:rPr lang="en-US" sz="2000" b="1" dirty="0">
                <a:solidFill>
                  <a:schemeClr val="tx1"/>
                </a:solidFill>
                <a:latin typeface="Segoe Script" panose="030B0504020000000003" pitchFamily="66" charset="0"/>
                <a:cs typeface="Segoe UI" panose="020B0502040204020203" pitchFamily="34" charset="0"/>
              </a:rPr>
              <a:t> </a:t>
            </a:r>
            <a:r>
              <a:rPr lang="en-IN" sz="2400" b="1" dirty="0">
                <a:solidFill>
                  <a:schemeClr val="tx1"/>
                </a:solidFill>
                <a:latin typeface="Segoe Script" panose="030B0504020000000003" pitchFamily="66" charset="0"/>
                <a:cs typeface="Segoe UI" panose="020B0502040204020203" pitchFamily="34" charset="0"/>
              </a:rPr>
              <a:t>9. </a:t>
            </a:r>
            <a:r>
              <a:rPr lang="en-IN" sz="2400" b="1" u="sng" dirty="0">
                <a:solidFill>
                  <a:schemeClr val="tx1"/>
                </a:solidFill>
                <a:latin typeface="Segoe Script" panose="030B0504020000000003" pitchFamily="66" charset="0"/>
                <a:cs typeface="Segoe UI" panose="020B0502040204020203" pitchFamily="34" charset="0"/>
              </a:rPr>
              <a:t>Order Quantity Per Product </a:t>
            </a:r>
          </a:p>
          <a:p>
            <a:endParaRPr lang="en-IN" sz="2400" b="1" u="sng" dirty="0">
              <a:solidFill>
                <a:schemeClr val="tx1"/>
              </a:solidFill>
              <a:effectLst>
                <a:outerShdw blurRad="38100" dist="38100" dir="2700000" algn="tl">
                  <a:srgbClr val="000000">
                    <a:alpha val="43137"/>
                  </a:srgbClr>
                </a:outerShdw>
              </a:effectLst>
              <a:latin typeface="Segoe Script" panose="030B0504020000000003" pitchFamily="66" charset="0"/>
              <a:cs typeface="Segoe UI" panose="020B0502040204020203" pitchFamily="34" charset="0"/>
            </a:endParaRPr>
          </a:p>
          <a:p>
            <a:pPr algn="ctr"/>
            <a:endParaRPr lang="en-US" dirty="0"/>
          </a:p>
        </p:txBody>
      </p:sp>
      <p:sp>
        <p:nvSpPr>
          <p:cNvPr id="5" name="Flowchart: Off-page Connector 4">
            <a:extLst>
              <a:ext uri="{FF2B5EF4-FFF2-40B4-BE49-F238E27FC236}">
                <a16:creationId xmlns:a16="http://schemas.microsoft.com/office/drawing/2014/main" id="{9BD439E1-4E36-139A-93CE-E29526D7FFF6}"/>
              </a:ext>
            </a:extLst>
          </p:cNvPr>
          <p:cNvSpPr/>
          <p:nvPr/>
        </p:nvSpPr>
        <p:spPr>
          <a:xfrm>
            <a:off x="7334110" y="140109"/>
            <a:ext cx="3933965" cy="6577781"/>
          </a:xfrm>
          <a:prstGeom prst="flowChartOffpageConnector">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a:buNone/>
            </a:pPr>
            <a:r>
              <a:rPr lang="en-US" dirty="0">
                <a:solidFill>
                  <a:schemeClr val="bg1"/>
                </a:solidFill>
              </a:rPr>
              <a:t>✅ </a:t>
            </a:r>
            <a:r>
              <a:rPr lang="en-US" b="1" u="sng" dirty="0">
                <a:solidFill>
                  <a:schemeClr val="bg1"/>
                </a:solidFill>
              </a:rPr>
              <a:t>Purpose:</a:t>
            </a:r>
            <a:br>
              <a:rPr lang="en-US" dirty="0">
                <a:solidFill>
                  <a:schemeClr val="bg1"/>
                </a:solidFill>
              </a:rPr>
            </a:br>
            <a:r>
              <a:rPr lang="en-US" sz="1400" dirty="0">
                <a:solidFill>
                  <a:schemeClr val="bg1"/>
                </a:solidFill>
                <a:latin typeface="Arial Narrow" panose="020B0606020202030204" pitchFamily="34" charset="0"/>
              </a:rPr>
              <a:t>This "Quantity by Product Name" bar chart is used to:</a:t>
            </a:r>
          </a:p>
          <a:p>
            <a:pPr>
              <a:buFont typeface="+mj-lt"/>
              <a:buAutoNum type="arabicPeriod"/>
            </a:pPr>
            <a:r>
              <a:rPr lang="en-US" sz="1400" dirty="0">
                <a:solidFill>
                  <a:schemeClr val="bg1"/>
                </a:solidFill>
                <a:latin typeface="Arial Narrow" panose="020B0606020202030204" pitchFamily="34" charset="0"/>
              </a:rPr>
              <a:t>Visualize product quantities</a:t>
            </a:r>
            <a:br>
              <a:rPr lang="en-US" sz="1400" dirty="0">
                <a:solidFill>
                  <a:schemeClr val="bg1"/>
                </a:solidFill>
                <a:latin typeface="Arial Narrow" panose="020B0606020202030204" pitchFamily="34" charset="0"/>
              </a:rPr>
            </a:br>
            <a:r>
              <a:rPr lang="en-US" sz="1400" dirty="0">
                <a:solidFill>
                  <a:schemeClr val="bg1"/>
                </a:solidFill>
                <a:latin typeface="Arial Narrow" panose="020B0606020202030204" pitchFamily="34" charset="0"/>
              </a:rPr>
              <a:t>– Shows how many units are associated with each product.</a:t>
            </a:r>
          </a:p>
          <a:p>
            <a:pPr>
              <a:buFont typeface="+mj-lt"/>
              <a:buAutoNum type="arabicPeriod"/>
            </a:pPr>
            <a:r>
              <a:rPr lang="en-US" sz="1400" dirty="0">
                <a:solidFill>
                  <a:schemeClr val="bg1"/>
                </a:solidFill>
                <a:latin typeface="Arial Narrow" panose="020B0606020202030204" pitchFamily="34" charset="0"/>
              </a:rPr>
              <a:t>Identify top products</a:t>
            </a:r>
            <a:br>
              <a:rPr lang="en-US" sz="1400" dirty="0">
                <a:solidFill>
                  <a:schemeClr val="bg1"/>
                </a:solidFill>
                <a:latin typeface="Arial Narrow" panose="020B0606020202030204" pitchFamily="34" charset="0"/>
              </a:rPr>
            </a:br>
            <a:r>
              <a:rPr lang="en-US" sz="1400" dirty="0">
                <a:solidFill>
                  <a:schemeClr val="bg1"/>
                </a:solidFill>
                <a:latin typeface="Arial Narrow" panose="020B0606020202030204" pitchFamily="34" charset="0"/>
              </a:rPr>
              <a:t>– Helps quickly see which products (e.g. Pet Treats, Toilet Cleaner) have the highest quantities.</a:t>
            </a:r>
          </a:p>
          <a:p>
            <a:pPr>
              <a:buFont typeface="+mj-lt"/>
              <a:buAutoNum type="arabicPeriod"/>
            </a:pPr>
            <a:r>
              <a:rPr lang="en-US" sz="1400" dirty="0">
                <a:solidFill>
                  <a:schemeClr val="bg1"/>
                </a:solidFill>
                <a:latin typeface="Arial Narrow" panose="020B0606020202030204" pitchFamily="34" charset="0"/>
              </a:rPr>
              <a:t>Support inventory and sales decisions</a:t>
            </a:r>
            <a:br>
              <a:rPr lang="en-US" sz="1400" dirty="0">
                <a:solidFill>
                  <a:schemeClr val="bg1"/>
                </a:solidFill>
                <a:latin typeface="Arial Narrow" panose="020B0606020202030204" pitchFamily="34" charset="0"/>
              </a:rPr>
            </a:br>
            <a:r>
              <a:rPr lang="en-US" sz="1400" dirty="0">
                <a:solidFill>
                  <a:schemeClr val="bg1"/>
                </a:solidFill>
                <a:latin typeface="Arial Narrow" panose="020B0606020202030204" pitchFamily="34" charset="0"/>
              </a:rPr>
              <a:t>– Useful for stock management, sales planning, or procurement analysis to know which items need replenishment or promotion</a:t>
            </a:r>
            <a:r>
              <a:rPr lang="en-US" sz="1400" dirty="0">
                <a:latin typeface="Arial Narrow" panose="020B0606020202030204" pitchFamily="34" charset="0"/>
              </a:rPr>
              <a:t>.</a:t>
            </a:r>
          </a:p>
        </p:txBody>
      </p:sp>
    </p:spTree>
    <p:extLst>
      <p:ext uri="{BB962C8B-B14F-4D97-AF65-F5344CB8AC3E}">
        <p14:creationId xmlns:p14="http://schemas.microsoft.com/office/powerpoint/2010/main" val="9503084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1CEC1-FF0F-F5D3-0AD3-0A696785344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845A9A9-46A2-FBFB-F30D-45102F49FF4E}"/>
              </a:ext>
            </a:extLst>
          </p:cNvPr>
          <p:cNvPicPr>
            <a:picLocks noChangeAspect="1"/>
          </p:cNvPicPr>
          <p:nvPr/>
        </p:nvPicPr>
        <p:blipFill>
          <a:blip r:embed="rId2"/>
          <a:stretch>
            <a:fillRect/>
          </a:stretch>
        </p:blipFill>
        <p:spPr>
          <a:xfrm>
            <a:off x="1252538" y="2070471"/>
            <a:ext cx="4843462" cy="284321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Rectangle: Rounded Corners 3">
            <a:extLst>
              <a:ext uri="{FF2B5EF4-FFF2-40B4-BE49-F238E27FC236}">
                <a16:creationId xmlns:a16="http://schemas.microsoft.com/office/drawing/2014/main" id="{EDF5965F-132F-0F8F-9327-088346C4728C}"/>
              </a:ext>
            </a:extLst>
          </p:cNvPr>
          <p:cNvSpPr/>
          <p:nvPr/>
        </p:nvSpPr>
        <p:spPr>
          <a:xfrm>
            <a:off x="878524" y="533333"/>
            <a:ext cx="5560940"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US" sz="2000" b="1" dirty="0">
                <a:solidFill>
                  <a:schemeClr val="bg1"/>
                </a:solidFill>
                <a:latin typeface="Segoe UI" panose="020B0502040204020203" pitchFamily="34" charset="0"/>
                <a:cs typeface="Segoe UI" panose="020B0502040204020203" pitchFamily="34" charset="0"/>
              </a:rPr>
              <a:t>         </a:t>
            </a:r>
          </a:p>
          <a:p>
            <a:r>
              <a:rPr lang="en-US" sz="2000" b="1" dirty="0">
                <a:solidFill>
                  <a:schemeClr val="tx1"/>
                </a:solidFill>
                <a:latin typeface="Segoe Script" panose="030B0504020000000003" pitchFamily="66" charset="0"/>
                <a:cs typeface="Segoe UI" panose="020B0502040204020203" pitchFamily="34" charset="0"/>
              </a:rPr>
              <a:t> </a:t>
            </a:r>
          </a:p>
          <a:p>
            <a:r>
              <a:rPr lang="en-IN" sz="2400" b="1" dirty="0">
                <a:solidFill>
                  <a:schemeClr val="tx1"/>
                </a:solidFill>
                <a:latin typeface="Segoe Script" panose="030B0504020000000003" pitchFamily="66" charset="0"/>
                <a:cs typeface="Segoe UI" panose="020B0502040204020203" pitchFamily="34" charset="0"/>
              </a:rPr>
              <a:t>10. Customer Details Table</a:t>
            </a:r>
          </a:p>
          <a:p>
            <a:endParaRPr lang="en-IN" sz="2400" b="1" u="sng"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effectLst>
                <a:outerShdw blurRad="38100" dist="38100" dir="2700000" algn="tl">
                  <a:srgbClr val="000000">
                    <a:alpha val="43137"/>
                  </a:srgbClr>
                </a:outerShdw>
              </a:effectLst>
              <a:latin typeface="Segoe Script" panose="030B0504020000000003" pitchFamily="66" charset="0"/>
              <a:cs typeface="Segoe UI" panose="020B0502040204020203" pitchFamily="34" charset="0"/>
            </a:endParaRPr>
          </a:p>
          <a:p>
            <a:pPr algn="ctr"/>
            <a:endParaRPr lang="en-US" dirty="0"/>
          </a:p>
        </p:txBody>
      </p:sp>
      <p:sp>
        <p:nvSpPr>
          <p:cNvPr id="6" name="Flowchart: Off-page Connector 5">
            <a:extLst>
              <a:ext uri="{FF2B5EF4-FFF2-40B4-BE49-F238E27FC236}">
                <a16:creationId xmlns:a16="http://schemas.microsoft.com/office/drawing/2014/main" id="{1D7B67A6-9B70-1971-670F-B21530B8898E}"/>
              </a:ext>
            </a:extLst>
          </p:cNvPr>
          <p:cNvSpPr/>
          <p:nvPr/>
        </p:nvSpPr>
        <p:spPr>
          <a:xfrm>
            <a:off x="7317598" y="140109"/>
            <a:ext cx="3933965" cy="6577781"/>
          </a:xfrm>
          <a:prstGeom prst="flowChartOffpageConnector">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a:buNone/>
            </a:pPr>
            <a:r>
              <a:rPr lang="en-US" sz="2400" b="1" dirty="0">
                <a:solidFill>
                  <a:schemeClr val="bg1"/>
                </a:solidFill>
              </a:rPr>
              <a:t>✅ </a:t>
            </a:r>
            <a:r>
              <a:rPr lang="en-US" sz="2400" b="1" u="sng" dirty="0">
                <a:solidFill>
                  <a:schemeClr val="bg1"/>
                </a:solidFill>
              </a:rPr>
              <a:t>Purpose:</a:t>
            </a:r>
          </a:p>
          <a:p>
            <a:pPr>
              <a:buNone/>
            </a:pPr>
            <a:r>
              <a:rPr lang="en-US" b="1" dirty="0">
                <a:solidFill>
                  <a:schemeClr val="bg1"/>
                </a:solidFill>
                <a:latin typeface="Arial Narrow" panose="020B0606020202030204" pitchFamily="34" charset="0"/>
              </a:rPr>
              <a:t>To display customer data including:</a:t>
            </a:r>
          </a:p>
          <a:p>
            <a:pPr>
              <a:buFont typeface="Arial" panose="020B0604020202020204" pitchFamily="34" charset="0"/>
              <a:buChar char="•"/>
            </a:pPr>
            <a:r>
              <a:rPr lang="en-US" b="1" dirty="0" err="1">
                <a:solidFill>
                  <a:schemeClr val="bg1"/>
                </a:solidFill>
                <a:latin typeface="Arial Narrow" panose="020B0606020202030204" pitchFamily="34" charset="0"/>
              </a:rPr>
              <a:t>Customer_id</a:t>
            </a:r>
            <a:r>
              <a:rPr lang="en-US" b="1" dirty="0">
                <a:solidFill>
                  <a:schemeClr val="bg1"/>
                </a:solidFill>
                <a:latin typeface="Arial Narrow" panose="020B0606020202030204" pitchFamily="34" charset="0"/>
              </a:rPr>
              <a:t> (unique identifier)</a:t>
            </a:r>
          </a:p>
          <a:p>
            <a:pPr>
              <a:buFont typeface="Arial" panose="020B0604020202020204" pitchFamily="34" charset="0"/>
              <a:buChar char="•"/>
            </a:pPr>
            <a:r>
              <a:rPr lang="en-US" b="1" dirty="0" err="1">
                <a:solidFill>
                  <a:schemeClr val="bg1"/>
                </a:solidFill>
                <a:latin typeface="Arial Narrow" panose="020B0606020202030204" pitchFamily="34" charset="0"/>
              </a:rPr>
              <a:t>customer_name</a:t>
            </a:r>
            <a:r>
              <a:rPr lang="en-US" b="1" dirty="0">
                <a:solidFill>
                  <a:schemeClr val="bg1"/>
                </a:solidFill>
                <a:latin typeface="Arial Narrow" panose="020B0606020202030204" pitchFamily="34" charset="0"/>
              </a:rPr>
              <a:t> (full name)</a:t>
            </a:r>
          </a:p>
          <a:p>
            <a:pPr>
              <a:buFont typeface="Arial" panose="020B0604020202020204" pitchFamily="34" charset="0"/>
              <a:buChar char="•"/>
            </a:pPr>
            <a:r>
              <a:rPr lang="en-US" b="1" dirty="0">
                <a:solidFill>
                  <a:schemeClr val="bg1"/>
                </a:solidFill>
                <a:latin typeface="Arial Narrow" panose="020B0606020202030204" pitchFamily="34" charset="0"/>
              </a:rPr>
              <a:t>email (contact email)</a:t>
            </a:r>
          </a:p>
          <a:p>
            <a:pPr>
              <a:buNone/>
            </a:pPr>
            <a:r>
              <a:rPr lang="en-US" b="1" dirty="0">
                <a:solidFill>
                  <a:schemeClr val="bg1"/>
                </a:solidFill>
                <a:latin typeface="Arial Narrow" panose="020B0606020202030204" pitchFamily="34" charset="0"/>
              </a:rPr>
              <a:t>Such a table is used in CRM systems, dashboards, or databases to:</a:t>
            </a:r>
          </a:p>
          <a:p>
            <a:pPr>
              <a:buFont typeface="Arial" panose="020B0604020202020204" pitchFamily="34" charset="0"/>
              <a:buChar char="•"/>
            </a:pPr>
            <a:r>
              <a:rPr lang="en-US" b="1" dirty="0">
                <a:solidFill>
                  <a:schemeClr val="bg1"/>
                </a:solidFill>
                <a:latin typeface="Arial Narrow" panose="020B0606020202030204" pitchFamily="34" charset="0"/>
              </a:rPr>
              <a:t>Manage customer records</a:t>
            </a:r>
          </a:p>
          <a:p>
            <a:pPr>
              <a:buFont typeface="Arial" panose="020B0604020202020204" pitchFamily="34" charset="0"/>
              <a:buChar char="•"/>
            </a:pPr>
            <a:r>
              <a:rPr lang="en-US" b="1" dirty="0">
                <a:solidFill>
                  <a:schemeClr val="bg1"/>
                </a:solidFill>
                <a:latin typeface="Arial Narrow" panose="020B0606020202030204" pitchFamily="34" charset="0"/>
              </a:rPr>
              <a:t>View, edit, or update contact details</a:t>
            </a:r>
          </a:p>
          <a:p>
            <a:pPr>
              <a:buFont typeface="Arial" panose="020B0604020202020204" pitchFamily="34" charset="0"/>
              <a:buChar char="•"/>
            </a:pPr>
            <a:r>
              <a:rPr lang="en-US" b="1" dirty="0">
                <a:solidFill>
                  <a:schemeClr val="bg1"/>
                </a:solidFill>
                <a:latin typeface="Arial Narrow" panose="020B0606020202030204" pitchFamily="34" charset="0"/>
              </a:rPr>
              <a:t>Analyze customer base for sales, support, or marketing decisions.</a:t>
            </a:r>
          </a:p>
          <a:p>
            <a:pPr>
              <a:buFont typeface="+mj-lt"/>
              <a:buAutoNum type="arabicPeriod"/>
            </a:pPr>
            <a:r>
              <a:rPr lang="en-US" sz="1400" b="1" dirty="0">
                <a:latin typeface="Arial Narrow" panose="020B0606020202030204" pitchFamily="34" charset="0"/>
              </a:rPr>
              <a:t>.</a:t>
            </a:r>
          </a:p>
        </p:txBody>
      </p:sp>
    </p:spTree>
    <p:extLst>
      <p:ext uri="{BB962C8B-B14F-4D97-AF65-F5344CB8AC3E}">
        <p14:creationId xmlns:p14="http://schemas.microsoft.com/office/powerpoint/2010/main" val="3238664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9C43C-0329-91AC-3860-4018E27B8FD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E548579-3FDF-C718-986E-C10C513E9785}"/>
              </a:ext>
            </a:extLst>
          </p:cNvPr>
          <p:cNvPicPr>
            <a:picLocks noChangeAspect="1"/>
          </p:cNvPicPr>
          <p:nvPr/>
        </p:nvPicPr>
        <p:blipFill>
          <a:blip r:embed="rId2"/>
          <a:stretch>
            <a:fillRect/>
          </a:stretch>
        </p:blipFill>
        <p:spPr>
          <a:xfrm>
            <a:off x="1621553" y="2002268"/>
            <a:ext cx="3454630" cy="285346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11" name="Rectangle: Rounded Corners 10">
            <a:extLst>
              <a:ext uri="{FF2B5EF4-FFF2-40B4-BE49-F238E27FC236}">
                <a16:creationId xmlns:a16="http://schemas.microsoft.com/office/drawing/2014/main" id="{75C71F69-4D5B-349E-D4A9-8B11A66F6D61}"/>
              </a:ext>
            </a:extLst>
          </p:cNvPr>
          <p:cNvSpPr/>
          <p:nvPr/>
        </p:nvSpPr>
        <p:spPr>
          <a:xfrm>
            <a:off x="354086" y="395598"/>
            <a:ext cx="5989565"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US" sz="2000" b="1" dirty="0">
                <a:solidFill>
                  <a:schemeClr val="bg1"/>
                </a:solidFill>
                <a:latin typeface="Segoe UI" panose="020B0502040204020203" pitchFamily="34" charset="0"/>
                <a:cs typeface="Segoe UI" panose="020B0502040204020203" pitchFamily="34" charset="0"/>
              </a:rPr>
              <a:t>       </a:t>
            </a:r>
            <a:r>
              <a:rPr lang="en-IN" sz="2000" b="1" dirty="0">
                <a:solidFill>
                  <a:schemeClr val="tx1"/>
                </a:solidFill>
                <a:latin typeface="Segoe Script" panose="030B0504020000000003" pitchFamily="66" charset="0"/>
                <a:cs typeface="Segoe UI" panose="020B0502040204020203" pitchFamily="34" charset="0"/>
              </a:rPr>
              <a:t>11. </a:t>
            </a:r>
            <a:r>
              <a:rPr lang="en-US" sz="2000" b="1" dirty="0">
                <a:solidFill>
                  <a:schemeClr val="tx1"/>
                </a:solidFill>
                <a:latin typeface="Segoe Script" panose="030B0504020000000003" pitchFamily="66" charset="0"/>
                <a:cs typeface="Segoe UI" panose="020B0502040204020203" pitchFamily="34" charset="0"/>
              </a:rPr>
              <a:t>Delivery Time vs Distance (Scatter Plot)</a:t>
            </a:r>
            <a:endParaRPr lang="en-IN" sz="2000" b="1" dirty="0">
              <a:solidFill>
                <a:schemeClr val="tx1"/>
              </a:solidFill>
              <a:latin typeface="Segoe Script" panose="030B0504020000000003" pitchFamily="66" charset="0"/>
              <a:cs typeface="Segoe UI" panose="020B0502040204020203" pitchFamily="34" charset="0"/>
            </a:endParaRPr>
          </a:p>
          <a:p>
            <a:pPr algn="ctr"/>
            <a:endParaRPr lang="en-US" dirty="0"/>
          </a:p>
        </p:txBody>
      </p:sp>
      <p:sp>
        <p:nvSpPr>
          <p:cNvPr id="12" name="Flowchart: Off-page Connector 11">
            <a:extLst>
              <a:ext uri="{FF2B5EF4-FFF2-40B4-BE49-F238E27FC236}">
                <a16:creationId xmlns:a16="http://schemas.microsoft.com/office/drawing/2014/main" id="{04171F7C-52B1-A000-8CF4-EADDA1A9C9D4}"/>
              </a:ext>
            </a:extLst>
          </p:cNvPr>
          <p:cNvSpPr/>
          <p:nvPr/>
        </p:nvSpPr>
        <p:spPr>
          <a:xfrm>
            <a:off x="7115819" y="140108"/>
            <a:ext cx="3933965" cy="6577781"/>
          </a:xfrm>
          <a:prstGeom prst="flowChartOffpageConnector">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a:buNone/>
            </a:pPr>
            <a:r>
              <a:rPr lang="en-US" sz="1200" b="1" u="sng" dirty="0">
                <a:solidFill>
                  <a:schemeClr val="bg1"/>
                </a:solidFill>
                <a:latin typeface="Arial Black" panose="020B0A04020102020204" pitchFamily="34" charset="0"/>
              </a:rPr>
              <a:t>Purpose </a:t>
            </a:r>
          </a:p>
          <a:p>
            <a:pPr>
              <a:buNone/>
            </a:pPr>
            <a:r>
              <a:rPr lang="en-US" sz="1200" dirty="0">
                <a:solidFill>
                  <a:schemeClr val="bg1"/>
                </a:solidFill>
                <a:latin typeface="Arial Black" panose="020B0A04020102020204" pitchFamily="34" charset="0"/>
              </a:rPr>
              <a:t>✅ </a:t>
            </a:r>
            <a:r>
              <a:rPr lang="en-US" sz="1200" b="1" dirty="0">
                <a:solidFill>
                  <a:schemeClr val="bg1"/>
                </a:solidFill>
                <a:latin typeface="Arial Black" panose="020B0A04020102020204" pitchFamily="34" charset="0"/>
              </a:rPr>
              <a:t>Primary Purpose:</a:t>
            </a:r>
            <a:br>
              <a:rPr lang="en-US" sz="1200" dirty="0">
                <a:solidFill>
                  <a:schemeClr val="bg1"/>
                </a:solidFill>
                <a:latin typeface="Arial Black" panose="020B0A04020102020204" pitchFamily="34" charset="0"/>
              </a:rPr>
            </a:br>
            <a:r>
              <a:rPr lang="en-US" sz="1200" dirty="0">
                <a:solidFill>
                  <a:schemeClr val="bg1"/>
                </a:solidFill>
                <a:latin typeface="Arial Black" panose="020B0A04020102020204" pitchFamily="34" charset="0"/>
              </a:rPr>
              <a:t>To </a:t>
            </a:r>
            <a:r>
              <a:rPr lang="en-US" sz="1200" b="1" dirty="0">
                <a:solidFill>
                  <a:schemeClr val="bg1"/>
                </a:solidFill>
                <a:latin typeface="Arial Black" panose="020B0A04020102020204" pitchFamily="34" charset="0"/>
              </a:rPr>
              <a:t>analyze the relationship between delivery distance and delivery time</a:t>
            </a:r>
            <a:r>
              <a:rPr lang="en-US" sz="1200" dirty="0">
                <a:solidFill>
                  <a:schemeClr val="bg1"/>
                </a:solidFill>
                <a:latin typeface="Arial Black" panose="020B0A04020102020204" pitchFamily="34" charset="0"/>
              </a:rPr>
              <a:t>.</a:t>
            </a:r>
          </a:p>
          <a:p>
            <a:pPr>
              <a:buNone/>
            </a:pPr>
            <a:r>
              <a:rPr lang="en-US" sz="1200" dirty="0">
                <a:solidFill>
                  <a:schemeClr val="bg1"/>
                </a:solidFill>
                <a:latin typeface="Arial Black" panose="020B0A04020102020204" pitchFamily="34" charset="0"/>
              </a:rPr>
              <a:t>✅ </a:t>
            </a:r>
            <a:r>
              <a:rPr lang="en-US" sz="1200" b="1" dirty="0">
                <a:solidFill>
                  <a:schemeClr val="bg1"/>
                </a:solidFill>
                <a:latin typeface="Arial Black" panose="020B0A04020102020204" pitchFamily="34" charset="0"/>
              </a:rPr>
              <a:t>Why it is used:</a:t>
            </a:r>
            <a:endParaRPr lang="en-US" sz="1200" dirty="0">
              <a:solidFill>
                <a:schemeClr val="bg1"/>
              </a:solidFill>
              <a:latin typeface="Arial Black" panose="020B0A04020102020204" pitchFamily="34" charset="0"/>
            </a:endParaRPr>
          </a:p>
          <a:p>
            <a:pPr>
              <a:buFont typeface="Arial" panose="020B0604020202020204" pitchFamily="34" charset="0"/>
              <a:buChar char="•"/>
            </a:pPr>
            <a:r>
              <a:rPr lang="en-US" sz="1200" dirty="0">
                <a:solidFill>
                  <a:schemeClr val="bg1"/>
                </a:solidFill>
                <a:latin typeface="Arial Black" panose="020B0A04020102020204" pitchFamily="34" charset="0"/>
              </a:rPr>
              <a:t>To </a:t>
            </a:r>
            <a:r>
              <a:rPr lang="en-US" sz="1200" b="1" dirty="0">
                <a:solidFill>
                  <a:schemeClr val="bg1"/>
                </a:solidFill>
                <a:latin typeface="Arial Black" panose="020B0A04020102020204" pitchFamily="34" charset="0"/>
              </a:rPr>
              <a:t>understand if greater distances lead to longer delivery times</a:t>
            </a:r>
            <a:r>
              <a:rPr lang="en-US" sz="1200" dirty="0">
                <a:solidFill>
                  <a:schemeClr val="bg1"/>
                </a:solidFill>
                <a:latin typeface="Arial Black" panose="020B0A04020102020204" pitchFamily="34" charset="0"/>
              </a:rPr>
              <a:t> (check for correlation).</a:t>
            </a:r>
          </a:p>
          <a:p>
            <a:pPr>
              <a:buFont typeface="Arial" panose="020B0604020202020204" pitchFamily="34" charset="0"/>
              <a:buChar char="•"/>
            </a:pPr>
            <a:r>
              <a:rPr lang="en-US" sz="1200" dirty="0">
                <a:solidFill>
                  <a:schemeClr val="bg1"/>
                </a:solidFill>
                <a:latin typeface="Arial Black" panose="020B0A04020102020204" pitchFamily="34" charset="0"/>
              </a:rPr>
              <a:t>To </a:t>
            </a:r>
            <a:r>
              <a:rPr lang="en-US" sz="1200" b="1" dirty="0">
                <a:solidFill>
                  <a:schemeClr val="bg1"/>
                </a:solidFill>
                <a:latin typeface="Arial Black" panose="020B0A04020102020204" pitchFamily="34" charset="0"/>
              </a:rPr>
              <a:t>identify inconsistencies</a:t>
            </a:r>
            <a:r>
              <a:rPr lang="en-US" sz="1200" dirty="0">
                <a:solidFill>
                  <a:schemeClr val="bg1"/>
                </a:solidFill>
                <a:latin typeface="Arial Black" panose="020B0A04020102020204" pitchFamily="34" charset="0"/>
              </a:rPr>
              <a:t> where </a:t>
            </a:r>
            <a:r>
              <a:rPr lang="en-US" sz="1200" b="1" dirty="0">
                <a:solidFill>
                  <a:schemeClr val="bg1"/>
                </a:solidFill>
                <a:latin typeface="Arial Black" panose="020B0A04020102020204" pitchFamily="34" charset="0"/>
              </a:rPr>
              <a:t>short distances still take long times</a:t>
            </a:r>
            <a:r>
              <a:rPr lang="en-US" sz="1200" dirty="0">
                <a:solidFill>
                  <a:schemeClr val="bg1"/>
                </a:solidFill>
                <a:latin typeface="Arial Black" panose="020B0A04020102020204" pitchFamily="34" charset="0"/>
              </a:rPr>
              <a:t>, highlighting potential operational inefficiencies.</a:t>
            </a:r>
          </a:p>
          <a:p>
            <a:pPr>
              <a:buFont typeface="Arial" panose="020B0604020202020204" pitchFamily="34" charset="0"/>
              <a:buChar char="•"/>
            </a:pPr>
            <a:r>
              <a:rPr lang="en-US" sz="1200" dirty="0">
                <a:solidFill>
                  <a:schemeClr val="bg1"/>
                </a:solidFill>
                <a:latin typeface="Arial Black" panose="020B0A04020102020204" pitchFamily="34" charset="0"/>
              </a:rPr>
              <a:t>To compare </a:t>
            </a:r>
            <a:r>
              <a:rPr lang="en-US" sz="1200" b="1" dirty="0">
                <a:solidFill>
                  <a:schemeClr val="bg1"/>
                </a:solidFill>
                <a:latin typeface="Arial Black" panose="020B0A04020102020204" pitchFamily="34" charset="0"/>
              </a:rPr>
              <a:t>performance across different categories or regions</a:t>
            </a:r>
            <a:r>
              <a:rPr lang="en-US" sz="1200" dirty="0">
                <a:solidFill>
                  <a:schemeClr val="bg1"/>
                </a:solidFill>
                <a:latin typeface="Arial Black" panose="020B0A04020102020204" pitchFamily="34" charset="0"/>
              </a:rPr>
              <a:t> (shown by different colors in legend).</a:t>
            </a:r>
          </a:p>
          <a:p>
            <a:pPr>
              <a:buNone/>
            </a:pPr>
            <a:r>
              <a:rPr lang="en-US" sz="1200" dirty="0">
                <a:solidFill>
                  <a:schemeClr val="bg1"/>
                </a:solidFill>
                <a:latin typeface="Arial Black" panose="020B0A04020102020204" pitchFamily="34" charset="0"/>
              </a:rPr>
              <a:t>✅ </a:t>
            </a:r>
            <a:r>
              <a:rPr lang="en-US" sz="1200" b="1" dirty="0">
                <a:solidFill>
                  <a:schemeClr val="bg1"/>
                </a:solidFill>
                <a:latin typeface="Arial Black" panose="020B0A04020102020204" pitchFamily="34" charset="0"/>
              </a:rPr>
              <a:t>Business Utility:</a:t>
            </a:r>
            <a:endParaRPr lang="en-US" sz="1200" dirty="0">
              <a:solidFill>
                <a:schemeClr val="bg1"/>
              </a:solidFill>
              <a:latin typeface="Arial Black" panose="020B0A04020102020204" pitchFamily="34" charset="0"/>
            </a:endParaRPr>
          </a:p>
          <a:p>
            <a:pPr>
              <a:buFont typeface="Arial" panose="020B0604020202020204" pitchFamily="34" charset="0"/>
              <a:buChar char="•"/>
            </a:pPr>
            <a:r>
              <a:rPr lang="en-US" sz="1200" dirty="0">
                <a:solidFill>
                  <a:schemeClr val="bg1"/>
                </a:solidFill>
                <a:latin typeface="Arial Black" panose="020B0A04020102020204" pitchFamily="34" charset="0"/>
              </a:rPr>
              <a:t>Helps in </a:t>
            </a:r>
            <a:r>
              <a:rPr lang="en-US" sz="1200" b="1" dirty="0">
                <a:solidFill>
                  <a:schemeClr val="bg1"/>
                </a:solidFill>
                <a:latin typeface="Arial Black" panose="020B0A04020102020204" pitchFamily="34" charset="0"/>
              </a:rPr>
              <a:t>route optimization</a:t>
            </a:r>
            <a:r>
              <a:rPr lang="en-US" sz="1200" dirty="0">
                <a:solidFill>
                  <a:schemeClr val="bg1"/>
                </a:solidFill>
                <a:latin typeface="Arial Black" panose="020B0A04020102020204" pitchFamily="34" charset="0"/>
              </a:rPr>
              <a:t> and </a:t>
            </a:r>
            <a:r>
              <a:rPr lang="en-US" sz="1200" b="1" dirty="0">
                <a:solidFill>
                  <a:schemeClr val="bg1"/>
                </a:solidFill>
                <a:latin typeface="Arial Black" panose="020B0A04020102020204" pitchFamily="34" charset="0"/>
              </a:rPr>
              <a:t>resource planning</a:t>
            </a:r>
            <a:r>
              <a:rPr lang="en-US" sz="1200" dirty="0">
                <a:solidFill>
                  <a:schemeClr val="bg1"/>
                </a:solidFill>
                <a:latin typeface="Arial Black" panose="020B0A04020102020204" pitchFamily="34" charset="0"/>
              </a:rPr>
              <a:t>.</a:t>
            </a:r>
          </a:p>
          <a:p>
            <a:pPr>
              <a:buFont typeface="Arial" panose="020B0604020202020204" pitchFamily="34" charset="0"/>
              <a:buChar char="•"/>
            </a:pPr>
            <a:r>
              <a:rPr lang="en-US" sz="1200" dirty="0">
                <a:solidFill>
                  <a:schemeClr val="bg1"/>
                </a:solidFill>
                <a:latin typeface="Arial Black" panose="020B0A04020102020204" pitchFamily="34" charset="0"/>
              </a:rPr>
              <a:t>Supports decisions to </a:t>
            </a:r>
            <a:r>
              <a:rPr lang="en-US" sz="1200" b="1" dirty="0">
                <a:solidFill>
                  <a:schemeClr val="bg1"/>
                </a:solidFill>
                <a:latin typeface="Arial Black" panose="020B0A04020102020204" pitchFamily="34" charset="0"/>
              </a:rPr>
              <a:t>improve delivery efficiency</a:t>
            </a:r>
            <a:r>
              <a:rPr lang="en-US" sz="1200" dirty="0">
                <a:solidFill>
                  <a:schemeClr val="bg1"/>
                </a:solidFill>
                <a:latin typeface="Arial Black" panose="020B0A04020102020204" pitchFamily="34" charset="0"/>
              </a:rPr>
              <a:t>, customer satisfaction, and cost control.</a:t>
            </a:r>
          </a:p>
        </p:txBody>
      </p:sp>
    </p:spTree>
    <p:extLst>
      <p:ext uri="{BB962C8B-B14F-4D97-AF65-F5344CB8AC3E}">
        <p14:creationId xmlns:p14="http://schemas.microsoft.com/office/powerpoint/2010/main" val="219113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76969-3BA3-4CF3-034D-FB0C11074A0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6BC19B1-4C70-3A32-A432-B0FB36DA5D9B}"/>
              </a:ext>
            </a:extLst>
          </p:cNvPr>
          <p:cNvPicPr>
            <a:picLocks noChangeAspect="1"/>
          </p:cNvPicPr>
          <p:nvPr/>
        </p:nvPicPr>
        <p:blipFill>
          <a:blip r:embed="rId2"/>
          <a:stretch>
            <a:fillRect/>
          </a:stretch>
        </p:blipFill>
        <p:spPr>
          <a:xfrm>
            <a:off x="1370880" y="2531190"/>
            <a:ext cx="3771899" cy="219566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Rectangle: Rounded Corners 8">
            <a:extLst>
              <a:ext uri="{FF2B5EF4-FFF2-40B4-BE49-F238E27FC236}">
                <a16:creationId xmlns:a16="http://schemas.microsoft.com/office/drawing/2014/main" id="{7C0A298C-0B60-7BFA-4A1C-B8DED54B3928}"/>
              </a:ext>
            </a:extLst>
          </p:cNvPr>
          <p:cNvSpPr/>
          <p:nvPr/>
        </p:nvSpPr>
        <p:spPr>
          <a:xfrm>
            <a:off x="476360" y="733358"/>
            <a:ext cx="5560940"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IN" sz="2400" b="1" dirty="0">
                <a:solidFill>
                  <a:schemeClr val="tx1"/>
                </a:solidFill>
                <a:latin typeface="Segoe Script" panose="030B0504020000000003" pitchFamily="66" charset="0"/>
                <a:cs typeface="Segoe UI" panose="020B0502040204020203" pitchFamily="34" charset="0"/>
              </a:rPr>
              <a:t>12</a:t>
            </a:r>
            <a:r>
              <a:rPr lang="en-IN" sz="2400" b="1" u="sng" dirty="0">
                <a:solidFill>
                  <a:schemeClr val="tx1"/>
                </a:solidFill>
                <a:latin typeface="Segoe Script" panose="030B0504020000000003" pitchFamily="66" charset="0"/>
                <a:cs typeface="Segoe UI" panose="020B0502040204020203" pitchFamily="34" charset="0"/>
              </a:rPr>
              <a:t>. Campaign Conversion Funnel</a:t>
            </a:r>
            <a:endParaRPr lang="en-US" dirty="0">
              <a:solidFill>
                <a:schemeClr val="tx1"/>
              </a:solidFill>
              <a:latin typeface="Segoe Script" panose="030B0504020000000003" pitchFamily="66" charset="0"/>
            </a:endParaRPr>
          </a:p>
        </p:txBody>
      </p:sp>
      <p:sp>
        <p:nvSpPr>
          <p:cNvPr id="10" name="Flowchart: Off-page Connector 9">
            <a:extLst>
              <a:ext uri="{FF2B5EF4-FFF2-40B4-BE49-F238E27FC236}">
                <a16:creationId xmlns:a16="http://schemas.microsoft.com/office/drawing/2014/main" id="{DECAE92D-E875-A693-D824-7A68D1DACAB8}"/>
              </a:ext>
            </a:extLst>
          </p:cNvPr>
          <p:cNvSpPr/>
          <p:nvPr/>
        </p:nvSpPr>
        <p:spPr>
          <a:xfrm>
            <a:off x="7049223" y="140108"/>
            <a:ext cx="3933965" cy="6577781"/>
          </a:xfrm>
          <a:prstGeom prst="flowChartOffpageConnector">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r>
              <a:rPr lang="en-US" b="1" dirty="0">
                <a:solidFill>
                  <a:schemeClr val="bg1"/>
                </a:solidFill>
                <a:latin typeface="Segoe UI" panose="020B0502040204020203" pitchFamily="34" charset="0"/>
                <a:cs typeface="Segoe UI" panose="020B0502040204020203" pitchFamily="34" charset="0"/>
              </a:rPr>
              <a:t>Insights : </a:t>
            </a:r>
          </a:p>
          <a:p>
            <a:endParaRPr lang="en-US" b="1" dirty="0">
              <a:solidFill>
                <a:schemeClr val="bg1"/>
              </a:solidFill>
              <a:latin typeface="Segoe UI" panose="020B0502040204020203" pitchFamily="34" charset="0"/>
              <a:cs typeface="Segoe UI" panose="020B0502040204020203" pitchFamily="34" charset="0"/>
            </a:endParaRPr>
          </a:p>
          <a:p>
            <a:r>
              <a:rPr lang="en-IN" sz="1200" dirty="0">
                <a:solidFill>
                  <a:schemeClr val="bg1"/>
                </a:solidFill>
                <a:latin typeface="Arial Black" panose="020B0A04020102020204" pitchFamily="34" charset="0"/>
                <a:cs typeface="Segoe UI" panose="020B0502040204020203" pitchFamily="34" charset="0"/>
              </a:rPr>
              <a:t>1️⃣</a:t>
            </a:r>
            <a:r>
              <a:rPr lang="en-US" sz="1200" dirty="0">
                <a:solidFill>
                  <a:schemeClr val="bg1"/>
                </a:solidFill>
                <a:latin typeface="Arial Black" panose="020B0A04020102020204" pitchFamily="34" charset="0"/>
                <a:cs typeface="Segoe UI" panose="020B0502040204020203" pitchFamily="34" charset="0"/>
              </a:rPr>
              <a:t>Shows a sharp drop from 29.49M impressions to 0.30M conversions, with a conversion rate of just 0.9%.</a:t>
            </a:r>
          </a:p>
          <a:p>
            <a:endParaRPr lang="en-US" sz="1200" dirty="0">
              <a:solidFill>
                <a:schemeClr val="bg1"/>
              </a:solidFill>
              <a:latin typeface="Arial Black" panose="020B0A04020102020204" pitchFamily="34" charset="0"/>
              <a:cs typeface="Segoe UI" panose="020B0502040204020203" pitchFamily="34" charset="0"/>
            </a:endParaRPr>
          </a:p>
          <a:p>
            <a:r>
              <a:rPr lang="en-US" sz="1200" dirty="0">
                <a:solidFill>
                  <a:schemeClr val="bg1"/>
                </a:solidFill>
                <a:latin typeface="Arial Black" panose="020B0A04020102020204" pitchFamily="34" charset="0"/>
                <a:cs typeface="Segoe UI" panose="020B0502040204020203" pitchFamily="34" charset="0"/>
              </a:rPr>
              <a:t>2️⃣Despite low conversions, revenue generated is ₹32.19M — implies high value per conversion.</a:t>
            </a:r>
          </a:p>
          <a:p>
            <a:r>
              <a:rPr lang="en-US" sz="1200" dirty="0">
                <a:solidFill>
                  <a:schemeClr val="bg1"/>
                </a:solidFill>
                <a:latin typeface="Arial Black" panose="020B0A04020102020204" pitchFamily="34" charset="0"/>
                <a:cs typeface="Segoe UI" panose="020B0502040204020203" pitchFamily="34" charset="0"/>
              </a:rPr>
              <a:t>3️⃣Indicates strong monetization but weak conversion rate, suggesting room to optimize ad targeting or landing pages.</a:t>
            </a:r>
          </a:p>
          <a:p>
            <a:endParaRPr lang="en-US" sz="1200" dirty="0">
              <a:solidFill>
                <a:schemeClr val="bg1"/>
              </a:solidFill>
              <a:latin typeface="Arial Black" panose="020B0A04020102020204" pitchFamily="34" charset="0"/>
              <a:cs typeface="Segoe UI" panose="020B0502040204020203" pitchFamily="34" charset="0"/>
            </a:endParaRPr>
          </a:p>
          <a:p>
            <a:r>
              <a:rPr lang="en-US" sz="1200" dirty="0">
                <a:solidFill>
                  <a:schemeClr val="bg1"/>
                </a:solidFill>
                <a:latin typeface="Arial Black" panose="020B0A04020102020204" pitchFamily="34" charset="0"/>
                <a:cs typeface="Segoe UI" panose="020B0502040204020203" pitchFamily="34" charset="0"/>
              </a:rPr>
              <a:t>4️⃣A/B testing or improved CTA could help increase click-to-conversion</a:t>
            </a:r>
            <a:endParaRPr lang="en-US" sz="1200"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10118421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BD7D5-FCE1-CC1F-A220-0690E077683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563B4F8-0E33-50CA-B27E-187721EC8D9D}"/>
              </a:ext>
            </a:extLst>
          </p:cNvPr>
          <p:cNvPicPr>
            <a:picLocks noChangeAspect="1"/>
          </p:cNvPicPr>
          <p:nvPr/>
        </p:nvPicPr>
        <p:blipFill>
          <a:blip r:embed="rId2"/>
          <a:stretch>
            <a:fillRect/>
          </a:stretch>
        </p:blipFill>
        <p:spPr>
          <a:xfrm>
            <a:off x="1315701" y="2066879"/>
            <a:ext cx="4234069" cy="272424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Rectangle: Rounded Corners 8">
            <a:extLst>
              <a:ext uri="{FF2B5EF4-FFF2-40B4-BE49-F238E27FC236}">
                <a16:creationId xmlns:a16="http://schemas.microsoft.com/office/drawing/2014/main" id="{A256558D-FE7D-6805-A4EB-CCFD0D549B3D}"/>
              </a:ext>
            </a:extLst>
          </p:cNvPr>
          <p:cNvSpPr/>
          <p:nvPr/>
        </p:nvSpPr>
        <p:spPr>
          <a:xfrm>
            <a:off x="652266" y="395290"/>
            <a:ext cx="5560940"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US" sz="2000" b="1" dirty="0">
                <a:solidFill>
                  <a:schemeClr val="bg1"/>
                </a:solidFill>
                <a:latin typeface="Segoe UI" panose="020B0502040204020203" pitchFamily="34" charset="0"/>
                <a:cs typeface="Segoe UI" panose="020B0502040204020203" pitchFamily="34" charset="0"/>
              </a:rPr>
              <a:t>         </a:t>
            </a:r>
          </a:p>
          <a:p>
            <a:r>
              <a:rPr lang="en-US" sz="2000" b="1" dirty="0">
                <a:solidFill>
                  <a:schemeClr val="tx1"/>
                </a:solidFill>
                <a:latin typeface="Segoe Script" panose="030B0504020000000003" pitchFamily="66" charset="0"/>
                <a:cs typeface="Segoe UI" panose="020B0502040204020203" pitchFamily="34" charset="0"/>
              </a:rPr>
              <a:t> </a:t>
            </a:r>
          </a:p>
          <a:p>
            <a:r>
              <a:rPr lang="en-US" sz="2000" b="1" dirty="0">
                <a:solidFill>
                  <a:schemeClr val="tx1"/>
                </a:solidFill>
                <a:latin typeface="Segoe Script" panose="030B0504020000000003" pitchFamily="66" charset="0"/>
                <a:cs typeface="Segoe UI" panose="020B0502040204020203" pitchFamily="34" charset="0"/>
              </a:rPr>
              <a:t>   </a:t>
            </a:r>
            <a:r>
              <a:rPr lang="en-IN" sz="2400" dirty="0">
                <a:solidFill>
                  <a:schemeClr val="tx1"/>
                </a:solidFill>
                <a:latin typeface="Segoe Script" panose="030B0504020000000003" pitchFamily="66" charset="0"/>
              </a:rPr>
              <a:t>📊</a:t>
            </a:r>
            <a:r>
              <a:rPr lang="en-IN" sz="2400" b="1" dirty="0">
                <a:solidFill>
                  <a:schemeClr val="tx1"/>
                </a:solidFill>
                <a:latin typeface="Segoe Script" panose="030B0504020000000003" pitchFamily="66" charset="0"/>
                <a:cs typeface="Segoe UI" panose="020B0502040204020203" pitchFamily="34" charset="0"/>
              </a:rPr>
              <a:t>13.  All Campaigns</a:t>
            </a:r>
          </a:p>
          <a:p>
            <a:endParaRPr lang="en-IN" sz="2400" b="1" u="sng"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effectLst>
                <a:outerShdw blurRad="38100" dist="38100" dir="2700000" algn="tl">
                  <a:srgbClr val="000000">
                    <a:alpha val="43137"/>
                  </a:srgbClr>
                </a:outerShdw>
              </a:effectLst>
              <a:latin typeface="Segoe Script" panose="030B0504020000000003" pitchFamily="66" charset="0"/>
              <a:cs typeface="Segoe UI" panose="020B0502040204020203" pitchFamily="34" charset="0"/>
            </a:endParaRPr>
          </a:p>
          <a:p>
            <a:pPr algn="ctr"/>
            <a:endParaRPr lang="en-US" dirty="0"/>
          </a:p>
        </p:txBody>
      </p:sp>
      <p:sp>
        <p:nvSpPr>
          <p:cNvPr id="10" name="Flowchart: Off-page Connector 9">
            <a:extLst>
              <a:ext uri="{FF2B5EF4-FFF2-40B4-BE49-F238E27FC236}">
                <a16:creationId xmlns:a16="http://schemas.microsoft.com/office/drawing/2014/main" id="{F181BD32-5116-AA9D-0135-1B3A69443DF2}"/>
              </a:ext>
            </a:extLst>
          </p:cNvPr>
          <p:cNvSpPr/>
          <p:nvPr/>
        </p:nvSpPr>
        <p:spPr>
          <a:xfrm>
            <a:off x="7074558" y="140108"/>
            <a:ext cx="3933965" cy="6577781"/>
          </a:xfrm>
          <a:prstGeom prst="flowChartOffpageConnector">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r>
              <a:rPr lang="en-US" b="1" dirty="0">
                <a:solidFill>
                  <a:schemeClr val="bg1"/>
                </a:solidFill>
                <a:latin typeface="Segoe UI" panose="020B0502040204020203" pitchFamily="34" charset="0"/>
                <a:cs typeface="Segoe UI" panose="020B0502040204020203" pitchFamily="34" charset="0"/>
              </a:rPr>
              <a:t>Insights : </a:t>
            </a:r>
          </a:p>
          <a:p>
            <a:endParaRPr lang="en-US" b="1" dirty="0">
              <a:solidFill>
                <a:schemeClr val="bg1"/>
              </a:solidFill>
              <a:latin typeface="Segoe UI" panose="020B0502040204020203" pitchFamily="34" charset="0"/>
              <a:cs typeface="Segoe UI" panose="020B0502040204020203" pitchFamily="34" charset="0"/>
            </a:endParaRPr>
          </a:p>
          <a:p>
            <a:r>
              <a:rPr lang="en-IN" sz="1200" dirty="0">
                <a:solidFill>
                  <a:schemeClr val="bg1"/>
                </a:solidFill>
                <a:latin typeface="Segoe UI" panose="020B0502040204020203" pitchFamily="34" charset="0"/>
                <a:cs typeface="Segoe UI" panose="020B0502040204020203" pitchFamily="34" charset="0"/>
              </a:rPr>
              <a:t>1️⃣</a:t>
            </a:r>
            <a:r>
              <a:rPr lang="en-US" sz="1200" dirty="0">
                <a:solidFill>
                  <a:schemeClr val="bg1"/>
                </a:solidFill>
                <a:latin typeface="Segoe UI" panose="020B0502040204020203" pitchFamily="34" charset="0"/>
                <a:cs typeface="Segoe UI" panose="020B0502040204020203" pitchFamily="34" charset="0"/>
              </a:rPr>
              <a:t>Total Spend: ₹1.63 Cr | Revenue: ₹3.22 Cr — a strong 1.97x return.</a:t>
            </a:r>
          </a:p>
          <a:p>
            <a:endParaRPr lang="en-US" sz="1200" dirty="0">
              <a:solidFill>
                <a:schemeClr val="bg1"/>
              </a:solidFill>
              <a:latin typeface="Segoe UI" panose="020B0502040204020203" pitchFamily="34" charset="0"/>
              <a:cs typeface="Segoe UI" panose="020B0502040204020203" pitchFamily="34" charset="0"/>
            </a:endParaRPr>
          </a:p>
          <a:p>
            <a:r>
              <a:rPr lang="en-US" sz="1200" dirty="0">
                <a:solidFill>
                  <a:schemeClr val="bg1"/>
                </a:solidFill>
                <a:latin typeface="Segoe UI" panose="020B0502040204020203" pitchFamily="34" charset="0"/>
                <a:cs typeface="Segoe UI" panose="020B0502040204020203" pitchFamily="34" charset="0"/>
              </a:rPr>
              <a:t>2️⃣The campaigns are performing efficiently, nearly doubling the investment.</a:t>
            </a:r>
          </a:p>
          <a:p>
            <a:endParaRPr lang="en-US" sz="1200" dirty="0">
              <a:solidFill>
                <a:schemeClr val="bg1"/>
              </a:solidFill>
              <a:latin typeface="Segoe UI" panose="020B0502040204020203" pitchFamily="34" charset="0"/>
              <a:cs typeface="Segoe UI" panose="020B0502040204020203" pitchFamily="34" charset="0"/>
            </a:endParaRPr>
          </a:p>
          <a:p>
            <a:r>
              <a:rPr lang="en-US" sz="1200" dirty="0">
                <a:solidFill>
                  <a:schemeClr val="bg1"/>
                </a:solidFill>
                <a:latin typeface="Segoe UI" panose="020B0502040204020203" pitchFamily="34" charset="0"/>
                <a:cs typeface="Segoe UI" panose="020B0502040204020203" pitchFamily="34" charset="0"/>
              </a:rPr>
              <a:t>3️⃣This suggests well-optimized targeting and product-market fit.</a:t>
            </a:r>
          </a:p>
          <a:p>
            <a:endParaRPr lang="en-US" sz="1200" dirty="0">
              <a:solidFill>
                <a:schemeClr val="bg1"/>
              </a:solidFill>
              <a:latin typeface="Segoe UI" panose="020B0502040204020203" pitchFamily="34" charset="0"/>
              <a:cs typeface="Segoe UI" panose="020B0502040204020203" pitchFamily="34" charset="0"/>
            </a:endParaRPr>
          </a:p>
          <a:p>
            <a:r>
              <a:rPr lang="en-US" sz="1200" dirty="0">
                <a:solidFill>
                  <a:schemeClr val="bg1"/>
                </a:solidFill>
                <a:latin typeface="Segoe UI" panose="020B0502040204020203" pitchFamily="34" charset="0"/>
                <a:cs typeface="Segoe UI" panose="020B0502040204020203" pitchFamily="34" charset="0"/>
              </a:rPr>
              <a:t>4️⃣Continued investment in top-performing campaigns could further boost ROI.</a:t>
            </a:r>
          </a:p>
        </p:txBody>
      </p:sp>
    </p:spTree>
    <p:extLst>
      <p:ext uri="{BB962C8B-B14F-4D97-AF65-F5344CB8AC3E}">
        <p14:creationId xmlns:p14="http://schemas.microsoft.com/office/powerpoint/2010/main" val="37280198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0E442-6A9E-C558-168C-2F32280D1E6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A9AD2BB-4F80-55D6-0A00-89FF29332F66}"/>
              </a:ext>
            </a:extLst>
          </p:cNvPr>
          <p:cNvPicPr>
            <a:picLocks noChangeAspect="1"/>
          </p:cNvPicPr>
          <p:nvPr/>
        </p:nvPicPr>
        <p:blipFill>
          <a:blip r:embed="rId2"/>
          <a:stretch>
            <a:fillRect/>
          </a:stretch>
        </p:blipFill>
        <p:spPr>
          <a:xfrm>
            <a:off x="1632064" y="2285937"/>
            <a:ext cx="3254261" cy="250037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Rectangle: Rounded Corners 8">
            <a:extLst>
              <a:ext uri="{FF2B5EF4-FFF2-40B4-BE49-F238E27FC236}">
                <a16:creationId xmlns:a16="http://schemas.microsoft.com/office/drawing/2014/main" id="{7981CACE-DB1B-F185-41AA-F353FA7A75BB}"/>
              </a:ext>
            </a:extLst>
          </p:cNvPr>
          <p:cNvSpPr/>
          <p:nvPr/>
        </p:nvSpPr>
        <p:spPr>
          <a:xfrm>
            <a:off x="535060" y="701644"/>
            <a:ext cx="5560940"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US" sz="2000" b="1" dirty="0">
                <a:solidFill>
                  <a:schemeClr val="bg1"/>
                </a:solidFill>
                <a:latin typeface="Segoe UI" panose="020B0502040204020203" pitchFamily="34" charset="0"/>
                <a:cs typeface="Segoe UI" panose="020B0502040204020203" pitchFamily="34" charset="0"/>
              </a:rPr>
              <a:t>         </a:t>
            </a:r>
          </a:p>
          <a:p>
            <a:r>
              <a:rPr lang="en-US" sz="2000" b="1" dirty="0">
                <a:solidFill>
                  <a:schemeClr val="tx1"/>
                </a:solidFill>
                <a:latin typeface="Segoe Script" panose="030B0504020000000003" pitchFamily="66" charset="0"/>
                <a:cs typeface="Segoe UI" panose="020B0502040204020203" pitchFamily="34" charset="0"/>
              </a:rPr>
              <a:t> </a:t>
            </a:r>
          </a:p>
          <a:p>
            <a:r>
              <a:rPr lang="en-US" sz="2400" b="1" dirty="0">
                <a:solidFill>
                  <a:schemeClr val="tx1"/>
                </a:solidFill>
                <a:latin typeface="Segoe Script" panose="030B0504020000000003" pitchFamily="66" charset="0"/>
                <a:cs typeface="Segoe UI" panose="020B0502040204020203" pitchFamily="34" charset="0"/>
              </a:rPr>
              <a:t>📈14. </a:t>
            </a:r>
            <a:r>
              <a:rPr lang="en-US" sz="2400" b="1" u="sng" dirty="0">
                <a:solidFill>
                  <a:schemeClr val="tx1"/>
                </a:solidFill>
                <a:latin typeface="Segoe Script" panose="030B0504020000000003" pitchFamily="66" charset="0"/>
                <a:cs typeface="Segoe UI" panose="020B0502040204020203" pitchFamily="34" charset="0"/>
              </a:rPr>
              <a:t>Order of month</a:t>
            </a:r>
            <a:endParaRPr lang="en-IN" sz="2400" b="1" u="sng"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effectLst>
                <a:outerShdw blurRad="38100" dist="38100" dir="2700000" algn="tl">
                  <a:srgbClr val="000000">
                    <a:alpha val="43137"/>
                  </a:srgbClr>
                </a:outerShdw>
              </a:effectLst>
              <a:latin typeface="Segoe Script" panose="030B0504020000000003" pitchFamily="66" charset="0"/>
              <a:cs typeface="Segoe UI" panose="020B0502040204020203" pitchFamily="34" charset="0"/>
            </a:endParaRPr>
          </a:p>
          <a:p>
            <a:pPr algn="ctr"/>
            <a:endParaRPr lang="en-US" dirty="0"/>
          </a:p>
        </p:txBody>
      </p:sp>
      <p:sp>
        <p:nvSpPr>
          <p:cNvPr id="10" name="Flowchart: Off-page Connector 9">
            <a:extLst>
              <a:ext uri="{FF2B5EF4-FFF2-40B4-BE49-F238E27FC236}">
                <a16:creationId xmlns:a16="http://schemas.microsoft.com/office/drawing/2014/main" id="{D8C5A32C-AD90-0742-5316-C8B6523D3A2F}"/>
              </a:ext>
            </a:extLst>
          </p:cNvPr>
          <p:cNvSpPr/>
          <p:nvPr/>
        </p:nvSpPr>
        <p:spPr>
          <a:xfrm>
            <a:off x="7001705" y="140109"/>
            <a:ext cx="3933965" cy="6577781"/>
          </a:xfrm>
          <a:prstGeom prst="flowChartOffpageConnector">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r>
              <a:rPr lang="en-US" sz="2800" b="1" dirty="0">
                <a:solidFill>
                  <a:schemeClr val="bg1"/>
                </a:solidFill>
                <a:latin typeface="Segoe UI" panose="020B0502040204020203" pitchFamily="34" charset="0"/>
                <a:cs typeface="Segoe UI" panose="020B0502040204020203" pitchFamily="34" charset="0"/>
              </a:rPr>
              <a:t>Insights : </a:t>
            </a:r>
          </a:p>
          <a:p>
            <a:endParaRPr lang="en-US" sz="2800" b="1" dirty="0">
              <a:solidFill>
                <a:schemeClr val="bg1"/>
              </a:solidFill>
              <a:latin typeface="Segoe UI" panose="020B0502040204020203" pitchFamily="34" charset="0"/>
              <a:cs typeface="Segoe UI" panose="020B0502040204020203" pitchFamily="34" charset="0"/>
            </a:endParaRPr>
          </a:p>
          <a:p>
            <a:r>
              <a:rPr lang="en-IN" sz="1600" dirty="0">
                <a:solidFill>
                  <a:schemeClr val="bg1"/>
                </a:solidFill>
                <a:latin typeface="Arial Narrow" panose="020B0606020202030204" pitchFamily="34" charset="0"/>
                <a:cs typeface="Segoe UI" panose="020B0502040204020203" pitchFamily="34" charset="0"/>
              </a:rPr>
              <a:t>1️⃣</a:t>
            </a:r>
            <a:r>
              <a:rPr lang="en-US" sz="1600" dirty="0">
                <a:solidFill>
                  <a:schemeClr val="bg1"/>
                </a:solidFill>
                <a:latin typeface="Arial Narrow" panose="020B0606020202030204" pitchFamily="34" charset="0"/>
                <a:cs typeface="Segoe UI" panose="020B0502040204020203" pitchFamily="34" charset="0"/>
              </a:rPr>
              <a:t>Orders peaked in May, then gradually declined through December.</a:t>
            </a:r>
          </a:p>
          <a:p>
            <a:endParaRPr lang="en-US" sz="1600" dirty="0">
              <a:solidFill>
                <a:schemeClr val="bg1"/>
              </a:solidFill>
              <a:latin typeface="Arial Narrow" panose="020B0606020202030204" pitchFamily="34" charset="0"/>
              <a:cs typeface="Segoe UI" panose="020B0502040204020203" pitchFamily="34" charset="0"/>
            </a:endParaRPr>
          </a:p>
          <a:p>
            <a:r>
              <a:rPr lang="en-US" sz="1600" dirty="0">
                <a:solidFill>
                  <a:schemeClr val="bg1"/>
                </a:solidFill>
                <a:latin typeface="Arial Narrow" panose="020B0606020202030204" pitchFamily="34" charset="0"/>
                <a:cs typeface="Segoe UI" panose="020B0502040204020203" pitchFamily="34" charset="0"/>
              </a:rPr>
              <a:t>2️⃣The trend indicates strong mid-year demand, possibly due to seasonal promotions or holidays.</a:t>
            </a:r>
          </a:p>
          <a:p>
            <a:endParaRPr lang="en-US" sz="1600" dirty="0">
              <a:solidFill>
                <a:schemeClr val="bg1"/>
              </a:solidFill>
              <a:latin typeface="Arial Narrow" panose="020B0606020202030204" pitchFamily="34" charset="0"/>
              <a:cs typeface="Segoe UI" panose="020B0502040204020203" pitchFamily="34" charset="0"/>
            </a:endParaRPr>
          </a:p>
          <a:p>
            <a:r>
              <a:rPr lang="en-US" sz="1600" dirty="0">
                <a:solidFill>
                  <a:schemeClr val="bg1"/>
                </a:solidFill>
                <a:latin typeface="Arial Narrow" panose="020B0606020202030204" pitchFamily="34" charset="0"/>
                <a:cs typeface="Segoe UI" panose="020B0502040204020203" pitchFamily="34" charset="0"/>
              </a:rPr>
              <a:t>3️⃣The drop in later months may signal reduced marketing push or changing consumer behavior.</a:t>
            </a:r>
          </a:p>
          <a:p>
            <a:endParaRPr lang="en-US" sz="1600" dirty="0">
              <a:solidFill>
                <a:schemeClr val="bg1"/>
              </a:solidFill>
              <a:latin typeface="Arial Narrow" panose="020B0606020202030204" pitchFamily="34" charset="0"/>
              <a:cs typeface="Segoe UI" panose="020B0502040204020203" pitchFamily="34" charset="0"/>
            </a:endParaRPr>
          </a:p>
          <a:p>
            <a:r>
              <a:rPr lang="en-US" sz="1600" dirty="0">
                <a:solidFill>
                  <a:schemeClr val="bg1"/>
                </a:solidFill>
                <a:latin typeface="Arial Narrow" panose="020B0606020202030204" pitchFamily="34" charset="0"/>
                <a:cs typeface="Segoe UI" panose="020B0502040204020203" pitchFamily="34" charset="0"/>
              </a:rPr>
              <a:t>4️⃣Planning future campaigns around peak months could maximize order </a:t>
            </a:r>
            <a:r>
              <a:rPr lang="en-US" sz="1600" dirty="0">
                <a:latin typeface="Arial Narrow" panose="020B0606020202030204" pitchFamily="34" charset="0"/>
                <a:cs typeface="Segoe UI" panose="020B0502040204020203" pitchFamily="34" charset="0"/>
              </a:rPr>
              <a:t>volume</a:t>
            </a:r>
            <a:endParaRPr lang="en-US" sz="1600" dirty="0">
              <a:solidFill>
                <a:schemeClr val="bg1"/>
              </a:solidFill>
              <a:latin typeface="Arial Narrow" panose="020B0606020202030204" pitchFamily="34" charset="0"/>
              <a:cs typeface="Segoe UI" panose="020B0502040204020203" pitchFamily="34" charset="0"/>
            </a:endParaRPr>
          </a:p>
        </p:txBody>
      </p:sp>
    </p:spTree>
    <p:extLst>
      <p:ext uri="{BB962C8B-B14F-4D97-AF65-F5344CB8AC3E}">
        <p14:creationId xmlns:p14="http://schemas.microsoft.com/office/powerpoint/2010/main" val="6817626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B114F-1EA1-A914-5EA8-38CC5A79096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837A180-AE5D-97E2-CFDE-D9FD3958D6D8}"/>
              </a:ext>
            </a:extLst>
          </p:cNvPr>
          <p:cNvPicPr>
            <a:picLocks noChangeAspect="1"/>
          </p:cNvPicPr>
          <p:nvPr/>
        </p:nvPicPr>
        <p:blipFill>
          <a:blip r:embed="rId2"/>
          <a:stretch>
            <a:fillRect/>
          </a:stretch>
        </p:blipFill>
        <p:spPr>
          <a:xfrm>
            <a:off x="1107281" y="2133151"/>
            <a:ext cx="4471987" cy="216306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Rectangle: Rounded Corners 8">
            <a:extLst>
              <a:ext uri="{FF2B5EF4-FFF2-40B4-BE49-F238E27FC236}">
                <a16:creationId xmlns:a16="http://schemas.microsoft.com/office/drawing/2014/main" id="{28C94DE6-825D-DC43-C030-3D6C0BABD025}"/>
              </a:ext>
            </a:extLst>
          </p:cNvPr>
          <p:cNvSpPr/>
          <p:nvPr/>
        </p:nvSpPr>
        <p:spPr>
          <a:xfrm>
            <a:off x="614362" y="461856"/>
            <a:ext cx="5457826"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US" sz="2000" b="1" dirty="0">
                <a:solidFill>
                  <a:schemeClr val="bg1"/>
                </a:solidFill>
                <a:latin typeface="Segoe UI" panose="020B0502040204020203" pitchFamily="34" charset="0"/>
                <a:cs typeface="Segoe UI" panose="020B0502040204020203" pitchFamily="34" charset="0"/>
              </a:rPr>
              <a:t>         </a:t>
            </a:r>
          </a:p>
          <a:p>
            <a:r>
              <a:rPr lang="en-US" sz="2000" b="1" dirty="0">
                <a:solidFill>
                  <a:schemeClr val="tx1"/>
                </a:solidFill>
                <a:latin typeface="Segoe Script" panose="030B0504020000000003" pitchFamily="66" charset="0"/>
                <a:cs typeface="Segoe UI" panose="020B0502040204020203" pitchFamily="34" charset="0"/>
              </a:rPr>
              <a:t> </a:t>
            </a:r>
          </a:p>
          <a:p>
            <a:r>
              <a:rPr lang="en-US" sz="2400" b="1" dirty="0">
                <a:solidFill>
                  <a:schemeClr val="tx1"/>
                </a:solidFill>
                <a:latin typeface="Segoe Script" panose="030B0504020000000003" pitchFamily="66" charset="0"/>
                <a:cs typeface="Segoe UI" panose="020B0502040204020203" pitchFamily="34" charset="0"/>
              </a:rPr>
              <a:t>💰 15. Total Revenue by Product Category</a:t>
            </a:r>
            <a:endParaRPr lang="en-IN" sz="2400" b="1"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effectLst>
                <a:outerShdw blurRad="38100" dist="38100" dir="2700000" algn="tl">
                  <a:srgbClr val="000000">
                    <a:alpha val="43137"/>
                  </a:srgbClr>
                </a:outerShdw>
              </a:effectLst>
              <a:latin typeface="Segoe Script" panose="030B0504020000000003" pitchFamily="66" charset="0"/>
              <a:cs typeface="Segoe UI" panose="020B0502040204020203" pitchFamily="34" charset="0"/>
            </a:endParaRPr>
          </a:p>
          <a:p>
            <a:pPr algn="ctr"/>
            <a:endParaRPr lang="en-US" dirty="0"/>
          </a:p>
        </p:txBody>
      </p:sp>
      <p:sp>
        <p:nvSpPr>
          <p:cNvPr id="10" name="Flowchart: Off-page Connector 9">
            <a:extLst>
              <a:ext uri="{FF2B5EF4-FFF2-40B4-BE49-F238E27FC236}">
                <a16:creationId xmlns:a16="http://schemas.microsoft.com/office/drawing/2014/main" id="{60AF0F07-CA13-8666-C9C2-0809FA428A43}"/>
              </a:ext>
            </a:extLst>
          </p:cNvPr>
          <p:cNvSpPr/>
          <p:nvPr/>
        </p:nvSpPr>
        <p:spPr>
          <a:xfrm>
            <a:off x="7105653" y="140109"/>
            <a:ext cx="3933965" cy="6577781"/>
          </a:xfrm>
          <a:prstGeom prst="flowChartOffpageConnector">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r>
              <a:rPr lang="en-US" sz="1400" dirty="0">
                <a:solidFill>
                  <a:schemeClr val="bg1"/>
                </a:solidFill>
                <a:latin typeface="Arial Black" panose="020B0A04020102020204" pitchFamily="34" charset="0"/>
              </a:rPr>
              <a:t>✅ </a:t>
            </a:r>
            <a:r>
              <a:rPr lang="en-US" sz="1400" b="1" dirty="0">
                <a:solidFill>
                  <a:schemeClr val="bg1"/>
                </a:solidFill>
                <a:latin typeface="Arial Black" panose="020B0A04020102020204" pitchFamily="34" charset="0"/>
              </a:rPr>
              <a:t>Primary Purpose:</a:t>
            </a:r>
            <a:br>
              <a:rPr lang="en-US" sz="1400" dirty="0">
                <a:solidFill>
                  <a:schemeClr val="bg1"/>
                </a:solidFill>
                <a:latin typeface="Arial Black" panose="020B0A04020102020204" pitchFamily="34" charset="0"/>
              </a:rPr>
            </a:br>
            <a:r>
              <a:rPr lang="en-US" sz="1400" dirty="0">
                <a:solidFill>
                  <a:schemeClr val="bg1"/>
                </a:solidFill>
                <a:latin typeface="Arial Black" panose="020B0A04020102020204" pitchFamily="34" charset="0"/>
              </a:rPr>
              <a:t>To </a:t>
            </a:r>
            <a:r>
              <a:rPr lang="en-US" sz="1400" b="1" dirty="0">
                <a:solidFill>
                  <a:schemeClr val="bg1"/>
                </a:solidFill>
                <a:latin typeface="Arial Black" panose="020B0A04020102020204" pitchFamily="34" charset="0"/>
              </a:rPr>
              <a:t>track and analyze the trend of daily orders over time</a:t>
            </a:r>
            <a:r>
              <a:rPr lang="en-US" sz="1400" dirty="0">
                <a:solidFill>
                  <a:schemeClr val="bg1"/>
                </a:solidFill>
                <a:latin typeface="Arial Black" panose="020B0A04020102020204" pitchFamily="34" charset="0"/>
              </a:rPr>
              <a:t>.</a:t>
            </a:r>
          </a:p>
          <a:p>
            <a:r>
              <a:rPr lang="en-US" sz="1400" dirty="0">
                <a:solidFill>
                  <a:schemeClr val="bg1"/>
                </a:solidFill>
                <a:latin typeface="Arial Black" panose="020B0A04020102020204" pitchFamily="34" charset="0"/>
              </a:rPr>
              <a:t>✅ </a:t>
            </a:r>
            <a:r>
              <a:rPr lang="en-US" sz="1400" b="1" dirty="0">
                <a:solidFill>
                  <a:schemeClr val="bg1"/>
                </a:solidFill>
                <a:latin typeface="Arial Black" panose="020B0A04020102020204" pitchFamily="34" charset="0"/>
              </a:rPr>
              <a:t>Why it is used:</a:t>
            </a:r>
            <a:endParaRPr lang="en-US" sz="1400" dirty="0">
              <a:solidFill>
                <a:schemeClr val="bg1"/>
              </a:solidFill>
              <a:latin typeface="Arial Black" panose="020B0A04020102020204" pitchFamily="34" charset="0"/>
            </a:endParaRPr>
          </a:p>
          <a:p>
            <a:r>
              <a:rPr lang="en-US" sz="1400" dirty="0">
                <a:solidFill>
                  <a:schemeClr val="bg1"/>
                </a:solidFill>
                <a:latin typeface="Arial Black" panose="020B0A04020102020204" pitchFamily="34" charset="0"/>
              </a:rPr>
              <a:t>To </a:t>
            </a:r>
            <a:r>
              <a:rPr lang="en-US" sz="1400" b="1" dirty="0">
                <a:solidFill>
                  <a:schemeClr val="bg1"/>
                </a:solidFill>
                <a:latin typeface="Arial Black" panose="020B0A04020102020204" pitchFamily="34" charset="0"/>
              </a:rPr>
              <a:t>observe patterns, growth, or decline</a:t>
            </a:r>
            <a:r>
              <a:rPr lang="en-US" sz="1400" dirty="0">
                <a:solidFill>
                  <a:schemeClr val="bg1"/>
                </a:solidFill>
                <a:latin typeface="Arial Black" panose="020B0A04020102020204" pitchFamily="34" charset="0"/>
              </a:rPr>
              <a:t> in orders on a daily basis.</a:t>
            </a:r>
          </a:p>
          <a:p>
            <a:r>
              <a:rPr lang="en-US" sz="1400" dirty="0">
                <a:solidFill>
                  <a:schemeClr val="bg1"/>
                </a:solidFill>
                <a:latin typeface="Arial Black" panose="020B0A04020102020204" pitchFamily="34" charset="0"/>
              </a:rPr>
              <a:t>To </a:t>
            </a:r>
            <a:r>
              <a:rPr lang="en-US" sz="1400" b="1" dirty="0">
                <a:solidFill>
                  <a:schemeClr val="bg1"/>
                </a:solidFill>
                <a:latin typeface="Arial Black" panose="020B0A04020102020204" pitchFamily="34" charset="0"/>
              </a:rPr>
              <a:t>identify seasonality or peak order periods</a:t>
            </a:r>
            <a:r>
              <a:rPr lang="en-US" sz="1400" dirty="0">
                <a:solidFill>
                  <a:schemeClr val="bg1"/>
                </a:solidFill>
                <a:latin typeface="Arial Black" panose="020B0A04020102020204" pitchFamily="34" charset="0"/>
              </a:rPr>
              <a:t> for strategic planning.</a:t>
            </a:r>
          </a:p>
          <a:p>
            <a:r>
              <a:rPr lang="en-US" sz="1400" dirty="0">
                <a:solidFill>
                  <a:schemeClr val="bg1"/>
                </a:solidFill>
                <a:latin typeface="Arial Black" panose="020B0A04020102020204" pitchFamily="34" charset="0"/>
              </a:rPr>
              <a:t>To </a:t>
            </a:r>
            <a:r>
              <a:rPr lang="en-US" sz="1400" b="1" dirty="0">
                <a:solidFill>
                  <a:schemeClr val="bg1"/>
                </a:solidFill>
                <a:latin typeface="Arial Black" panose="020B0A04020102020204" pitchFamily="34" charset="0"/>
              </a:rPr>
              <a:t>monitor operational performance</a:t>
            </a:r>
            <a:r>
              <a:rPr lang="en-US" sz="1400" dirty="0">
                <a:solidFill>
                  <a:schemeClr val="bg1"/>
                </a:solidFill>
                <a:latin typeface="Arial Black" panose="020B0A04020102020204" pitchFamily="34" charset="0"/>
              </a:rPr>
              <a:t> and adjust marketing or inventory based on order trends.</a:t>
            </a:r>
          </a:p>
        </p:txBody>
      </p:sp>
    </p:spTree>
    <p:extLst>
      <p:ext uri="{BB962C8B-B14F-4D97-AF65-F5344CB8AC3E}">
        <p14:creationId xmlns:p14="http://schemas.microsoft.com/office/powerpoint/2010/main" val="2031076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3D3C1-C475-3D20-04B8-6C737655054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A0293E3-7B46-4377-DF2D-B79A75F7993C}"/>
              </a:ext>
            </a:extLst>
          </p:cNvPr>
          <p:cNvSpPr txBox="1"/>
          <p:nvPr/>
        </p:nvSpPr>
        <p:spPr>
          <a:xfrm>
            <a:off x="638657" y="1063553"/>
            <a:ext cx="5457343" cy="523220"/>
          </a:xfrm>
          <a:prstGeom prst="rect">
            <a:avLst/>
          </a:prstGeom>
          <a:noFill/>
        </p:spPr>
        <p:txBody>
          <a:bodyPr wrap="square" rtlCol="0">
            <a:spAutoFit/>
          </a:bodyPr>
          <a:lstStyle/>
          <a:p>
            <a:r>
              <a:rPr lang="en-US" sz="2800" b="1" dirty="0">
                <a:solidFill>
                  <a:schemeClr val="bg1"/>
                </a:solidFill>
                <a:latin typeface="Segoe UI" panose="020B0502040204020203" pitchFamily="34" charset="0"/>
                <a:cs typeface="Segoe UI" panose="020B0502040204020203" pitchFamily="34" charset="0"/>
              </a:rPr>
              <a:t>🗣️ 22. Feedback Details</a:t>
            </a:r>
            <a:endParaRPr lang="en-IN" sz="2800" b="1" dirty="0">
              <a:solidFill>
                <a:schemeClr val="bg1"/>
              </a:solidFill>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2FBFE313-1FD0-9258-8D6D-FE020EB66121}"/>
              </a:ext>
            </a:extLst>
          </p:cNvPr>
          <p:cNvPicPr>
            <a:picLocks noChangeAspect="1"/>
          </p:cNvPicPr>
          <p:nvPr/>
        </p:nvPicPr>
        <p:blipFill>
          <a:blip r:embed="rId2"/>
          <a:stretch>
            <a:fillRect/>
          </a:stretch>
        </p:blipFill>
        <p:spPr>
          <a:xfrm>
            <a:off x="765212" y="2054180"/>
            <a:ext cx="5100636" cy="3333899"/>
          </a:xfrm>
          <a:prstGeom prst="rect">
            <a:avLst/>
          </a:prstGeom>
        </p:spPr>
      </p:pic>
      <p:sp>
        <p:nvSpPr>
          <p:cNvPr id="9" name="Rectangle: Rounded Corners 8">
            <a:extLst>
              <a:ext uri="{FF2B5EF4-FFF2-40B4-BE49-F238E27FC236}">
                <a16:creationId xmlns:a16="http://schemas.microsoft.com/office/drawing/2014/main" id="{5AC07024-5338-E492-75EA-4FC9E6D6351B}"/>
              </a:ext>
            </a:extLst>
          </p:cNvPr>
          <p:cNvSpPr/>
          <p:nvPr/>
        </p:nvSpPr>
        <p:spPr>
          <a:xfrm>
            <a:off x="535060" y="542132"/>
            <a:ext cx="5560940"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US" sz="2000" b="1" dirty="0">
                <a:solidFill>
                  <a:schemeClr val="bg1"/>
                </a:solidFill>
                <a:latin typeface="Segoe UI" panose="020B0502040204020203" pitchFamily="34" charset="0"/>
                <a:cs typeface="Segoe UI" panose="020B0502040204020203" pitchFamily="34" charset="0"/>
              </a:rPr>
              <a:t>         </a:t>
            </a:r>
          </a:p>
          <a:p>
            <a:r>
              <a:rPr lang="en-US" sz="2000" b="1" dirty="0">
                <a:solidFill>
                  <a:schemeClr val="tx1"/>
                </a:solidFill>
                <a:latin typeface="Segoe Script" panose="030B0504020000000003" pitchFamily="66" charset="0"/>
                <a:cs typeface="Segoe UI" panose="020B0502040204020203" pitchFamily="34" charset="0"/>
              </a:rPr>
              <a:t> </a:t>
            </a:r>
          </a:p>
          <a:p>
            <a:r>
              <a:rPr lang="en-US" sz="2400" b="1" dirty="0">
                <a:solidFill>
                  <a:schemeClr val="tx1"/>
                </a:solidFill>
                <a:latin typeface="Segoe Script" panose="030B0504020000000003" pitchFamily="66" charset="0"/>
                <a:cs typeface="Segoe UI" panose="020B0502040204020203" pitchFamily="34" charset="0"/>
              </a:rPr>
              <a:t>🗣️ 16. Feedback Details</a:t>
            </a:r>
            <a:endParaRPr lang="en-IN" sz="2400" b="1"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effectLst>
                <a:outerShdw blurRad="38100" dist="38100" dir="2700000" algn="tl">
                  <a:srgbClr val="000000">
                    <a:alpha val="43137"/>
                  </a:srgbClr>
                </a:outerShdw>
              </a:effectLst>
              <a:latin typeface="Segoe Script" panose="030B0504020000000003" pitchFamily="66" charset="0"/>
              <a:cs typeface="Segoe UI" panose="020B0502040204020203" pitchFamily="34" charset="0"/>
            </a:endParaRPr>
          </a:p>
          <a:p>
            <a:pPr algn="ctr"/>
            <a:endParaRPr lang="en-US" dirty="0"/>
          </a:p>
        </p:txBody>
      </p:sp>
      <p:sp>
        <p:nvSpPr>
          <p:cNvPr id="10" name="Flowchart: Off-page Connector 9">
            <a:extLst>
              <a:ext uri="{FF2B5EF4-FFF2-40B4-BE49-F238E27FC236}">
                <a16:creationId xmlns:a16="http://schemas.microsoft.com/office/drawing/2014/main" id="{4F1D36F6-1B5F-8E00-BA4C-D09233360D79}"/>
              </a:ext>
            </a:extLst>
          </p:cNvPr>
          <p:cNvSpPr/>
          <p:nvPr/>
        </p:nvSpPr>
        <p:spPr>
          <a:xfrm>
            <a:off x="7176947" y="140109"/>
            <a:ext cx="3933965" cy="6577781"/>
          </a:xfrm>
          <a:prstGeom prst="flowChartOffpageConnector">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r>
              <a:rPr lang="en-IN" sz="1400" dirty="0">
                <a:solidFill>
                  <a:schemeClr val="bg1"/>
                </a:solidFill>
                <a:latin typeface="Segoe UI" panose="020B0502040204020203" pitchFamily="34" charset="0"/>
                <a:cs typeface="Segoe UI" panose="020B0502040204020203" pitchFamily="34" charset="0"/>
              </a:rPr>
              <a:t>1️⃣</a:t>
            </a:r>
            <a:r>
              <a:rPr lang="en-US" sz="1400" b="1" dirty="0">
                <a:solidFill>
                  <a:schemeClr val="bg1"/>
                </a:solidFill>
                <a:latin typeface="Segoe UI" panose="020B0502040204020203" pitchFamily="34" charset="0"/>
                <a:cs typeface="Segoe UI" panose="020B0502040204020203" pitchFamily="34" charset="0"/>
              </a:rPr>
              <a:t>Insight:</a:t>
            </a:r>
          </a:p>
          <a:p>
            <a:endParaRPr lang="en-US" sz="1050" b="1"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400" dirty="0">
                <a:solidFill>
                  <a:schemeClr val="bg1"/>
                </a:solidFill>
                <a:latin typeface="Segoe UI" panose="020B0502040204020203" pitchFamily="34" charset="0"/>
                <a:cs typeface="Segoe UI" panose="020B0502040204020203" pitchFamily="34" charset="0"/>
              </a:rPr>
              <a:t>Mixed sentiments with ratings ranging from 1 to 5 across categories like “packaging issue” and “delayed delivery.</a:t>
            </a:r>
          </a:p>
          <a:p>
            <a:pPr marL="285750" indent="-285750">
              <a:buFont typeface="Arial" panose="020B0604020202020204" pitchFamily="34" charset="0"/>
              <a:buChar char="•"/>
            </a:pPr>
            <a:endParaRPr lang="en-US" sz="1400"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400" dirty="0">
                <a:solidFill>
                  <a:schemeClr val="bg1"/>
                </a:solidFill>
                <a:latin typeface="Segoe UI" panose="020B0502040204020203" pitchFamily="34" charset="0"/>
                <a:cs typeface="Segoe UI" panose="020B0502040204020203" pitchFamily="34" charset="0"/>
              </a:rPr>
              <a:t>”Negative feedback is linked primarily to service and logistics.</a:t>
            </a:r>
          </a:p>
          <a:p>
            <a:endParaRPr lang="en-US" sz="1400" dirty="0">
              <a:solidFill>
                <a:schemeClr val="bg1"/>
              </a:solidFill>
              <a:latin typeface="Segoe UI" panose="020B0502040204020203" pitchFamily="34" charset="0"/>
              <a:cs typeface="Segoe UI" panose="020B0502040204020203" pitchFamily="34" charset="0"/>
            </a:endParaRPr>
          </a:p>
          <a:p>
            <a:r>
              <a:rPr lang="en-US" sz="1400" dirty="0">
                <a:solidFill>
                  <a:schemeClr val="bg1"/>
                </a:solidFill>
                <a:latin typeface="Segoe UI" panose="020B0502040204020203" pitchFamily="34" charset="0"/>
                <a:cs typeface="Segoe UI" panose="020B0502040204020203" pitchFamily="34" charset="0"/>
              </a:rPr>
              <a:t>2️⃣</a:t>
            </a:r>
            <a:r>
              <a:rPr lang="en-US" sz="1400" b="1" dirty="0">
                <a:solidFill>
                  <a:schemeClr val="bg1"/>
                </a:solidFill>
                <a:latin typeface="Segoe UI" panose="020B0502040204020203" pitchFamily="34" charset="0"/>
                <a:cs typeface="Segoe UI" panose="020B0502040204020203" pitchFamily="34" charset="0"/>
              </a:rPr>
              <a:t>Observation:</a:t>
            </a:r>
          </a:p>
          <a:p>
            <a:endParaRPr lang="en-US" sz="1050" b="1"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400" dirty="0">
                <a:solidFill>
                  <a:schemeClr val="bg1"/>
                </a:solidFill>
                <a:latin typeface="Segoe UI" panose="020B0502040204020203" pitchFamily="34" charset="0"/>
                <a:cs typeface="Segoe UI" panose="020B0502040204020203" pitchFamily="34" charset="0"/>
              </a:rPr>
              <a:t>Prioritize improvements in packaging and delivery speed to enhance customer satisfaction and reduce churn.</a:t>
            </a:r>
          </a:p>
        </p:txBody>
      </p:sp>
    </p:spTree>
    <p:extLst>
      <p:ext uri="{BB962C8B-B14F-4D97-AF65-F5344CB8AC3E}">
        <p14:creationId xmlns:p14="http://schemas.microsoft.com/office/powerpoint/2010/main" val="16169569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45303-650F-4D70-6EC0-CAB0D9B287A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57F9558-EBCD-F125-4C04-256EE2436EAE}"/>
              </a:ext>
            </a:extLst>
          </p:cNvPr>
          <p:cNvSpPr txBox="1"/>
          <p:nvPr/>
        </p:nvSpPr>
        <p:spPr>
          <a:xfrm>
            <a:off x="443942" y="4061286"/>
            <a:ext cx="8785782" cy="2139047"/>
          </a:xfrm>
          <a:prstGeom prst="rect">
            <a:avLst/>
          </a:prstGeom>
          <a:noFill/>
        </p:spPr>
        <p:txBody>
          <a:bodyPr wrap="square" rtlCol="0">
            <a:spAutoFit/>
          </a:bodyPr>
          <a:lstStyle/>
          <a:p>
            <a:r>
              <a:rPr lang="en-IN" sz="1600" dirty="0">
                <a:solidFill>
                  <a:schemeClr val="bg1"/>
                </a:solidFill>
                <a:latin typeface="Segoe UI" panose="020B0502040204020203" pitchFamily="34" charset="0"/>
                <a:cs typeface="Segoe UI" panose="020B0502040204020203" pitchFamily="34" charset="0"/>
              </a:rPr>
              <a:t>1️⃣</a:t>
            </a:r>
            <a:r>
              <a:rPr lang="en-US" b="1" dirty="0">
                <a:solidFill>
                  <a:schemeClr val="bg1"/>
                </a:solidFill>
                <a:latin typeface="Segoe UI" panose="020B0502040204020203" pitchFamily="34" charset="0"/>
                <a:cs typeface="Segoe UI" panose="020B0502040204020203" pitchFamily="34" charset="0"/>
              </a:rPr>
              <a:t>Insight:</a:t>
            </a:r>
          </a:p>
          <a:p>
            <a:endParaRPr lang="en-US" sz="1100" b="1"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solidFill>
                  <a:schemeClr val="bg1"/>
                </a:solidFill>
                <a:latin typeface="Segoe UI" panose="020B0502040204020203" pitchFamily="34" charset="0"/>
                <a:cs typeface="Segoe UI" panose="020B0502040204020203" pitchFamily="34" charset="0"/>
              </a:rPr>
              <a:t>Highest spike observed on December 7; orders fluctuate daily.</a:t>
            </a:r>
          </a:p>
          <a:p>
            <a:pPr marL="285750" indent="-285750">
              <a:buFont typeface="Arial" panose="020B0604020202020204" pitchFamily="34" charset="0"/>
              <a:buChar char="•"/>
            </a:pPr>
            <a:r>
              <a:rPr lang="en-US" sz="1600" dirty="0">
                <a:solidFill>
                  <a:schemeClr val="bg1"/>
                </a:solidFill>
                <a:latin typeface="Segoe UI" panose="020B0502040204020203" pitchFamily="34" charset="0"/>
                <a:cs typeface="Segoe UI" panose="020B0502040204020203" pitchFamily="34" charset="0"/>
              </a:rPr>
              <a:t>Order volume shows unstable demand across the month.</a:t>
            </a:r>
          </a:p>
          <a:p>
            <a:endParaRPr lang="en-US" sz="1100" dirty="0">
              <a:solidFill>
                <a:schemeClr val="bg1"/>
              </a:solidFill>
              <a:latin typeface="Segoe UI" panose="020B0502040204020203" pitchFamily="34" charset="0"/>
              <a:cs typeface="Segoe UI" panose="020B0502040204020203" pitchFamily="34" charset="0"/>
            </a:endParaRPr>
          </a:p>
          <a:p>
            <a:r>
              <a:rPr lang="en-US" sz="1600" dirty="0">
                <a:solidFill>
                  <a:schemeClr val="bg1"/>
                </a:solidFill>
                <a:latin typeface="Segoe UI" panose="020B0502040204020203" pitchFamily="34" charset="0"/>
                <a:cs typeface="Segoe UI" panose="020B0502040204020203" pitchFamily="34" charset="0"/>
              </a:rPr>
              <a:t>2️⃣</a:t>
            </a:r>
            <a:r>
              <a:rPr lang="en-US" b="1" dirty="0">
                <a:solidFill>
                  <a:schemeClr val="bg1"/>
                </a:solidFill>
                <a:latin typeface="Segoe UI" panose="020B0502040204020203" pitchFamily="34" charset="0"/>
                <a:cs typeface="Segoe UI" panose="020B0502040204020203" pitchFamily="34" charset="0"/>
              </a:rPr>
              <a:t>Observation:</a:t>
            </a:r>
          </a:p>
          <a:p>
            <a:endParaRPr lang="en-US" sz="1100" b="1"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solidFill>
                  <a:schemeClr val="bg1"/>
                </a:solidFill>
                <a:latin typeface="Segoe UI" panose="020B0502040204020203" pitchFamily="34" charset="0"/>
                <a:cs typeface="Segoe UI" panose="020B0502040204020203" pitchFamily="34" charset="0"/>
              </a:rPr>
              <a:t>Promote consistent customer engagement during low-activity periods to maintain order flow.</a:t>
            </a:r>
            <a:endParaRPr lang="en-IN" sz="1600" dirty="0">
              <a:solidFill>
                <a:schemeClr val="bg1"/>
              </a:solidFill>
              <a:latin typeface="Segoe UI" panose="020B0502040204020203" pitchFamily="34" charset="0"/>
              <a:cs typeface="Segoe UI" panose="020B0502040204020203" pitchFamily="34" charset="0"/>
            </a:endParaRPr>
          </a:p>
        </p:txBody>
      </p:sp>
      <p:sp>
        <p:nvSpPr>
          <p:cNvPr id="8" name="TextBox 7">
            <a:extLst>
              <a:ext uri="{FF2B5EF4-FFF2-40B4-BE49-F238E27FC236}">
                <a16:creationId xmlns:a16="http://schemas.microsoft.com/office/drawing/2014/main" id="{DEBBD834-3D22-530F-0962-4FD6D30E2091}"/>
              </a:ext>
            </a:extLst>
          </p:cNvPr>
          <p:cNvSpPr txBox="1"/>
          <p:nvPr/>
        </p:nvSpPr>
        <p:spPr>
          <a:xfrm>
            <a:off x="2233542" y="45744"/>
            <a:ext cx="8579002" cy="523220"/>
          </a:xfrm>
          <a:prstGeom prst="rect">
            <a:avLst/>
          </a:prstGeom>
          <a:noFill/>
        </p:spPr>
        <p:txBody>
          <a:bodyPr wrap="square" rtlCol="0">
            <a:spAutoFit/>
          </a:bodyPr>
          <a:lstStyle/>
          <a:p>
            <a:r>
              <a:rPr lang="en-US" sz="2800" b="1" dirty="0">
                <a:latin typeface="Segoe UI" panose="020B0502040204020203" pitchFamily="34" charset="0"/>
                <a:cs typeface="Segoe UI" panose="020B0502040204020203" pitchFamily="34" charset="0"/>
              </a:rPr>
              <a:t>📈 </a:t>
            </a:r>
            <a:r>
              <a:rPr lang="en-US" sz="2800" b="1" dirty="0">
                <a:solidFill>
                  <a:schemeClr val="bg1"/>
                </a:solidFill>
                <a:latin typeface="Segoe UI" panose="020B0502040204020203" pitchFamily="34" charset="0"/>
                <a:cs typeface="Segoe UI" panose="020B0502040204020203" pitchFamily="34" charset="0"/>
              </a:rPr>
              <a:t>25. Daily Order Count Trend (December)</a:t>
            </a:r>
            <a:endParaRPr lang="en-IN" sz="2800" b="1" dirty="0">
              <a:solidFill>
                <a:schemeClr val="bg1"/>
              </a:solidFill>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A99F65D8-35E0-9E0E-67C8-098E9D58AC3C}"/>
              </a:ext>
            </a:extLst>
          </p:cNvPr>
          <p:cNvPicPr>
            <a:picLocks noChangeAspect="1"/>
          </p:cNvPicPr>
          <p:nvPr/>
        </p:nvPicPr>
        <p:blipFill>
          <a:blip r:embed="rId2"/>
          <a:stretch>
            <a:fillRect/>
          </a:stretch>
        </p:blipFill>
        <p:spPr>
          <a:xfrm>
            <a:off x="3185924" y="1742506"/>
            <a:ext cx="6043800" cy="213904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Rectangle: Rounded Corners 8">
            <a:extLst>
              <a:ext uri="{FF2B5EF4-FFF2-40B4-BE49-F238E27FC236}">
                <a16:creationId xmlns:a16="http://schemas.microsoft.com/office/drawing/2014/main" id="{919E678A-4DED-F81B-4A66-FBFCC3998C4D}"/>
              </a:ext>
            </a:extLst>
          </p:cNvPr>
          <p:cNvSpPr/>
          <p:nvPr/>
        </p:nvSpPr>
        <p:spPr>
          <a:xfrm>
            <a:off x="2233542" y="46643"/>
            <a:ext cx="7724916"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US" sz="2000" b="1" dirty="0">
                <a:solidFill>
                  <a:schemeClr val="bg1"/>
                </a:solidFill>
                <a:latin typeface="Segoe UI" panose="020B0502040204020203" pitchFamily="34" charset="0"/>
                <a:cs typeface="Segoe UI" panose="020B0502040204020203" pitchFamily="34" charset="0"/>
              </a:rPr>
              <a:t>         </a:t>
            </a:r>
          </a:p>
          <a:p>
            <a:r>
              <a:rPr lang="en-US" sz="2000" b="1" dirty="0">
                <a:solidFill>
                  <a:schemeClr val="tx1"/>
                </a:solidFill>
                <a:latin typeface="Segoe Script" panose="030B0504020000000003" pitchFamily="66" charset="0"/>
                <a:cs typeface="Segoe UI" panose="020B0502040204020203" pitchFamily="34" charset="0"/>
              </a:rPr>
              <a:t> </a:t>
            </a:r>
          </a:p>
          <a:p>
            <a:r>
              <a:rPr lang="en-US" sz="2400" b="1" dirty="0">
                <a:latin typeface="Segoe UI" panose="020B0502040204020203" pitchFamily="34" charset="0"/>
                <a:cs typeface="Segoe UI" panose="020B0502040204020203" pitchFamily="34" charset="0"/>
              </a:rPr>
              <a:t>📈 </a:t>
            </a:r>
            <a:r>
              <a:rPr lang="en-US" sz="2400" b="1" dirty="0">
                <a:solidFill>
                  <a:schemeClr val="tx1"/>
                </a:solidFill>
                <a:latin typeface="Segoe Script" panose="030B0504020000000003" pitchFamily="66" charset="0"/>
                <a:cs typeface="Segoe UI" panose="020B0502040204020203" pitchFamily="34" charset="0"/>
              </a:rPr>
              <a:t>17. Daily Order Count Trend (December)</a:t>
            </a:r>
            <a:endParaRPr lang="en-IN" sz="2400" b="1"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effectLst>
                <a:outerShdw blurRad="38100" dist="38100" dir="2700000" algn="tl">
                  <a:srgbClr val="000000">
                    <a:alpha val="43137"/>
                  </a:srgbClr>
                </a:outerShdw>
              </a:effectLst>
              <a:latin typeface="Segoe Script" panose="030B0504020000000003" pitchFamily="66" charset="0"/>
              <a:cs typeface="Segoe UI" panose="020B0502040204020203" pitchFamily="34" charset="0"/>
            </a:endParaRPr>
          </a:p>
          <a:p>
            <a:pPr algn="ctr"/>
            <a:endParaRPr lang="en-US" dirty="0"/>
          </a:p>
        </p:txBody>
      </p:sp>
    </p:spTree>
    <p:extLst>
      <p:ext uri="{BB962C8B-B14F-4D97-AF65-F5344CB8AC3E}">
        <p14:creationId xmlns:p14="http://schemas.microsoft.com/office/powerpoint/2010/main" val="472704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314F8-78F2-537E-7003-664A8F2509F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2501BF4-261A-DE39-92AB-D1940C744DC7}"/>
              </a:ext>
            </a:extLst>
          </p:cNvPr>
          <p:cNvSpPr txBox="1"/>
          <p:nvPr/>
        </p:nvSpPr>
        <p:spPr>
          <a:xfrm>
            <a:off x="1005349" y="3693319"/>
            <a:ext cx="8785782" cy="2462213"/>
          </a:xfrm>
          <a:prstGeom prst="rect">
            <a:avLst/>
          </a:prstGeom>
          <a:noFill/>
        </p:spPr>
        <p:txBody>
          <a:bodyPr wrap="square" rtlCol="0">
            <a:spAutoFit/>
          </a:bodyPr>
          <a:lstStyle/>
          <a:p>
            <a:r>
              <a:rPr lang="en-IN" sz="1600" dirty="0">
                <a:latin typeface="Segoe UI" panose="020B0502040204020203" pitchFamily="34" charset="0"/>
                <a:cs typeface="Segoe UI" panose="020B0502040204020203" pitchFamily="34" charset="0"/>
              </a:rPr>
              <a:t>1️⃣</a:t>
            </a:r>
            <a:r>
              <a:rPr lang="en-US" b="1" dirty="0">
                <a:solidFill>
                  <a:schemeClr val="bg1"/>
                </a:solidFill>
                <a:latin typeface="Segoe UI" panose="020B0502040204020203" pitchFamily="34" charset="0"/>
                <a:cs typeface="Segoe UI" panose="020B0502040204020203" pitchFamily="34" charset="0"/>
              </a:rPr>
              <a:t>Insight:</a:t>
            </a:r>
          </a:p>
          <a:p>
            <a:endParaRPr lang="en-US" sz="1100" b="1"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solidFill>
                  <a:schemeClr val="bg1"/>
                </a:solidFill>
                <a:latin typeface="Segoe UI" panose="020B0502040204020203" pitchFamily="34" charset="0"/>
                <a:cs typeface="Segoe UI" panose="020B0502040204020203" pitchFamily="34" charset="0"/>
              </a:rPr>
              <a:t>Products show monthly fluctuations with peaks in April, May, and August.</a:t>
            </a:r>
          </a:p>
          <a:p>
            <a:pPr marL="285750" indent="-285750">
              <a:buFont typeface="Arial" panose="020B0604020202020204" pitchFamily="34" charset="0"/>
              <a:buChar char="•"/>
            </a:pPr>
            <a:r>
              <a:rPr lang="en-US" sz="1600" dirty="0">
                <a:solidFill>
                  <a:schemeClr val="bg1"/>
                </a:solidFill>
                <a:latin typeface="Segoe UI" panose="020B0502040204020203" pitchFamily="34" charset="0"/>
                <a:cs typeface="Segoe UI" panose="020B0502040204020203" pitchFamily="34" charset="0"/>
              </a:rPr>
              <a:t>Consistent replenishment patterns suggest strategic alignment with seasonal or promotional cycles.</a:t>
            </a:r>
          </a:p>
          <a:p>
            <a:endParaRPr lang="en-US" sz="1100" dirty="0">
              <a:solidFill>
                <a:schemeClr val="bg1"/>
              </a:solidFill>
              <a:latin typeface="Segoe UI" panose="020B0502040204020203" pitchFamily="34" charset="0"/>
              <a:cs typeface="Segoe UI" panose="020B0502040204020203" pitchFamily="34" charset="0"/>
            </a:endParaRPr>
          </a:p>
          <a:p>
            <a:r>
              <a:rPr lang="en-US" sz="1600" dirty="0">
                <a:solidFill>
                  <a:schemeClr val="bg1"/>
                </a:solidFill>
                <a:latin typeface="Segoe UI" panose="020B0502040204020203" pitchFamily="34" charset="0"/>
                <a:cs typeface="Segoe UI" panose="020B0502040204020203" pitchFamily="34" charset="0"/>
              </a:rPr>
              <a:t>2️⃣</a:t>
            </a:r>
            <a:r>
              <a:rPr lang="en-US" b="1" dirty="0">
                <a:solidFill>
                  <a:schemeClr val="bg1"/>
                </a:solidFill>
                <a:latin typeface="Segoe UI" panose="020B0502040204020203" pitchFamily="34" charset="0"/>
                <a:cs typeface="Segoe UI" panose="020B0502040204020203" pitchFamily="34" charset="0"/>
              </a:rPr>
              <a:t>Observation:</a:t>
            </a:r>
          </a:p>
          <a:p>
            <a:endParaRPr lang="en-US" sz="1100" b="1"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solidFill>
                  <a:schemeClr val="bg1"/>
                </a:solidFill>
                <a:latin typeface="Segoe UI" panose="020B0502040204020203" pitchFamily="34" charset="0"/>
                <a:cs typeface="Segoe UI" panose="020B0502040204020203" pitchFamily="34" charset="0"/>
              </a:rPr>
              <a:t>Refining inventory planning around peak months can prevent overstock or understock issues.</a:t>
            </a:r>
            <a:endParaRPr lang="en-IN" sz="1600" dirty="0">
              <a:solidFill>
                <a:schemeClr val="bg1"/>
              </a:solidFill>
              <a:latin typeface="Segoe UI" panose="020B0502040204020203" pitchFamily="34" charset="0"/>
              <a:cs typeface="Segoe UI" panose="020B0502040204020203" pitchFamily="34" charset="0"/>
            </a:endParaRPr>
          </a:p>
        </p:txBody>
      </p:sp>
      <p:pic>
        <p:nvPicPr>
          <p:cNvPr id="6" name="Picture 5">
            <a:extLst>
              <a:ext uri="{FF2B5EF4-FFF2-40B4-BE49-F238E27FC236}">
                <a16:creationId xmlns:a16="http://schemas.microsoft.com/office/drawing/2014/main" id="{0C3B2575-5933-CBE2-B266-D4D8CA695411}"/>
              </a:ext>
            </a:extLst>
          </p:cNvPr>
          <p:cNvPicPr>
            <a:picLocks noChangeAspect="1"/>
          </p:cNvPicPr>
          <p:nvPr/>
        </p:nvPicPr>
        <p:blipFill>
          <a:blip r:embed="rId2"/>
          <a:stretch>
            <a:fillRect/>
          </a:stretch>
        </p:blipFill>
        <p:spPr>
          <a:xfrm>
            <a:off x="3909914" y="1231107"/>
            <a:ext cx="4372171" cy="246221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Rectangle: Rounded Corners 8">
            <a:extLst>
              <a:ext uri="{FF2B5EF4-FFF2-40B4-BE49-F238E27FC236}">
                <a16:creationId xmlns:a16="http://schemas.microsoft.com/office/drawing/2014/main" id="{DFFD5F67-DBAB-DB64-7E4B-FBB1615F447D}"/>
              </a:ext>
            </a:extLst>
          </p:cNvPr>
          <p:cNvSpPr/>
          <p:nvPr/>
        </p:nvSpPr>
        <p:spPr>
          <a:xfrm>
            <a:off x="3178248" y="87524"/>
            <a:ext cx="5560940" cy="869739"/>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US" sz="2000" b="1" dirty="0">
                <a:solidFill>
                  <a:schemeClr val="bg1"/>
                </a:solidFill>
                <a:latin typeface="Segoe UI" panose="020B0502040204020203" pitchFamily="34" charset="0"/>
                <a:cs typeface="Segoe UI" panose="020B0502040204020203" pitchFamily="34" charset="0"/>
              </a:rPr>
              <a:t>         </a:t>
            </a:r>
          </a:p>
          <a:p>
            <a:r>
              <a:rPr lang="en-US" sz="2000" b="1" dirty="0">
                <a:solidFill>
                  <a:schemeClr val="tx1"/>
                </a:solidFill>
                <a:latin typeface="Segoe Script" panose="030B0504020000000003" pitchFamily="66" charset="0"/>
                <a:cs typeface="Segoe UI" panose="020B0502040204020203" pitchFamily="34" charset="0"/>
              </a:rPr>
              <a:t> </a:t>
            </a:r>
          </a:p>
          <a:p>
            <a:r>
              <a:rPr lang="en-US" sz="2400" b="1" dirty="0">
                <a:solidFill>
                  <a:schemeClr val="tx1"/>
                </a:solidFill>
                <a:latin typeface="Segoe Script" panose="030B0504020000000003" pitchFamily="66" charset="0"/>
                <a:cs typeface="Segoe UI" panose="020B0502040204020203" pitchFamily="34" charset="0"/>
              </a:rPr>
              <a:t>📦 18. Stock Received Data</a:t>
            </a:r>
            <a:endParaRPr lang="en-IN" sz="2400" b="1"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effectLst>
                <a:outerShdw blurRad="38100" dist="38100" dir="2700000" algn="tl">
                  <a:srgbClr val="000000">
                    <a:alpha val="43137"/>
                  </a:srgbClr>
                </a:outerShdw>
              </a:effectLst>
              <a:latin typeface="Segoe Script" panose="030B0504020000000003" pitchFamily="66" charset="0"/>
              <a:cs typeface="Segoe UI" panose="020B0502040204020203" pitchFamily="34" charset="0"/>
            </a:endParaRPr>
          </a:p>
          <a:p>
            <a:pPr algn="ctr"/>
            <a:endParaRPr lang="en-US" dirty="0"/>
          </a:p>
        </p:txBody>
      </p:sp>
    </p:spTree>
    <p:extLst>
      <p:ext uri="{BB962C8B-B14F-4D97-AF65-F5344CB8AC3E}">
        <p14:creationId xmlns:p14="http://schemas.microsoft.com/office/powerpoint/2010/main" val="41627392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1BE3C-879F-22F8-EF61-8B6BACCD62E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7AC9CE0-78F9-EA62-6550-7821344150D5}"/>
              </a:ext>
            </a:extLst>
          </p:cNvPr>
          <p:cNvSpPr txBox="1"/>
          <p:nvPr/>
        </p:nvSpPr>
        <p:spPr>
          <a:xfrm>
            <a:off x="2244493" y="222936"/>
            <a:ext cx="8579002" cy="523220"/>
          </a:xfrm>
          <a:prstGeom prst="rect">
            <a:avLst/>
          </a:prstGeom>
          <a:noFill/>
        </p:spPr>
        <p:txBody>
          <a:bodyPr wrap="square" rtlCol="0">
            <a:spAutoFit/>
          </a:bodyPr>
          <a:lstStyle/>
          <a:p>
            <a:r>
              <a:rPr lang="en-US" sz="2800" b="1" dirty="0">
                <a:solidFill>
                  <a:schemeClr val="bg1"/>
                </a:solidFill>
                <a:latin typeface="Segoe UI" panose="020B0502040204020203" pitchFamily="34" charset="0"/>
                <a:cs typeface="Segoe UI" panose="020B0502040204020203" pitchFamily="34" charset="0"/>
              </a:rPr>
              <a:t>🌍 29. Order Frequency</a:t>
            </a:r>
            <a:endParaRPr lang="en-IN" sz="2800" b="1" dirty="0">
              <a:solidFill>
                <a:schemeClr val="bg1"/>
              </a:solidFill>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FD3F57F3-D7C7-2565-5445-ECDC41B1624B}"/>
              </a:ext>
            </a:extLst>
          </p:cNvPr>
          <p:cNvPicPr>
            <a:picLocks noChangeAspect="1"/>
          </p:cNvPicPr>
          <p:nvPr/>
        </p:nvPicPr>
        <p:blipFill>
          <a:blip r:embed="rId2"/>
          <a:stretch>
            <a:fillRect/>
          </a:stretch>
        </p:blipFill>
        <p:spPr>
          <a:xfrm>
            <a:off x="3266764" y="1112452"/>
            <a:ext cx="5334311" cy="261461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TextBox 9">
            <a:extLst>
              <a:ext uri="{FF2B5EF4-FFF2-40B4-BE49-F238E27FC236}">
                <a16:creationId xmlns:a16="http://schemas.microsoft.com/office/drawing/2014/main" id="{91799520-3A9A-FC5C-2C4E-E3EEDFE9F308}"/>
              </a:ext>
            </a:extLst>
          </p:cNvPr>
          <p:cNvSpPr txBox="1"/>
          <p:nvPr/>
        </p:nvSpPr>
        <p:spPr>
          <a:xfrm>
            <a:off x="1189434" y="3621890"/>
            <a:ext cx="6093618" cy="2123658"/>
          </a:xfrm>
          <a:prstGeom prst="rect">
            <a:avLst/>
          </a:prstGeom>
          <a:noFill/>
        </p:spPr>
        <p:txBody>
          <a:bodyPr wrap="square">
            <a:spAutoFit/>
          </a:bodyPr>
          <a:lstStyle/>
          <a:p>
            <a:pPr>
              <a:buNone/>
            </a:pPr>
            <a:r>
              <a:rPr lang="en-US" sz="2400" b="1" dirty="0">
                <a:solidFill>
                  <a:schemeClr val="bg1"/>
                </a:solidFill>
              </a:rPr>
              <a:t>Insight</a:t>
            </a:r>
          </a:p>
          <a:p>
            <a:pPr>
              <a:buNone/>
            </a:pPr>
            <a:r>
              <a:rPr lang="en-US" dirty="0">
                <a:solidFill>
                  <a:schemeClr val="bg1"/>
                </a:solidFill>
              </a:rPr>
              <a:t>🔷 </a:t>
            </a:r>
            <a:r>
              <a:rPr lang="en-US" b="1" dirty="0">
                <a:solidFill>
                  <a:schemeClr val="bg1"/>
                </a:solidFill>
              </a:rPr>
              <a:t>What it shows:</a:t>
            </a:r>
            <a:endParaRPr lang="en-US" dirty="0">
              <a:solidFill>
                <a:schemeClr val="bg1"/>
              </a:solidFill>
            </a:endParaRPr>
          </a:p>
          <a:p>
            <a:pPr>
              <a:buFont typeface="Arial" panose="020B0604020202020204" pitchFamily="34" charset="0"/>
              <a:buChar char="•"/>
            </a:pPr>
            <a:r>
              <a:rPr lang="en-US" dirty="0">
                <a:solidFill>
                  <a:schemeClr val="bg1"/>
                </a:solidFill>
              </a:rPr>
              <a:t>A </a:t>
            </a:r>
            <a:r>
              <a:rPr lang="en-US" b="1" dirty="0">
                <a:solidFill>
                  <a:schemeClr val="bg1"/>
                </a:solidFill>
              </a:rPr>
              <a:t>map visualizing order frequencies by geographical location</a:t>
            </a:r>
            <a:r>
              <a:rPr lang="en-US" dirty="0">
                <a:solidFill>
                  <a:schemeClr val="bg1"/>
                </a:solidFill>
              </a:rPr>
              <a:t>.</a:t>
            </a:r>
          </a:p>
          <a:p>
            <a:pPr>
              <a:buNone/>
            </a:pPr>
            <a:r>
              <a:rPr lang="en-US" dirty="0">
                <a:solidFill>
                  <a:schemeClr val="bg1"/>
                </a:solidFill>
              </a:rPr>
              <a:t>🔷 </a:t>
            </a:r>
            <a:r>
              <a:rPr lang="en-US" b="1" dirty="0">
                <a:solidFill>
                  <a:schemeClr val="bg1"/>
                </a:solidFill>
              </a:rPr>
              <a:t>Current Observation:</a:t>
            </a:r>
            <a:endParaRPr lang="en-US" dirty="0">
              <a:solidFill>
                <a:schemeClr val="bg1"/>
              </a:solidFill>
            </a:endParaRPr>
          </a:p>
          <a:p>
            <a:pPr>
              <a:buFont typeface="Arial" panose="020B0604020202020204" pitchFamily="34" charset="0"/>
              <a:buChar char="•"/>
            </a:pPr>
            <a:r>
              <a:rPr lang="en-US" dirty="0">
                <a:solidFill>
                  <a:schemeClr val="bg1"/>
                </a:solidFill>
              </a:rPr>
              <a:t>Very few data points are visible, indicating:</a:t>
            </a:r>
          </a:p>
          <a:p>
            <a:pPr marL="742950" lvl="1" indent="-285750">
              <a:buFont typeface="Arial" panose="020B0604020202020204" pitchFamily="34" charset="0"/>
              <a:buChar char="•"/>
            </a:pPr>
            <a:r>
              <a:rPr lang="en-US" b="1" dirty="0">
                <a:solidFill>
                  <a:schemeClr val="bg1"/>
                </a:solidFill>
              </a:rPr>
              <a:t>Low order density</a:t>
            </a:r>
            <a:r>
              <a:rPr lang="en-US" dirty="0">
                <a:solidFill>
                  <a:schemeClr val="bg1"/>
                </a:solidFill>
              </a:rPr>
              <a:t> across mapped regions, or</a:t>
            </a:r>
          </a:p>
          <a:p>
            <a:pPr marL="742950" lvl="1" indent="-285750">
              <a:buFont typeface="Arial" panose="020B0604020202020204" pitchFamily="34" charset="0"/>
              <a:buChar char="•"/>
            </a:pPr>
            <a:r>
              <a:rPr lang="en-US" b="1" dirty="0">
                <a:solidFill>
                  <a:schemeClr val="bg1"/>
                </a:solidFill>
              </a:rPr>
              <a:t>Incomplete geolocation data</a:t>
            </a:r>
            <a:r>
              <a:rPr lang="en-US" dirty="0">
                <a:solidFill>
                  <a:schemeClr val="bg1"/>
                </a:solidFill>
              </a:rPr>
              <a:t> for orders.</a:t>
            </a:r>
          </a:p>
        </p:txBody>
      </p:sp>
      <p:sp>
        <p:nvSpPr>
          <p:cNvPr id="11" name="Rectangle: Rounded Corners 10">
            <a:extLst>
              <a:ext uri="{FF2B5EF4-FFF2-40B4-BE49-F238E27FC236}">
                <a16:creationId xmlns:a16="http://schemas.microsoft.com/office/drawing/2014/main" id="{24AA06C9-A90C-8DF0-BBD2-345E1F9DF666}"/>
              </a:ext>
            </a:extLst>
          </p:cNvPr>
          <p:cNvSpPr/>
          <p:nvPr/>
        </p:nvSpPr>
        <p:spPr>
          <a:xfrm>
            <a:off x="1982030" y="198372"/>
            <a:ext cx="5560940" cy="67834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US" sz="2000" b="1" dirty="0">
                <a:solidFill>
                  <a:schemeClr val="bg1"/>
                </a:solidFill>
                <a:latin typeface="Segoe UI" panose="020B0502040204020203" pitchFamily="34" charset="0"/>
                <a:cs typeface="Segoe UI" panose="020B0502040204020203" pitchFamily="34" charset="0"/>
              </a:rPr>
              <a:t>         </a:t>
            </a:r>
          </a:p>
          <a:p>
            <a:r>
              <a:rPr lang="en-US" sz="2000" b="1" dirty="0">
                <a:solidFill>
                  <a:schemeClr val="tx1"/>
                </a:solidFill>
                <a:latin typeface="Segoe Script" panose="030B0504020000000003" pitchFamily="66" charset="0"/>
                <a:cs typeface="Segoe UI" panose="020B0502040204020203" pitchFamily="34" charset="0"/>
              </a:rPr>
              <a:t> </a:t>
            </a:r>
          </a:p>
          <a:p>
            <a:r>
              <a:rPr lang="en-US" sz="2400" b="1" dirty="0">
                <a:solidFill>
                  <a:schemeClr val="bg1"/>
                </a:solidFill>
                <a:latin typeface="Segoe UI" panose="020B0502040204020203" pitchFamily="34" charset="0"/>
                <a:cs typeface="Segoe UI" panose="020B0502040204020203" pitchFamily="34" charset="0"/>
              </a:rPr>
              <a:t>🌍 </a:t>
            </a:r>
            <a:r>
              <a:rPr lang="en-US" sz="2400" b="1" dirty="0">
                <a:solidFill>
                  <a:schemeClr val="tx1"/>
                </a:solidFill>
                <a:latin typeface="Segoe Script" panose="030B0504020000000003" pitchFamily="66" charset="0"/>
                <a:cs typeface="Segoe UI" panose="020B0502040204020203" pitchFamily="34" charset="0"/>
              </a:rPr>
              <a:t>19. Order Frequency</a:t>
            </a:r>
            <a:endParaRPr lang="en-IN" sz="2400" b="1"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effectLst>
                <a:outerShdw blurRad="38100" dist="38100" dir="2700000" algn="tl">
                  <a:srgbClr val="000000">
                    <a:alpha val="43137"/>
                  </a:srgbClr>
                </a:outerShdw>
              </a:effectLst>
              <a:latin typeface="Segoe Script" panose="030B0504020000000003" pitchFamily="66" charset="0"/>
              <a:cs typeface="Segoe UI" panose="020B0502040204020203" pitchFamily="34" charset="0"/>
            </a:endParaRPr>
          </a:p>
          <a:p>
            <a:pPr algn="ctr"/>
            <a:endParaRPr lang="en-US" dirty="0"/>
          </a:p>
        </p:txBody>
      </p:sp>
    </p:spTree>
    <p:extLst>
      <p:ext uri="{BB962C8B-B14F-4D97-AF65-F5344CB8AC3E}">
        <p14:creationId xmlns:p14="http://schemas.microsoft.com/office/powerpoint/2010/main" val="9428701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CE4E-9E1F-3ED1-AF96-C0EA21CF0EB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AF595CF-4DBB-F4C3-AB84-F67D725F9152}"/>
              </a:ext>
            </a:extLst>
          </p:cNvPr>
          <p:cNvSpPr txBox="1"/>
          <p:nvPr/>
        </p:nvSpPr>
        <p:spPr>
          <a:xfrm>
            <a:off x="1558368" y="3966278"/>
            <a:ext cx="8785782" cy="2185214"/>
          </a:xfrm>
          <a:prstGeom prst="rect">
            <a:avLst/>
          </a:prstGeom>
          <a:noFill/>
        </p:spPr>
        <p:txBody>
          <a:bodyPr wrap="square" rtlCol="0">
            <a:spAutoFit/>
          </a:bodyPr>
          <a:lstStyle/>
          <a:p>
            <a:r>
              <a:rPr lang="en-IN" dirty="0">
                <a:solidFill>
                  <a:schemeClr val="bg1"/>
                </a:solidFill>
                <a:latin typeface="Segoe UI" panose="020B0502040204020203" pitchFamily="34" charset="0"/>
                <a:cs typeface="Segoe UI" panose="020B0502040204020203" pitchFamily="34" charset="0"/>
              </a:rPr>
              <a:t>1️⃣</a:t>
            </a:r>
            <a:r>
              <a:rPr lang="en-US" b="1" dirty="0">
                <a:solidFill>
                  <a:schemeClr val="bg1"/>
                </a:solidFill>
                <a:latin typeface="Segoe UI" panose="020B0502040204020203" pitchFamily="34" charset="0"/>
                <a:cs typeface="Segoe UI" panose="020B0502040204020203" pitchFamily="34" charset="0"/>
              </a:rPr>
              <a:t>Insight:</a:t>
            </a:r>
          </a:p>
          <a:p>
            <a:endParaRPr lang="en-US" sz="1100" b="1"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solidFill>
                  <a:schemeClr val="bg1"/>
                </a:solidFill>
                <a:latin typeface="Segoe UI" panose="020B0502040204020203" pitchFamily="34" charset="0"/>
                <a:cs typeface="Segoe UI" panose="020B0502040204020203" pitchFamily="34" charset="0"/>
              </a:rPr>
              <a:t>Total revenue ; Vitamins, Pet Treats, and Cough Syrup are top contributors.</a:t>
            </a:r>
          </a:p>
          <a:p>
            <a:pPr marL="285750" indent="-285750">
              <a:buFont typeface="Arial" panose="020B0604020202020204" pitchFamily="34" charset="0"/>
              <a:buChar char="•"/>
            </a:pPr>
            <a:r>
              <a:rPr lang="en-US" sz="1600" dirty="0">
                <a:solidFill>
                  <a:schemeClr val="bg1"/>
                </a:solidFill>
                <a:latin typeface="Segoe UI" panose="020B0502040204020203" pitchFamily="34" charset="0"/>
                <a:cs typeface="Segoe UI" panose="020B0502040204020203" pitchFamily="34" charset="0"/>
              </a:rPr>
              <a:t>Sundaram Inc and Gole-Doshi lead within the Pharmacy category.</a:t>
            </a:r>
          </a:p>
          <a:p>
            <a:endParaRPr lang="en-US" sz="1100" dirty="0">
              <a:solidFill>
                <a:schemeClr val="bg1"/>
              </a:solidFill>
              <a:latin typeface="Segoe UI" panose="020B0502040204020203" pitchFamily="34" charset="0"/>
              <a:cs typeface="Segoe UI" panose="020B0502040204020203" pitchFamily="34" charset="0"/>
            </a:endParaRPr>
          </a:p>
          <a:p>
            <a:r>
              <a:rPr lang="en-US" b="1" dirty="0">
                <a:solidFill>
                  <a:schemeClr val="bg1"/>
                </a:solidFill>
                <a:latin typeface="Segoe UI" panose="020B0502040204020203" pitchFamily="34" charset="0"/>
                <a:cs typeface="Segoe UI" panose="020B0502040204020203" pitchFamily="34" charset="0"/>
              </a:rPr>
              <a:t>2️⃣Observation:</a:t>
            </a:r>
          </a:p>
          <a:p>
            <a:endParaRPr lang="en-US" sz="1100"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solidFill>
                  <a:schemeClr val="bg1"/>
                </a:solidFill>
                <a:latin typeface="Segoe UI" panose="020B0502040204020203" pitchFamily="34" charset="0"/>
                <a:cs typeface="Segoe UI" panose="020B0502040204020203" pitchFamily="34" charset="0"/>
              </a:rPr>
              <a:t>Pharmacy and Pet categories are strong revenue drivers.</a:t>
            </a:r>
          </a:p>
          <a:p>
            <a:pPr marL="285750" indent="-285750">
              <a:buFont typeface="Arial" panose="020B0604020202020204" pitchFamily="34" charset="0"/>
              <a:buChar char="•"/>
            </a:pPr>
            <a:r>
              <a:rPr lang="en-US" sz="1600" dirty="0">
                <a:solidFill>
                  <a:schemeClr val="bg1"/>
                </a:solidFill>
                <a:latin typeface="Segoe UI" panose="020B0502040204020203" pitchFamily="34" charset="0"/>
                <a:cs typeface="Segoe UI" panose="020B0502040204020203" pitchFamily="34" charset="0"/>
              </a:rPr>
              <a:t>Focused promotions on these segments could boost overall sales..</a:t>
            </a:r>
            <a:endParaRPr lang="en-IN" sz="1600" dirty="0">
              <a:solidFill>
                <a:schemeClr val="bg1"/>
              </a:solidFill>
              <a:latin typeface="Segoe UI" panose="020B0502040204020203" pitchFamily="34" charset="0"/>
              <a:cs typeface="Segoe UI" panose="020B0502040204020203" pitchFamily="34" charset="0"/>
            </a:endParaRPr>
          </a:p>
        </p:txBody>
      </p:sp>
      <p:pic>
        <p:nvPicPr>
          <p:cNvPr id="6" name="Picture 5">
            <a:extLst>
              <a:ext uri="{FF2B5EF4-FFF2-40B4-BE49-F238E27FC236}">
                <a16:creationId xmlns:a16="http://schemas.microsoft.com/office/drawing/2014/main" id="{1600DA06-8AAF-45A1-3507-06E2DEC851FB}"/>
              </a:ext>
            </a:extLst>
          </p:cNvPr>
          <p:cNvPicPr>
            <a:picLocks noChangeAspect="1"/>
          </p:cNvPicPr>
          <p:nvPr/>
        </p:nvPicPr>
        <p:blipFill>
          <a:blip r:embed="rId2"/>
          <a:stretch>
            <a:fillRect/>
          </a:stretch>
        </p:blipFill>
        <p:spPr>
          <a:xfrm>
            <a:off x="4690864" y="1279688"/>
            <a:ext cx="3981647" cy="249566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Rectangle: Rounded Corners 8">
            <a:extLst>
              <a:ext uri="{FF2B5EF4-FFF2-40B4-BE49-F238E27FC236}">
                <a16:creationId xmlns:a16="http://schemas.microsoft.com/office/drawing/2014/main" id="{675E8968-7578-24EB-C285-0A633B3F105A}"/>
              </a:ext>
            </a:extLst>
          </p:cNvPr>
          <p:cNvSpPr/>
          <p:nvPr/>
        </p:nvSpPr>
        <p:spPr>
          <a:xfrm>
            <a:off x="2711522" y="192159"/>
            <a:ext cx="7632628" cy="793680"/>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US" sz="2000" b="1" dirty="0">
                <a:solidFill>
                  <a:schemeClr val="bg1"/>
                </a:solidFill>
                <a:latin typeface="Segoe UI" panose="020B0502040204020203" pitchFamily="34" charset="0"/>
                <a:cs typeface="Segoe UI" panose="020B0502040204020203" pitchFamily="34" charset="0"/>
              </a:rPr>
              <a:t>         </a:t>
            </a:r>
          </a:p>
          <a:p>
            <a:r>
              <a:rPr lang="en-US" sz="2000" b="1" dirty="0">
                <a:solidFill>
                  <a:schemeClr val="tx1"/>
                </a:solidFill>
                <a:latin typeface="Segoe Script" panose="030B0504020000000003" pitchFamily="66" charset="0"/>
                <a:cs typeface="Segoe UI" panose="020B0502040204020203" pitchFamily="34" charset="0"/>
              </a:rPr>
              <a:t> </a:t>
            </a:r>
          </a:p>
          <a:p>
            <a:r>
              <a:rPr lang="en-US" sz="2400" b="1" dirty="0">
                <a:solidFill>
                  <a:schemeClr val="tx1"/>
                </a:solidFill>
                <a:latin typeface="Segoe Script" panose="030B0504020000000003" pitchFamily="66" charset="0"/>
                <a:cs typeface="Segoe UI" panose="020B0502040204020203" pitchFamily="34" charset="0"/>
              </a:rPr>
              <a:t>🌳 20. Decomposition Tree – Product Sales</a:t>
            </a:r>
            <a:endParaRPr lang="en-IN" sz="2400" b="1"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effectLst>
                <a:outerShdw blurRad="38100" dist="38100" dir="2700000" algn="tl">
                  <a:srgbClr val="000000">
                    <a:alpha val="43137"/>
                  </a:srgbClr>
                </a:outerShdw>
              </a:effectLst>
              <a:latin typeface="Segoe Script" panose="030B0504020000000003" pitchFamily="66" charset="0"/>
              <a:cs typeface="Segoe UI" panose="020B0502040204020203" pitchFamily="34" charset="0"/>
            </a:endParaRPr>
          </a:p>
          <a:p>
            <a:pPr algn="ctr"/>
            <a:endParaRPr lang="en-US" dirty="0"/>
          </a:p>
        </p:txBody>
      </p:sp>
    </p:spTree>
    <p:extLst>
      <p:ext uri="{BB962C8B-B14F-4D97-AF65-F5344CB8AC3E}">
        <p14:creationId xmlns:p14="http://schemas.microsoft.com/office/powerpoint/2010/main" val="14852430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B0A2B-6919-28EE-F9E0-C8B13295BC5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6D05AE9-2920-BE26-08B9-2E5D3D747C3C}"/>
              </a:ext>
            </a:extLst>
          </p:cNvPr>
          <p:cNvPicPr>
            <a:picLocks noChangeAspect="1"/>
          </p:cNvPicPr>
          <p:nvPr/>
        </p:nvPicPr>
        <p:blipFill>
          <a:blip r:embed="rId2"/>
          <a:stretch>
            <a:fillRect/>
          </a:stretch>
        </p:blipFill>
        <p:spPr>
          <a:xfrm>
            <a:off x="760024" y="1876152"/>
            <a:ext cx="4605299" cy="373883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Rectangle: Rounded Corners 8">
            <a:extLst>
              <a:ext uri="{FF2B5EF4-FFF2-40B4-BE49-F238E27FC236}">
                <a16:creationId xmlns:a16="http://schemas.microsoft.com/office/drawing/2014/main" id="{CFFFB240-FA30-997D-8EA2-EF2C0E1E909D}"/>
              </a:ext>
            </a:extLst>
          </p:cNvPr>
          <p:cNvSpPr/>
          <p:nvPr/>
        </p:nvSpPr>
        <p:spPr>
          <a:xfrm>
            <a:off x="1203361" y="241234"/>
            <a:ext cx="5560940"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US" sz="2000" b="1" dirty="0">
                <a:solidFill>
                  <a:schemeClr val="bg1"/>
                </a:solidFill>
                <a:latin typeface="Segoe UI" panose="020B0502040204020203" pitchFamily="34" charset="0"/>
                <a:cs typeface="Segoe UI" panose="020B0502040204020203" pitchFamily="34" charset="0"/>
              </a:rPr>
              <a:t>         </a:t>
            </a:r>
          </a:p>
          <a:p>
            <a:r>
              <a:rPr lang="en-US" sz="2000" b="1" dirty="0">
                <a:solidFill>
                  <a:schemeClr val="tx1"/>
                </a:solidFill>
                <a:latin typeface="Segoe Script" panose="030B0504020000000003" pitchFamily="66" charset="0"/>
                <a:cs typeface="Segoe UI" panose="020B0502040204020203" pitchFamily="34" charset="0"/>
              </a:rPr>
              <a:t> </a:t>
            </a:r>
            <a:r>
              <a:rPr lang="en-US" sz="2400" b="1" dirty="0">
                <a:solidFill>
                  <a:schemeClr val="tx1"/>
                </a:solidFill>
                <a:latin typeface="Segoe Script" panose="030B0504020000000003" pitchFamily="66" charset="0"/>
                <a:cs typeface="Segoe UI" panose="020B0502040204020203" pitchFamily="34" charset="0"/>
              </a:rPr>
              <a:t>👶 21. Rated Product </a:t>
            </a:r>
            <a:endParaRPr lang="en-IN" sz="2400" b="1" u="sng"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effectLst>
                <a:outerShdw blurRad="38100" dist="38100" dir="2700000" algn="tl">
                  <a:srgbClr val="000000">
                    <a:alpha val="43137"/>
                  </a:srgbClr>
                </a:outerShdw>
              </a:effectLst>
              <a:latin typeface="Segoe Script" panose="030B0504020000000003" pitchFamily="66" charset="0"/>
              <a:cs typeface="Segoe UI" panose="020B0502040204020203" pitchFamily="34" charset="0"/>
            </a:endParaRPr>
          </a:p>
          <a:p>
            <a:pPr algn="ctr"/>
            <a:endParaRPr lang="en-US" dirty="0"/>
          </a:p>
        </p:txBody>
      </p:sp>
      <p:sp>
        <p:nvSpPr>
          <p:cNvPr id="10" name="Flowchart: Off-page Connector 9">
            <a:extLst>
              <a:ext uri="{FF2B5EF4-FFF2-40B4-BE49-F238E27FC236}">
                <a16:creationId xmlns:a16="http://schemas.microsoft.com/office/drawing/2014/main" id="{9AC2ECD9-25B1-D486-DB5A-504C10610A5C}"/>
              </a:ext>
            </a:extLst>
          </p:cNvPr>
          <p:cNvSpPr/>
          <p:nvPr/>
        </p:nvSpPr>
        <p:spPr>
          <a:xfrm>
            <a:off x="7498011" y="169797"/>
            <a:ext cx="3933965" cy="6577781"/>
          </a:xfrm>
          <a:prstGeom prst="flowChartOffpageConnector">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r>
              <a:rPr lang="en-IN" sz="1400" dirty="0">
                <a:solidFill>
                  <a:schemeClr val="bg1"/>
                </a:solidFill>
                <a:latin typeface="Segoe UI" panose="020B0502040204020203" pitchFamily="34" charset="0"/>
                <a:cs typeface="Segoe UI" panose="020B0502040204020203" pitchFamily="34" charset="0"/>
              </a:rPr>
              <a:t>1️⃣</a:t>
            </a:r>
            <a:r>
              <a:rPr lang="en-US" sz="1400" b="1" dirty="0">
                <a:solidFill>
                  <a:schemeClr val="bg1"/>
                </a:solidFill>
                <a:latin typeface="Segoe UI" panose="020B0502040204020203" pitchFamily="34" charset="0"/>
                <a:cs typeface="Segoe UI" panose="020B0502040204020203" pitchFamily="34" charset="0"/>
              </a:rPr>
              <a:t>Insight:</a:t>
            </a:r>
          </a:p>
          <a:p>
            <a:endParaRPr lang="en-US" sz="1050" b="1"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400" dirty="0">
                <a:solidFill>
                  <a:schemeClr val="bg1"/>
                </a:solidFill>
                <a:latin typeface="Segoe UI" panose="020B0502040204020203" pitchFamily="34" charset="0"/>
                <a:cs typeface="Segoe UI" panose="020B0502040204020203" pitchFamily="34" charset="0"/>
              </a:rPr>
              <a:t>Baby Care products show a wide spread of ratings from 1 to 4 stars.</a:t>
            </a:r>
          </a:p>
          <a:p>
            <a:pPr marL="285750" indent="-285750">
              <a:buFont typeface="Arial" panose="020B0604020202020204" pitchFamily="34" charset="0"/>
              <a:buChar char="•"/>
            </a:pPr>
            <a:r>
              <a:rPr lang="en-US" sz="1400" dirty="0">
                <a:solidFill>
                  <a:schemeClr val="bg1"/>
                </a:solidFill>
                <a:latin typeface="Segoe UI" panose="020B0502040204020203" pitchFamily="34" charset="0"/>
                <a:cs typeface="Segoe UI" panose="020B0502040204020203" pitchFamily="34" charset="0"/>
              </a:rPr>
              <a:t>Most ratings cluster around 2 and 3 stars, indicating mixed experiences.</a:t>
            </a:r>
          </a:p>
          <a:p>
            <a:pPr marL="285750" indent="-285750">
              <a:buFont typeface="Arial" panose="020B0604020202020204" pitchFamily="34" charset="0"/>
              <a:buChar char="•"/>
            </a:pPr>
            <a:endParaRPr lang="en-US" sz="1050" dirty="0">
              <a:solidFill>
                <a:schemeClr val="bg1"/>
              </a:solidFill>
              <a:latin typeface="Segoe UI" panose="020B0502040204020203" pitchFamily="34" charset="0"/>
              <a:cs typeface="Segoe UI" panose="020B0502040204020203" pitchFamily="34" charset="0"/>
            </a:endParaRPr>
          </a:p>
          <a:p>
            <a:r>
              <a:rPr lang="en-US" sz="1400" b="1" dirty="0">
                <a:solidFill>
                  <a:schemeClr val="bg1"/>
                </a:solidFill>
                <a:latin typeface="Segoe UI" panose="020B0502040204020203" pitchFamily="34" charset="0"/>
                <a:cs typeface="Segoe UI" panose="020B0502040204020203" pitchFamily="34" charset="0"/>
              </a:rPr>
              <a:t>2️⃣Observation:</a:t>
            </a:r>
          </a:p>
          <a:p>
            <a:endParaRPr lang="en-US" sz="1050" b="1"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400" dirty="0">
                <a:solidFill>
                  <a:schemeClr val="bg1"/>
                </a:solidFill>
                <a:latin typeface="Segoe UI" panose="020B0502040204020203" pitchFamily="34" charset="0"/>
                <a:cs typeface="Segoe UI" panose="020B0502040204020203" pitchFamily="34" charset="0"/>
              </a:rPr>
              <a:t>Negative sentiment (1–2 stars) may reflect issues with product quality or expectations.</a:t>
            </a:r>
          </a:p>
          <a:p>
            <a:pPr marL="285750" indent="-285750">
              <a:buFont typeface="Arial" panose="020B0604020202020204" pitchFamily="34" charset="0"/>
              <a:buChar char="•"/>
            </a:pPr>
            <a:r>
              <a:rPr lang="en-US" sz="1400" dirty="0">
                <a:solidFill>
                  <a:schemeClr val="bg1"/>
                </a:solidFill>
                <a:latin typeface="Segoe UI" panose="020B0502040204020203" pitchFamily="34" charset="0"/>
                <a:cs typeface="Segoe UI" panose="020B0502040204020203" pitchFamily="34" charset="0"/>
              </a:rPr>
              <a:t>Investigate specific complaints to improve trust in this sensitive category</a:t>
            </a:r>
          </a:p>
        </p:txBody>
      </p:sp>
    </p:spTree>
    <p:extLst>
      <p:ext uri="{BB962C8B-B14F-4D97-AF65-F5344CB8AC3E}">
        <p14:creationId xmlns:p14="http://schemas.microsoft.com/office/powerpoint/2010/main" val="1603130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36F5F-BE24-6BBF-8926-5C433D1DD56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BA16E54-7EE0-7EBC-627B-C4405EE08015}"/>
              </a:ext>
            </a:extLst>
          </p:cNvPr>
          <p:cNvPicPr>
            <a:picLocks noChangeAspect="1"/>
          </p:cNvPicPr>
          <p:nvPr/>
        </p:nvPicPr>
        <p:blipFill>
          <a:blip r:embed="rId2"/>
          <a:stretch>
            <a:fillRect/>
          </a:stretch>
        </p:blipFill>
        <p:spPr>
          <a:xfrm>
            <a:off x="1684298" y="1983506"/>
            <a:ext cx="4081613" cy="289098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Rectangle: Rounded Corners 8">
            <a:extLst>
              <a:ext uri="{FF2B5EF4-FFF2-40B4-BE49-F238E27FC236}">
                <a16:creationId xmlns:a16="http://schemas.microsoft.com/office/drawing/2014/main" id="{D193BC85-8EBC-1441-574B-A407F8AA88A5}"/>
              </a:ext>
            </a:extLst>
          </p:cNvPr>
          <p:cNvSpPr/>
          <p:nvPr/>
        </p:nvSpPr>
        <p:spPr>
          <a:xfrm>
            <a:off x="620785" y="333750"/>
            <a:ext cx="6208640" cy="104464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b="1" dirty="0">
              <a:solidFill>
                <a:schemeClr val="accent6">
                  <a:lumMod val="50000"/>
                </a:schemeClr>
              </a:solidFill>
              <a:latin typeface="Segoe UI" panose="020B0502040204020203" pitchFamily="34" charset="0"/>
              <a:cs typeface="Segoe UI" panose="020B0502040204020203" pitchFamily="34" charset="0"/>
            </a:endParaRPr>
          </a:p>
          <a:p>
            <a:r>
              <a:rPr lang="en-US" sz="2000" b="1" dirty="0">
                <a:solidFill>
                  <a:schemeClr val="bg1"/>
                </a:solidFill>
                <a:latin typeface="Segoe UI" panose="020B0502040204020203" pitchFamily="34" charset="0"/>
                <a:cs typeface="Segoe UI" panose="020B0502040204020203" pitchFamily="34" charset="0"/>
              </a:rPr>
              <a:t>         </a:t>
            </a:r>
          </a:p>
          <a:p>
            <a:r>
              <a:rPr lang="en-US" sz="2000" b="1" dirty="0">
                <a:solidFill>
                  <a:schemeClr val="tx1"/>
                </a:solidFill>
                <a:latin typeface="Segoe Script" panose="030B0504020000000003" pitchFamily="66" charset="0"/>
                <a:cs typeface="Segoe UI" panose="020B0502040204020203" pitchFamily="34" charset="0"/>
              </a:rPr>
              <a:t> </a:t>
            </a:r>
          </a:p>
          <a:p>
            <a:r>
              <a:rPr lang="en-US" sz="2400" b="1" dirty="0">
                <a:solidFill>
                  <a:schemeClr val="tx1"/>
                </a:solidFill>
                <a:latin typeface="Segoe Script" panose="030B0504020000000003" pitchFamily="66" charset="0"/>
                <a:cs typeface="Segoe UI" panose="020B0502040204020203" pitchFamily="34" charset="0"/>
              </a:rPr>
              <a:t>📊 37.Overall Ratings  Breakdown</a:t>
            </a:r>
            <a:endParaRPr lang="en-IN" sz="2400" b="1"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latin typeface="Segoe Script" panose="030B0504020000000003" pitchFamily="66" charset="0"/>
              <a:cs typeface="Segoe UI" panose="020B0502040204020203" pitchFamily="34" charset="0"/>
            </a:endParaRPr>
          </a:p>
          <a:p>
            <a:endParaRPr lang="en-IN" sz="2400" b="1" u="sng" dirty="0">
              <a:solidFill>
                <a:schemeClr val="tx1"/>
              </a:solidFill>
              <a:effectLst>
                <a:outerShdw blurRad="38100" dist="38100" dir="2700000" algn="tl">
                  <a:srgbClr val="000000">
                    <a:alpha val="43137"/>
                  </a:srgbClr>
                </a:outerShdw>
              </a:effectLst>
              <a:latin typeface="Segoe Script" panose="030B0504020000000003" pitchFamily="66" charset="0"/>
              <a:cs typeface="Segoe UI" panose="020B0502040204020203" pitchFamily="34" charset="0"/>
            </a:endParaRPr>
          </a:p>
          <a:p>
            <a:pPr algn="ctr"/>
            <a:endParaRPr lang="en-US" dirty="0"/>
          </a:p>
        </p:txBody>
      </p:sp>
      <p:sp>
        <p:nvSpPr>
          <p:cNvPr id="10" name="Flowchart: Off-page Connector 9">
            <a:extLst>
              <a:ext uri="{FF2B5EF4-FFF2-40B4-BE49-F238E27FC236}">
                <a16:creationId xmlns:a16="http://schemas.microsoft.com/office/drawing/2014/main" id="{D8143B27-9950-DD2A-C14D-34FCC12E090E}"/>
              </a:ext>
            </a:extLst>
          </p:cNvPr>
          <p:cNvSpPr/>
          <p:nvPr/>
        </p:nvSpPr>
        <p:spPr>
          <a:xfrm>
            <a:off x="7483723" y="140108"/>
            <a:ext cx="3933965" cy="6577781"/>
          </a:xfrm>
          <a:prstGeom prst="flowChartOffpageConnector">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pPr lvl="0" eaLnBrk="0" fontAlgn="base" hangingPunct="0">
              <a:spcBef>
                <a:spcPct val="0"/>
              </a:spcBef>
              <a:spcAft>
                <a:spcPct val="0"/>
              </a:spcAft>
            </a:pPr>
            <a:endParaRPr lang="en-US" altLang="en-US" b="1" u="sng" dirty="0">
              <a:solidFill>
                <a:schemeClr val="bg1"/>
              </a:solidFill>
              <a:latin typeface="Arial" panose="020B0604020202020204" pitchFamily="34" charset="0"/>
            </a:endParaRPr>
          </a:p>
          <a:p>
            <a:r>
              <a:rPr lang="en-IN" sz="1400" dirty="0">
                <a:solidFill>
                  <a:schemeClr val="bg1"/>
                </a:solidFill>
                <a:latin typeface="Segoe UI" panose="020B0502040204020203" pitchFamily="34" charset="0"/>
                <a:cs typeface="Segoe UI" panose="020B0502040204020203" pitchFamily="34" charset="0"/>
              </a:rPr>
              <a:t>1️⃣</a:t>
            </a:r>
            <a:r>
              <a:rPr lang="en-US" sz="1400" b="1" dirty="0">
                <a:solidFill>
                  <a:schemeClr val="bg1"/>
                </a:solidFill>
                <a:latin typeface="Segoe UI" panose="020B0502040204020203" pitchFamily="34" charset="0"/>
                <a:cs typeface="Segoe UI" panose="020B0502040204020203" pitchFamily="34" charset="0"/>
              </a:rPr>
              <a:t>Insight:</a:t>
            </a:r>
          </a:p>
          <a:p>
            <a:endParaRPr lang="en-US" sz="1050" b="1"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400" dirty="0">
                <a:solidFill>
                  <a:schemeClr val="bg1"/>
                </a:solidFill>
                <a:latin typeface="Segoe UI" panose="020B0502040204020203" pitchFamily="34" charset="0"/>
                <a:cs typeface="Segoe UI" panose="020B0502040204020203" pitchFamily="34" charset="0"/>
              </a:rPr>
              <a:t>4-star ratings dominate (34.16%), followed by 5 stars (27.96%) and 3 stars (16.32%).</a:t>
            </a:r>
          </a:p>
          <a:p>
            <a:pPr marL="285750" indent="-285750">
              <a:buFont typeface="Arial" panose="020B0604020202020204" pitchFamily="34" charset="0"/>
              <a:buChar char="•"/>
            </a:pPr>
            <a:r>
              <a:rPr lang="en-US" sz="1400" dirty="0">
                <a:solidFill>
                  <a:schemeClr val="bg1"/>
                </a:solidFill>
                <a:latin typeface="Segoe UI" panose="020B0502040204020203" pitchFamily="34" charset="0"/>
                <a:cs typeface="Segoe UI" panose="020B0502040204020203" pitchFamily="34" charset="0"/>
              </a:rPr>
              <a:t>Only ~21% of ratings fall in the 1–2 star range.</a:t>
            </a:r>
          </a:p>
          <a:p>
            <a:pPr marL="285750" indent="-285750">
              <a:buFont typeface="Arial" panose="020B0604020202020204" pitchFamily="34" charset="0"/>
              <a:buChar char="•"/>
            </a:pPr>
            <a:endParaRPr lang="en-US" sz="1050" dirty="0">
              <a:solidFill>
                <a:schemeClr val="bg1"/>
              </a:solidFill>
              <a:latin typeface="Segoe UI" panose="020B0502040204020203" pitchFamily="34" charset="0"/>
              <a:cs typeface="Segoe UI" panose="020B0502040204020203" pitchFamily="34" charset="0"/>
            </a:endParaRPr>
          </a:p>
          <a:p>
            <a:r>
              <a:rPr lang="en-US" sz="1400" b="1" dirty="0">
                <a:solidFill>
                  <a:schemeClr val="bg1"/>
                </a:solidFill>
                <a:latin typeface="Segoe UI" panose="020B0502040204020203" pitchFamily="34" charset="0"/>
                <a:cs typeface="Segoe UI" panose="020B0502040204020203" pitchFamily="34" charset="0"/>
              </a:rPr>
              <a:t>2️⃣Observation:</a:t>
            </a:r>
          </a:p>
          <a:p>
            <a:pPr marL="285750" indent="-285750">
              <a:buFont typeface="Arial" panose="020B0604020202020204" pitchFamily="34" charset="0"/>
              <a:buChar char="•"/>
            </a:pPr>
            <a:endParaRPr lang="en-US" sz="1050" dirty="0">
              <a:solidFill>
                <a:schemeClr val="bg1"/>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400" dirty="0">
                <a:solidFill>
                  <a:schemeClr val="bg1"/>
                </a:solidFill>
                <a:latin typeface="Segoe UI" panose="020B0502040204020203" pitchFamily="34" charset="0"/>
                <a:cs typeface="Segoe UI" panose="020B0502040204020203" pitchFamily="34" charset="0"/>
              </a:rPr>
              <a:t>Overall sentiment is positive, with over 60% of users rating 4 or 5 stars.</a:t>
            </a:r>
          </a:p>
          <a:p>
            <a:pPr marL="285750" indent="-285750">
              <a:buFont typeface="Arial" panose="020B0604020202020204" pitchFamily="34" charset="0"/>
              <a:buChar char="•"/>
            </a:pPr>
            <a:r>
              <a:rPr lang="en-US" sz="1400" dirty="0">
                <a:solidFill>
                  <a:schemeClr val="bg1"/>
                </a:solidFill>
                <a:latin typeface="Segoe UI" panose="020B0502040204020203" pitchFamily="34" charset="0"/>
                <a:cs typeface="Segoe UI" panose="020B0502040204020203" pitchFamily="34" charset="0"/>
              </a:rPr>
              <a:t>Maintaining consistency and addressing mid-tier feedback could push more users to 5 stars.</a:t>
            </a:r>
            <a:endParaRPr lang="en-IN" sz="140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3924273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63642-4B9C-7C53-5250-C74FF707E7B2}"/>
            </a:ext>
          </a:extLst>
        </p:cNvPr>
        <p:cNvGrpSpPr/>
        <p:nvPr/>
      </p:nvGrpSpPr>
      <p:grpSpPr>
        <a:xfrm>
          <a:off x="0" y="0"/>
          <a:ext cx="0" cy="0"/>
          <a:chOff x="0" y="0"/>
          <a:chExt cx="0" cy="0"/>
        </a:xfrm>
      </p:grpSpPr>
      <p:sp>
        <p:nvSpPr>
          <p:cNvPr id="4" name="Flowchart: Terminator 3">
            <a:extLst>
              <a:ext uri="{FF2B5EF4-FFF2-40B4-BE49-F238E27FC236}">
                <a16:creationId xmlns:a16="http://schemas.microsoft.com/office/drawing/2014/main" id="{7C4F1943-749C-247E-E618-75D625D3B786}"/>
              </a:ext>
            </a:extLst>
          </p:cNvPr>
          <p:cNvSpPr/>
          <p:nvPr/>
        </p:nvSpPr>
        <p:spPr>
          <a:xfrm>
            <a:off x="471487" y="342901"/>
            <a:ext cx="5857875" cy="805562"/>
          </a:xfrm>
          <a:prstGeom prst="flowChartTerminator">
            <a:avLst/>
          </a:prstGeom>
          <a:solidFill>
            <a:srgbClr val="0064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latin typeface="Segoe UI" panose="020B0502040204020203" pitchFamily="34" charset="0"/>
                <a:cs typeface="Segoe UI" panose="020B0502040204020203" pitchFamily="34" charset="0"/>
              </a:rPr>
              <a:t>                   📦</a:t>
            </a:r>
            <a:r>
              <a:rPr lang="en-US" b="1" dirty="0">
                <a:solidFill>
                  <a:schemeClr val="bg1"/>
                </a:solidFill>
                <a:latin typeface="Segoe UI" panose="020B0502040204020203" pitchFamily="34" charset="0"/>
                <a:cs typeface="Segoe UI" panose="020B0502040204020203" pitchFamily="34" charset="0"/>
              </a:rPr>
              <a:t>Key Findings :</a:t>
            </a:r>
          </a:p>
        </p:txBody>
      </p:sp>
      <p:sp>
        <p:nvSpPr>
          <p:cNvPr id="5" name="Rectangle: Rounded Corners 4">
            <a:extLst>
              <a:ext uri="{FF2B5EF4-FFF2-40B4-BE49-F238E27FC236}">
                <a16:creationId xmlns:a16="http://schemas.microsoft.com/office/drawing/2014/main" id="{3E1B9E04-9C5E-4DE2-8BD2-EBDF21243AB4}"/>
              </a:ext>
            </a:extLst>
          </p:cNvPr>
          <p:cNvSpPr/>
          <p:nvPr/>
        </p:nvSpPr>
        <p:spPr>
          <a:xfrm>
            <a:off x="1257299" y="1456540"/>
            <a:ext cx="10144125" cy="4786312"/>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Papyrus" panose="03070502060502030205" pitchFamily="66" charset="0"/>
                <a:cs typeface="Segoe UI" panose="020B0502040204020203" pitchFamily="34" charset="0"/>
              </a:rPr>
              <a:t>1️⃣</a:t>
            </a:r>
            <a:r>
              <a:rPr lang="en-US" sz="1400" b="1" dirty="0">
                <a:solidFill>
                  <a:schemeClr val="tx1"/>
                </a:solidFill>
                <a:latin typeface="Papyrus" panose="03070502060502030205" pitchFamily="66" charset="0"/>
                <a:cs typeface="Segoe UI" panose="020B0502040204020203" pitchFamily="34" charset="0"/>
              </a:rPr>
              <a:t>Robust Financial Health &amp; Customer Base: </a:t>
            </a:r>
            <a:r>
              <a:rPr lang="en-US" sz="1400" dirty="0" err="1">
                <a:solidFill>
                  <a:schemeClr val="tx1"/>
                </a:solidFill>
                <a:latin typeface="Papyrus" panose="03070502060502030205" pitchFamily="66" charset="0"/>
                <a:cs typeface="Segoe UI" panose="020B0502040204020203" pitchFamily="34" charset="0"/>
              </a:rPr>
              <a:t>Blinkit</a:t>
            </a:r>
            <a:r>
              <a:rPr lang="en-US" sz="1400" dirty="0">
                <a:solidFill>
                  <a:schemeClr val="tx1"/>
                </a:solidFill>
                <a:latin typeface="Papyrus" panose="03070502060502030205" pitchFamily="66" charset="0"/>
                <a:cs typeface="Segoe UI" panose="020B0502040204020203" pitchFamily="34" charset="0"/>
              </a:rPr>
              <a:t> demonstrates strong financial performance with substantial total revenue and customer lifetime value. The customer base is well-segmented, with a healthy mix of regular, premium, and new customers.</a:t>
            </a:r>
          </a:p>
          <a:p>
            <a:endParaRPr lang="en-US" sz="1400" dirty="0">
              <a:solidFill>
                <a:schemeClr val="tx1"/>
              </a:solidFill>
              <a:latin typeface="Papyrus" panose="03070502060502030205" pitchFamily="66" charset="0"/>
              <a:cs typeface="Segoe UI" panose="020B0502040204020203" pitchFamily="34" charset="0"/>
            </a:endParaRPr>
          </a:p>
          <a:p>
            <a:r>
              <a:rPr lang="en-US" sz="1400" dirty="0">
                <a:solidFill>
                  <a:schemeClr val="tx1"/>
                </a:solidFill>
                <a:latin typeface="Papyrus" panose="03070502060502030205" pitchFamily="66" charset="0"/>
                <a:cs typeface="Segoe UI" panose="020B0502040204020203" pitchFamily="34" charset="0"/>
              </a:rPr>
              <a:t>2️⃣</a:t>
            </a:r>
            <a:r>
              <a:rPr lang="en-US" sz="1400" b="1" dirty="0">
                <a:solidFill>
                  <a:schemeClr val="tx1"/>
                </a:solidFill>
                <a:latin typeface="Papyrus" panose="03070502060502030205" pitchFamily="66" charset="0"/>
                <a:cs typeface="Segoe UI" panose="020B0502040204020203" pitchFamily="34" charset="0"/>
              </a:rPr>
              <a:t>Seasonal Order Trends &amp; Geographic Hotspots: </a:t>
            </a:r>
            <a:r>
              <a:rPr lang="en-US" sz="1400" dirty="0">
                <a:solidFill>
                  <a:schemeClr val="tx1"/>
                </a:solidFill>
                <a:latin typeface="Papyrus" panose="03070502060502030205" pitchFamily="66" charset="0"/>
                <a:cs typeface="Segoe UI" panose="020B0502040204020203" pitchFamily="34" charset="0"/>
              </a:rPr>
              <a:t>Order volumes exhibit clear seasonal peaks (e.g., May, September), and demand is concentrated in specific </a:t>
            </a:r>
            <a:r>
              <a:rPr lang="en-US" sz="1400" dirty="0" err="1">
                <a:solidFill>
                  <a:schemeClr val="tx1"/>
                </a:solidFill>
                <a:latin typeface="Papyrus" panose="03070502060502030205" pitchFamily="66" charset="0"/>
                <a:cs typeface="Segoe UI" panose="020B0502040204020203" pitchFamily="34" charset="0"/>
              </a:rPr>
              <a:t>pincodes</a:t>
            </a:r>
            <a:r>
              <a:rPr lang="en-US" sz="1400" dirty="0">
                <a:solidFill>
                  <a:schemeClr val="tx1"/>
                </a:solidFill>
                <a:latin typeface="Papyrus" panose="03070502060502030205" pitchFamily="66" charset="0"/>
                <a:cs typeface="Segoe UI" panose="020B0502040204020203" pitchFamily="34" charset="0"/>
              </a:rPr>
              <a:t> within Asia. This highlights opportunities for optimized logistics and targeted marketing.</a:t>
            </a:r>
          </a:p>
          <a:p>
            <a:endParaRPr lang="en-US" sz="1400" dirty="0">
              <a:solidFill>
                <a:schemeClr val="tx1"/>
              </a:solidFill>
              <a:latin typeface="Papyrus" panose="03070502060502030205" pitchFamily="66" charset="0"/>
              <a:cs typeface="Segoe UI" panose="020B0502040204020203" pitchFamily="34" charset="0"/>
            </a:endParaRPr>
          </a:p>
          <a:p>
            <a:r>
              <a:rPr lang="en-US" sz="1400" dirty="0">
                <a:solidFill>
                  <a:schemeClr val="tx1"/>
                </a:solidFill>
                <a:latin typeface="Papyrus" panose="03070502060502030205" pitchFamily="66" charset="0"/>
                <a:cs typeface="Segoe UI" panose="020B0502040204020203" pitchFamily="34" charset="0"/>
              </a:rPr>
              <a:t>3️⃣</a:t>
            </a:r>
            <a:r>
              <a:rPr lang="en-US" sz="1400" b="1" dirty="0">
                <a:solidFill>
                  <a:schemeClr val="tx1"/>
                </a:solidFill>
                <a:latin typeface="Papyrus" panose="03070502060502030205" pitchFamily="66" charset="0"/>
                <a:cs typeface="Segoe UI" panose="020B0502040204020203" pitchFamily="34" charset="0"/>
              </a:rPr>
              <a:t>Top-Selling Products &amp; Categories: </a:t>
            </a:r>
            <a:r>
              <a:rPr lang="en-US" sz="1400" dirty="0">
                <a:solidFill>
                  <a:schemeClr val="tx1"/>
                </a:solidFill>
                <a:latin typeface="Papyrus" panose="03070502060502030205" pitchFamily="66" charset="0"/>
                <a:cs typeface="Segoe UI" panose="020B0502040204020203" pitchFamily="34" charset="0"/>
              </a:rPr>
              <a:t>"Pet Treats" and household essentials like "Toilet Cleaner" are top-selling products by quantity, while "Dairy &amp; Breakfast" is the leading revenue-generating category. This guides inventory and promotional strategies.</a:t>
            </a:r>
          </a:p>
          <a:p>
            <a:endParaRPr lang="en-US" sz="1400" dirty="0">
              <a:solidFill>
                <a:schemeClr val="tx1"/>
              </a:solidFill>
              <a:latin typeface="Papyrus" panose="03070502060502030205" pitchFamily="66" charset="0"/>
              <a:cs typeface="Segoe UI" panose="020B0502040204020203" pitchFamily="34" charset="0"/>
            </a:endParaRPr>
          </a:p>
          <a:p>
            <a:r>
              <a:rPr lang="en-US" sz="1400" dirty="0">
                <a:solidFill>
                  <a:schemeClr val="tx1"/>
                </a:solidFill>
                <a:latin typeface="Papyrus" panose="03070502060502030205" pitchFamily="66" charset="0"/>
                <a:cs typeface="Segoe UI" panose="020B0502040204020203" pitchFamily="34" charset="0"/>
              </a:rPr>
              <a:t>4️⃣</a:t>
            </a:r>
            <a:r>
              <a:rPr lang="en-US" sz="1400" b="1" dirty="0">
                <a:solidFill>
                  <a:schemeClr val="tx1"/>
                </a:solidFill>
                <a:latin typeface="Papyrus" panose="03070502060502030205" pitchFamily="66" charset="0"/>
                <a:cs typeface="Segoe UI" panose="020B0502040204020203" pitchFamily="34" charset="0"/>
              </a:rPr>
              <a:t>Effective Marketing Campaigns &amp; Conversion Opportunities: </a:t>
            </a:r>
            <a:r>
              <a:rPr lang="en-US" sz="1400" dirty="0">
                <a:solidFill>
                  <a:schemeClr val="tx1"/>
                </a:solidFill>
                <a:latin typeface="Papyrus" panose="03070502060502030205" pitchFamily="66" charset="0"/>
                <a:cs typeface="Segoe UI" panose="020B0502040204020203" pitchFamily="34" charset="0"/>
              </a:rPr>
              <a:t>"App Push Notifications" and "Category Promotions" show exceptionally high ROAS, indicating successful campaign strategies. However, the overall campaign conversion rate (0.9%) suggests room for optimizing the post-click user journey.</a:t>
            </a:r>
          </a:p>
          <a:p>
            <a:endParaRPr lang="en-US" sz="1400" dirty="0">
              <a:solidFill>
                <a:schemeClr val="tx1"/>
              </a:solidFill>
              <a:latin typeface="Papyrus" panose="03070502060502030205" pitchFamily="66" charset="0"/>
              <a:cs typeface="Segoe UI" panose="020B0502040204020203" pitchFamily="34" charset="0"/>
            </a:endParaRPr>
          </a:p>
          <a:p>
            <a:r>
              <a:rPr lang="en-US" sz="1400" dirty="0">
                <a:solidFill>
                  <a:schemeClr val="tx1"/>
                </a:solidFill>
                <a:latin typeface="Papyrus" panose="03070502060502030205" pitchFamily="66" charset="0"/>
                <a:cs typeface="Segoe UI" panose="020B0502040204020203" pitchFamily="34" charset="0"/>
              </a:rPr>
              <a:t>5️⃣</a:t>
            </a:r>
            <a:r>
              <a:rPr lang="en-US" sz="1400" b="1" dirty="0">
                <a:solidFill>
                  <a:schemeClr val="tx1"/>
                </a:solidFill>
                <a:latin typeface="Papyrus" panose="03070502060502030205" pitchFamily="66" charset="0"/>
                <a:cs typeface="Segoe UI" panose="020B0502040204020203" pitchFamily="34" charset="0"/>
              </a:rPr>
              <a:t>Inventory Management &amp; Quality Control Needs: </a:t>
            </a:r>
            <a:r>
              <a:rPr lang="en-US" sz="1400" dirty="0">
                <a:solidFill>
                  <a:schemeClr val="tx1"/>
                </a:solidFill>
                <a:latin typeface="Papyrus" panose="03070502060502030205" pitchFamily="66" charset="0"/>
                <a:cs typeface="Segoe UI" panose="020B0502040204020203" pitchFamily="34" charset="0"/>
              </a:rPr>
              <a:t>While current stock levels are healthy, high damaged stock percentages for certain perishable items (e.g., Bananas, Bread) point to a critical need for improved handling and storage protocols to reduce waste.</a:t>
            </a:r>
          </a:p>
        </p:txBody>
      </p:sp>
    </p:spTree>
    <p:extLst>
      <p:ext uri="{BB962C8B-B14F-4D97-AF65-F5344CB8AC3E}">
        <p14:creationId xmlns:p14="http://schemas.microsoft.com/office/powerpoint/2010/main" val="41790395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CF5BF-21EB-4727-F99E-C370B19D018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24CA842-623A-68B3-75C2-889622E62A30}"/>
              </a:ext>
            </a:extLst>
          </p:cNvPr>
          <p:cNvSpPr txBox="1"/>
          <p:nvPr/>
        </p:nvSpPr>
        <p:spPr>
          <a:xfrm>
            <a:off x="2065837" y="1406110"/>
            <a:ext cx="8653807" cy="4462760"/>
          </a:xfrm>
          <a:prstGeom prst="rect">
            <a:avLst/>
          </a:prstGeom>
          <a:noFill/>
        </p:spPr>
        <p:txBody>
          <a:bodyPr wrap="square" rtlCol="0">
            <a:spAutoFit/>
          </a:bodyPr>
          <a:lstStyle/>
          <a:p>
            <a:endParaRPr lang="en-US" sz="1200" b="1" dirty="0">
              <a:solidFill>
                <a:schemeClr val="bg1"/>
              </a:solidFill>
              <a:latin typeface="Segoe UI" panose="020B0502040204020203" pitchFamily="34" charset="0"/>
              <a:cs typeface="Segoe UI" panose="020B0502040204020203" pitchFamily="34" charset="0"/>
            </a:endParaRPr>
          </a:p>
          <a:p>
            <a:r>
              <a:rPr lang="en-US" b="1" dirty="0">
                <a:solidFill>
                  <a:schemeClr val="bg1"/>
                </a:solidFill>
                <a:latin typeface="Segoe UI" panose="020B0502040204020203" pitchFamily="34" charset="0"/>
                <a:cs typeface="Segoe UI" panose="020B0502040204020203" pitchFamily="34" charset="0"/>
              </a:rPr>
              <a:t>1️⃣Learnings: </a:t>
            </a:r>
            <a:r>
              <a:rPr lang="en-US" sz="1600" dirty="0">
                <a:solidFill>
                  <a:schemeClr val="bg1"/>
                </a:solidFill>
                <a:latin typeface="Segoe UI" panose="020B0502040204020203" pitchFamily="34" charset="0"/>
                <a:cs typeface="Segoe UI" panose="020B0502040204020203" pitchFamily="34" charset="0"/>
              </a:rPr>
              <a:t>This project provided invaluable experience in end-to-end data analysis using Power BI, from data cleaning and transformation to creating insightful visualizations and deriving actionable business intelligence. It deepened my understanding of e-commerce operations, customer behavior, and the critical role of data in strategic decision-making.</a:t>
            </a:r>
          </a:p>
          <a:p>
            <a:endParaRPr lang="en-US" sz="1200" dirty="0">
              <a:solidFill>
                <a:schemeClr val="bg1"/>
              </a:solidFill>
              <a:latin typeface="Segoe UI" panose="020B0502040204020203" pitchFamily="34" charset="0"/>
              <a:cs typeface="Segoe UI" panose="020B0502040204020203" pitchFamily="34" charset="0"/>
            </a:endParaRPr>
          </a:p>
          <a:p>
            <a:r>
              <a:rPr lang="en-US" b="1" dirty="0">
                <a:solidFill>
                  <a:schemeClr val="bg1"/>
                </a:solidFill>
                <a:latin typeface="Segoe UI" panose="020B0502040204020203" pitchFamily="34" charset="0"/>
                <a:cs typeface="Segoe UI" panose="020B0502040204020203" pitchFamily="34" charset="0"/>
              </a:rPr>
              <a:t>2️⃣Impact on Decision-Making: </a:t>
            </a:r>
            <a:r>
              <a:rPr lang="en-US" sz="1600" dirty="0">
                <a:solidFill>
                  <a:schemeClr val="bg1"/>
                </a:solidFill>
                <a:latin typeface="Segoe UI" panose="020B0502040204020203" pitchFamily="34" charset="0"/>
                <a:cs typeface="Segoe UI" panose="020B0502040204020203" pitchFamily="34" charset="0"/>
              </a:rPr>
              <a:t>The analysis offers </a:t>
            </a:r>
            <a:r>
              <a:rPr lang="en-US" sz="1600" dirty="0" err="1">
                <a:solidFill>
                  <a:schemeClr val="bg1"/>
                </a:solidFill>
                <a:latin typeface="Segoe UI" panose="020B0502040204020203" pitchFamily="34" charset="0"/>
                <a:cs typeface="Segoe UI" panose="020B0502040204020203" pitchFamily="34" charset="0"/>
              </a:rPr>
              <a:t>Blinkit</a:t>
            </a:r>
            <a:r>
              <a:rPr lang="en-US" sz="1600" dirty="0">
                <a:solidFill>
                  <a:schemeClr val="bg1"/>
                </a:solidFill>
                <a:latin typeface="Segoe UI" panose="020B0502040204020203" pitchFamily="34" charset="0"/>
                <a:cs typeface="Segoe UI" panose="020B0502040204020203" pitchFamily="34" charset="0"/>
              </a:rPr>
              <a:t> clear, data-driven insights that can significantly aid in decision-making:</a:t>
            </a:r>
          </a:p>
          <a:p>
            <a:pPr marL="285750" indent="-285750">
              <a:buFont typeface="Arial" panose="020B0604020202020204" pitchFamily="34" charset="0"/>
              <a:buChar char="•"/>
            </a:pPr>
            <a:r>
              <a:rPr lang="en-US" sz="1600" b="1" dirty="0">
                <a:solidFill>
                  <a:schemeClr val="bg1"/>
                </a:solidFill>
                <a:latin typeface="Segoe UI" panose="020B0502040204020203" pitchFamily="34" charset="0"/>
                <a:cs typeface="Segoe UI" panose="020B0502040204020203" pitchFamily="34" charset="0"/>
              </a:rPr>
              <a:t>Optimizing Marketing Spend: </a:t>
            </a:r>
            <a:r>
              <a:rPr lang="en-US" sz="1600" dirty="0">
                <a:solidFill>
                  <a:schemeClr val="bg1"/>
                </a:solidFill>
                <a:latin typeface="Segoe UI" panose="020B0502040204020203" pitchFamily="34" charset="0"/>
                <a:cs typeface="Segoe UI" panose="020B0502040204020203" pitchFamily="34" charset="0"/>
              </a:rPr>
              <a:t>By identifying high-ROAS campaigns, </a:t>
            </a:r>
            <a:r>
              <a:rPr lang="en-US" sz="1600" dirty="0" err="1">
                <a:solidFill>
                  <a:schemeClr val="bg1"/>
                </a:solidFill>
                <a:latin typeface="Segoe UI" panose="020B0502040204020203" pitchFamily="34" charset="0"/>
                <a:cs typeface="Segoe UI" panose="020B0502040204020203" pitchFamily="34" charset="0"/>
              </a:rPr>
              <a:t>Blinkit</a:t>
            </a:r>
            <a:r>
              <a:rPr lang="en-US" sz="1600" dirty="0">
                <a:solidFill>
                  <a:schemeClr val="bg1"/>
                </a:solidFill>
                <a:latin typeface="Segoe UI" panose="020B0502040204020203" pitchFamily="34" charset="0"/>
                <a:cs typeface="Segoe UI" panose="020B0502040204020203" pitchFamily="34" charset="0"/>
              </a:rPr>
              <a:t> can reallocate budgets to maximize returns.</a:t>
            </a:r>
          </a:p>
          <a:p>
            <a:pPr marL="285750" indent="-285750">
              <a:buFont typeface="Arial" panose="020B0604020202020204" pitchFamily="34" charset="0"/>
              <a:buChar char="•"/>
            </a:pPr>
            <a:r>
              <a:rPr lang="en-US" sz="1600" b="1" dirty="0">
                <a:solidFill>
                  <a:schemeClr val="bg1"/>
                </a:solidFill>
                <a:latin typeface="Segoe UI" panose="020B0502040204020203" pitchFamily="34" charset="0"/>
                <a:cs typeface="Segoe UI" panose="020B0502040204020203" pitchFamily="34" charset="0"/>
              </a:rPr>
              <a:t>Improving Inventory Management: </a:t>
            </a:r>
            <a:r>
              <a:rPr lang="en-US" sz="1600" dirty="0">
                <a:solidFill>
                  <a:schemeClr val="bg1"/>
                </a:solidFill>
                <a:latin typeface="Segoe UI" panose="020B0502040204020203" pitchFamily="34" charset="0"/>
                <a:cs typeface="Segoe UI" panose="020B0502040204020203" pitchFamily="34" charset="0"/>
              </a:rPr>
              <a:t>Insights into top-selling products, category revenue, and damaged stock percentages enable more efficient stocking and reduced waste.</a:t>
            </a:r>
          </a:p>
          <a:p>
            <a:pPr marL="285750" indent="-285750">
              <a:buFont typeface="Arial" panose="020B0604020202020204" pitchFamily="34" charset="0"/>
              <a:buChar char="•"/>
            </a:pPr>
            <a:r>
              <a:rPr lang="en-US" sz="1600" b="1" dirty="0">
                <a:solidFill>
                  <a:schemeClr val="bg1"/>
                </a:solidFill>
                <a:latin typeface="Segoe UI" panose="020B0502040204020203" pitchFamily="34" charset="0"/>
                <a:cs typeface="Segoe UI" panose="020B0502040204020203" pitchFamily="34" charset="0"/>
              </a:rPr>
              <a:t>Enhancing Customer Experience: </a:t>
            </a:r>
            <a:r>
              <a:rPr lang="en-US" sz="1600" dirty="0">
                <a:solidFill>
                  <a:schemeClr val="bg1"/>
                </a:solidFill>
                <a:latin typeface="Segoe UI" panose="020B0502040204020203" pitchFamily="34" charset="0"/>
                <a:cs typeface="Segoe UI" panose="020B0502040204020203" pitchFamily="34" charset="0"/>
              </a:rPr>
              <a:t>Understanding customer segments, order patterns, and feedback details can lead to more personalized services and targeted improvements.</a:t>
            </a:r>
          </a:p>
          <a:p>
            <a:pPr marL="285750" indent="-285750">
              <a:buFont typeface="Arial" panose="020B0604020202020204" pitchFamily="34" charset="0"/>
              <a:buChar char="•"/>
            </a:pPr>
            <a:r>
              <a:rPr lang="en-US" sz="1600" b="1" dirty="0">
                <a:solidFill>
                  <a:schemeClr val="bg1"/>
                </a:solidFill>
                <a:latin typeface="Segoe UI" panose="020B0502040204020203" pitchFamily="34" charset="0"/>
                <a:cs typeface="Segoe UI" panose="020B0502040204020203" pitchFamily="34" charset="0"/>
              </a:rPr>
              <a:t>Strategic Expansion: </a:t>
            </a:r>
            <a:r>
              <a:rPr lang="en-US" sz="1600" dirty="0">
                <a:solidFill>
                  <a:schemeClr val="bg1"/>
                </a:solidFill>
                <a:latin typeface="Segoe UI" panose="020B0502040204020203" pitchFamily="34" charset="0"/>
                <a:cs typeface="Segoe UI" panose="020B0502040204020203" pitchFamily="34" charset="0"/>
              </a:rPr>
              <a:t>Geographic order data can guide decisions on where to expand operations or focus delivery network enhancements.</a:t>
            </a:r>
          </a:p>
          <a:p>
            <a:pPr marL="285750" indent="-285750">
              <a:buFont typeface="Arial" panose="020B0604020202020204" pitchFamily="34" charset="0"/>
              <a:buChar char="•"/>
            </a:pPr>
            <a:r>
              <a:rPr lang="en-US" sz="1600" b="1" dirty="0">
                <a:solidFill>
                  <a:schemeClr val="bg1"/>
                </a:solidFill>
                <a:latin typeface="Segoe UI" panose="020B0502040204020203" pitchFamily="34" charset="0"/>
                <a:cs typeface="Segoe UI" panose="020B0502040204020203" pitchFamily="34" charset="0"/>
              </a:rPr>
              <a:t>Operational Efficiency: </a:t>
            </a:r>
            <a:r>
              <a:rPr lang="en-US" sz="1600" dirty="0">
                <a:solidFill>
                  <a:schemeClr val="bg1"/>
                </a:solidFill>
                <a:latin typeface="Segoe UI" panose="020B0502040204020203" pitchFamily="34" charset="0"/>
                <a:cs typeface="Segoe UI" panose="020B0502040204020203" pitchFamily="34" charset="0"/>
              </a:rPr>
              <a:t>Analysis of delivery times and store performance can pinpoint areas for logistical improvements.</a:t>
            </a:r>
          </a:p>
        </p:txBody>
      </p:sp>
      <p:sp>
        <p:nvSpPr>
          <p:cNvPr id="4" name="Flowchart: Terminator 3">
            <a:extLst>
              <a:ext uri="{FF2B5EF4-FFF2-40B4-BE49-F238E27FC236}">
                <a16:creationId xmlns:a16="http://schemas.microsoft.com/office/drawing/2014/main" id="{759D233C-47E1-315A-9191-A1A6F77D3C77}"/>
              </a:ext>
            </a:extLst>
          </p:cNvPr>
          <p:cNvSpPr/>
          <p:nvPr/>
        </p:nvSpPr>
        <p:spPr>
          <a:xfrm>
            <a:off x="844582" y="339652"/>
            <a:ext cx="5857875" cy="805562"/>
          </a:xfrm>
          <a:prstGeom prst="flowChartTerminator">
            <a:avLst/>
          </a:prstGeom>
          <a:solidFill>
            <a:srgbClr val="0064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latin typeface="Segoe UI" panose="020B0502040204020203" pitchFamily="34" charset="0"/>
                <a:cs typeface="Segoe UI" panose="020B0502040204020203" pitchFamily="34" charset="0"/>
              </a:rPr>
              <a:t>                📌</a:t>
            </a:r>
            <a:r>
              <a:rPr lang="en-US" b="1" dirty="0">
                <a:solidFill>
                  <a:schemeClr val="bg1"/>
                </a:solidFill>
                <a:latin typeface="Segoe UI" panose="020B0502040204020203" pitchFamily="34" charset="0"/>
                <a:cs typeface="Segoe UI" panose="020B0502040204020203" pitchFamily="34" charset="0"/>
              </a:rPr>
              <a:t>Conclusion</a:t>
            </a:r>
          </a:p>
        </p:txBody>
      </p:sp>
      <p:sp>
        <p:nvSpPr>
          <p:cNvPr id="6" name="Flowchart: Alternate Process 5">
            <a:extLst>
              <a:ext uri="{FF2B5EF4-FFF2-40B4-BE49-F238E27FC236}">
                <a16:creationId xmlns:a16="http://schemas.microsoft.com/office/drawing/2014/main" id="{8CD4F439-858B-3287-14DC-A56768DD86E2}"/>
              </a:ext>
            </a:extLst>
          </p:cNvPr>
          <p:cNvSpPr/>
          <p:nvPr/>
        </p:nvSpPr>
        <p:spPr>
          <a:xfrm>
            <a:off x="734961" y="1491818"/>
            <a:ext cx="10722077" cy="4462759"/>
          </a:xfrm>
          <a:prstGeom prst="flowChartAlternateProcess">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Papyrus" panose="03070502060502030205" pitchFamily="66" charset="0"/>
                <a:cs typeface="Segoe UI" panose="020B0502040204020203" pitchFamily="34" charset="0"/>
              </a:rPr>
              <a:t>1️⃣Learnings: This project provided invaluable experience in end-to-end data analysis using Power BI, from data cleaning and transformation to creating insightful visualizations and deriving actionable business intelligence. It deepened my understanding of e-commerce operations, customer behavior, and the critical role of data in strategic decision-making.</a:t>
            </a:r>
          </a:p>
          <a:p>
            <a:endParaRPr lang="en-US" sz="1400" dirty="0">
              <a:solidFill>
                <a:schemeClr val="tx1"/>
              </a:solidFill>
              <a:latin typeface="Papyrus" panose="03070502060502030205" pitchFamily="66" charset="0"/>
              <a:cs typeface="Segoe UI" panose="020B0502040204020203" pitchFamily="34" charset="0"/>
            </a:endParaRPr>
          </a:p>
          <a:p>
            <a:r>
              <a:rPr lang="en-US" sz="1400" dirty="0">
                <a:solidFill>
                  <a:schemeClr val="tx1"/>
                </a:solidFill>
                <a:latin typeface="Papyrus" panose="03070502060502030205" pitchFamily="66" charset="0"/>
                <a:cs typeface="Segoe UI" panose="020B0502040204020203" pitchFamily="34" charset="0"/>
              </a:rPr>
              <a:t>2️⃣Impact on Decision-Making: The analysis offers </a:t>
            </a:r>
            <a:r>
              <a:rPr lang="en-US" sz="1400" dirty="0" err="1">
                <a:solidFill>
                  <a:schemeClr val="tx1"/>
                </a:solidFill>
                <a:latin typeface="Papyrus" panose="03070502060502030205" pitchFamily="66" charset="0"/>
                <a:cs typeface="Segoe UI" panose="020B0502040204020203" pitchFamily="34" charset="0"/>
              </a:rPr>
              <a:t>Blinkit</a:t>
            </a:r>
            <a:r>
              <a:rPr lang="en-US" sz="1400" dirty="0">
                <a:solidFill>
                  <a:schemeClr val="tx1"/>
                </a:solidFill>
                <a:latin typeface="Papyrus" panose="03070502060502030205" pitchFamily="66" charset="0"/>
                <a:cs typeface="Segoe UI" panose="020B0502040204020203" pitchFamily="34" charset="0"/>
              </a:rPr>
              <a:t> clear, data-driven insights that can significantly aid in decision-making:</a:t>
            </a:r>
          </a:p>
          <a:p>
            <a:pPr marL="285750" indent="-285750">
              <a:buFont typeface="Arial" panose="020B0604020202020204" pitchFamily="34" charset="0"/>
              <a:buChar char="•"/>
            </a:pPr>
            <a:r>
              <a:rPr lang="en-US" sz="1400" dirty="0">
                <a:solidFill>
                  <a:schemeClr val="tx1"/>
                </a:solidFill>
                <a:latin typeface="Papyrus" panose="03070502060502030205" pitchFamily="66" charset="0"/>
                <a:cs typeface="Segoe UI" panose="020B0502040204020203" pitchFamily="34" charset="0"/>
              </a:rPr>
              <a:t>Optimizing Marketing Spend: By identifying high-ROAS campaigns, </a:t>
            </a:r>
            <a:r>
              <a:rPr lang="en-US" sz="1400" dirty="0" err="1">
                <a:solidFill>
                  <a:schemeClr val="tx1"/>
                </a:solidFill>
                <a:latin typeface="Papyrus" panose="03070502060502030205" pitchFamily="66" charset="0"/>
                <a:cs typeface="Segoe UI" panose="020B0502040204020203" pitchFamily="34" charset="0"/>
              </a:rPr>
              <a:t>Blinkit</a:t>
            </a:r>
            <a:r>
              <a:rPr lang="en-US" sz="1400" dirty="0">
                <a:solidFill>
                  <a:schemeClr val="tx1"/>
                </a:solidFill>
                <a:latin typeface="Papyrus" panose="03070502060502030205" pitchFamily="66" charset="0"/>
                <a:cs typeface="Segoe UI" panose="020B0502040204020203" pitchFamily="34" charset="0"/>
              </a:rPr>
              <a:t> can reallocate budgets to maximize returns.</a:t>
            </a:r>
          </a:p>
          <a:p>
            <a:pPr marL="285750" indent="-285750">
              <a:buFont typeface="Arial" panose="020B0604020202020204" pitchFamily="34" charset="0"/>
              <a:buChar char="•"/>
            </a:pPr>
            <a:r>
              <a:rPr lang="en-US" sz="1400" dirty="0">
                <a:solidFill>
                  <a:schemeClr val="tx1"/>
                </a:solidFill>
                <a:latin typeface="Papyrus" panose="03070502060502030205" pitchFamily="66" charset="0"/>
                <a:cs typeface="Segoe UI" panose="020B0502040204020203" pitchFamily="34" charset="0"/>
              </a:rPr>
              <a:t>Improving Inventory Management: Insights into top-selling products, category revenue, and damaged stock percentages enable more efficient stocking and reduced waste.</a:t>
            </a:r>
          </a:p>
          <a:p>
            <a:pPr marL="285750" indent="-285750">
              <a:buFont typeface="Arial" panose="020B0604020202020204" pitchFamily="34" charset="0"/>
              <a:buChar char="•"/>
            </a:pPr>
            <a:r>
              <a:rPr lang="en-US" sz="1400" dirty="0">
                <a:solidFill>
                  <a:schemeClr val="tx1"/>
                </a:solidFill>
                <a:latin typeface="Papyrus" panose="03070502060502030205" pitchFamily="66" charset="0"/>
                <a:cs typeface="Segoe UI" panose="020B0502040204020203" pitchFamily="34" charset="0"/>
              </a:rPr>
              <a:t>Enhancing Customer Experience: Understanding customer segments, order patterns, and feedback details can lead to more personalized services and targeted improvements.</a:t>
            </a:r>
          </a:p>
          <a:p>
            <a:pPr marL="285750" indent="-285750">
              <a:buFont typeface="Arial" panose="020B0604020202020204" pitchFamily="34" charset="0"/>
              <a:buChar char="•"/>
            </a:pPr>
            <a:r>
              <a:rPr lang="en-US" sz="1400" dirty="0">
                <a:solidFill>
                  <a:schemeClr val="tx1"/>
                </a:solidFill>
                <a:latin typeface="Papyrus" panose="03070502060502030205" pitchFamily="66" charset="0"/>
                <a:cs typeface="Segoe UI" panose="020B0502040204020203" pitchFamily="34" charset="0"/>
              </a:rPr>
              <a:t>Strategic Expansion: Geographic order data can guide decisions on where to expand operations or focus delivery network enhancements.</a:t>
            </a:r>
          </a:p>
          <a:p>
            <a:pPr marL="285750" indent="-285750">
              <a:buFont typeface="Arial" panose="020B0604020202020204" pitchFamily="34" charset="0"/>
              <a:buChar char="•"/>
            </a:pPr>
            <a:r>
              <a:rPr lang="en-US" sz="1400" dirty="0">
                <a:solidFill>
                  <a:schemeClr val="tx1"/>
                </a:solidFill>
                <a:latin typeface="Papyrus" panose="03070502060502030205" pitchFamily="66" charset="0"/>
                <a:cs typeface="Segoe UI" panose="020B0502040204020203" pitchFamily="34" charset="0"/>
              </a:rPr>
              <a:t>Operational Efficiency: Analysis of delivery times and store performance can pinpoint areas for logistical improvements</a:t>
            </a:r>
            <a:endParaRPr lang="en-US" sz="1400" dirty="0">
              <a:solidFill>
                <a:schemeClr val="tx1"/>
              </a:solidFill>
              <a:latin typeface="Papyrus" panose="03070502060502030205" pitchFamily="66" charset="0"/>
            </a:endParaRPr>
          </a:p>
        </p:txBody>
      </p:sp>
    </p:spTree>
    <p:extLst>
      <p:ext uri="{BB962C8B-B14F-4D97-AF65-F5344CB8AC3E}">
        <p14:creationId xmlns:p14="http://schemas.microsoft.com/office/powerpoint/2010/main" val="15156710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D93AF-3CF4-E895-5462-AD7D57B33668}"/>
            </a:ext>
          </a:extLst>
        </p:cNvPr>
        <p:cNvGrpSpPr/>
        <p:nvPr/>
      </p:nvGrpSpPr>
      <p:grpSpPr>
        <a:xfrm>
          <a:off x="0" y="0"/>
          <a:ext cx="0" cy="0"/>
          <a:chOff x="0" y="0"/>
          <a:chExt cx="0" cy="0"/>
        </a:xfrm>
      </p:grpSpPr>
      <p:sp>
        <p:nvSpPr>
          <p:cNvPr id="4" name="Flowchart: Terminator 3">
            <a:extLst>
              <a:ext uri="{FF2B5EF4-FFF2-40B4-BE49-F238E27FC236}">
                <a16:creationId xmlns:a16="http://schemas.microsoft.com/office/drawing/2014/main" id="{5AEBD1CA-DA2C-322C-6AA2-30A400C35EA8}"/>
              </a:ext>
            </a:extLst>
          </p:cNvPr>
          <p:cNvSpPr/>
          <p:nvPr/>
        </p:nvSpPr>
        <p:spPr>
          <a:xfrm>
            <a:off x="1200346" y="1696526"/>
            <a:ext cx="5857875" cy="805562"/>
          </a:xfrm>
          <a:prstGeom prst="flowChartTerminator">
            <a:avLst/>
          </a:prstGeom>
          <a:solidFill>
            <a:srgbClr val="0064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latin typeface="Segoe UI" panose="020B0502040204020203" pitchFamily="34" charset="0"/>
                <a:cs typeface="Segoe UI" panose="020B0502040204020203" pitchFamily="34" charset="0"/>
              </a:rPr>
              <a:t>                      📑</a:t>
            </a:r>
            <a:r>
              <a:rPr lang="en-US" b="1" dirty="0">
                <a:solidFill>
                  <a:schemeClr val="bg1"/>
                </a:solidFill>
                <a:latin typeface="Segoe UI" panose="020B0502040204020203" pitchFamily="34" charset="0"/>
                <a:cs typeface="Segoe UI" panose="020B0502040204020203" pitchFamily="34" charset="0"/>
              </a:rPr>
              <a:t>References</a:t>
            </a:r>
          </a:p>
        </p:txBody>
      </p:sp>
      <p:sp>
        <p:nvSpPr>
          <p:cNvPr id="5" name="Flowchart: Alternate Process 4">
            <a:extLst>
              <a:ext uri="{FF2B5EF4-FFF2-40B4-BE49-F238E27FC236}">
                <a16:creationId xmlns:a16="http://schemas.microsoft.com/office/drawing/2014/main" id="{2335C871-3999-7CF0-9ABE-0ACCB7DA965C}"/>
              </a:ext>
            </a:extLst>
          </p:cNvPr>
          <p:cNvSpPr/>
          <p:nvPr/>
        </p:nvSpPr>
        <p:spPr>
          <a:xfrm>
            <a:off x="4380270" y="2816941"/>
            <a:ext cx="6666271" cy="2713703"/>
          </a:xfrm>
          <a:prstGeom prst="flowChartAlternateProcess">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Papyrus" panose="03070502060502030205" pitchFamily="66" charset="0"/>
                <a:cs typeface="Segoe UI" panose="020B0502040204020203" pitchFamily="34" charset="0"/>
              </a:rPr>
              <a:t>1️⃣Dataset Source: </a:t>
            </a:r>
          </a:p>
          <a:p>
            <a:pPr marL="285750" indent="-285750">
              <a:buFont typeface="Arial" panose="020B0604020202020204" pitchFamily="34" charset="0"/>
              <a:buChar char="•"/>
            </a:pPr>
            <a:r>
              <a:rPr lang="en-US" dirty="0">
                <a:solidFill>
                  <a:schemeClr val="tx1"/>
                </a:solidFill>
                <a:latin typeface="Papyrus" panose="03070502060502030205" pitchFamily="66" charset="0"/>
                <a:cs typeface="Segoe UI" panose="020B0502040204020203" pitchFamily="34" charset="0"/>
              </a:rPr>
              <a:t>Kaggle - </a:t>
            </a:r>
            <a:r>
              <a:rPr lang="en-US" dirty="0">
                <a:solidFill>
                  <a:schemeClr val="tx1"/>
                </a:solidFill>
                <a:latin typeface="Papyrus" panose="03070502060502030205" pitchFamily="66" charset="0"/>
                <a:cs typeface="Segoe UI" panose="020B0502040204020203" pitchFamily="34" charset="0"/>
                <a:hlinkClick r:id="rId2">
                  <a:extLst>
                    <a:ext uri="{A12FA001-AC4F-418D-AE19-62706E023703}">
                      <ahyp:hlinkClr xmlns:ahyp="http://schemas.microsoft.com/office/drawing/2018/hyperlinkcolor" val="tx"/>
                    </a:ext>
                  </a:extLst>
                </a:hlinkClick>
              </a:rPr>
              <a:t>https://www.kaggle.com/datasets/akxiit/blinkit-sales-dataset/data</a:t>
            </a:r>
            <a:endParaRPr lang="en-US" dirty="0">
              <a:solidFill>
                <a:schemeClr val="tx1"/>
              </a:solidFill>
              <a:latin typeface="Papyrus" panose="03070502060502030205" pitchFamily="66" charset="0"/>
              <a:cs typeface="Segoe UI" panose="020B0502040204020203" pitchFamily="34" charset="0"/>
            </a:endParaRPr>
          </a:p>
          <a:p>
            <a:endParaRPr lang="en-US" dirty="0">
              <a:solidFill>
                <a:schemeClr val="tx1"/>
              </a:solidFill>
              <a:latin typeface="Papyrus" panose="03070502060502030205" pitchFamily="66" charset="0"/>
              <a:cs typeface="Segoe UI" panose="020B0502040204020203" pitchFamily="34" charset="0"/>
            </a:endParaRPr>
          </a:p>
          <a:p>
            <a:r>
              <a:rPr lang="en-US" b="1" dirty="0">
                <a:solidFill>
                  <a:schemeClr val="tx1"/>
                </a:solidFill>
                <a:latin typeface="Papyrus" panose="03070502060502030205" pitchFamily="66" charset="0"/>
                <a:cs typeface="Segoe UI" panose="020B0502040204020203" pitchFamily="34" charset="0"/>
              </a:rPr>
              <a:t>2️⃣Tools Documentation:</a:t>
            </a:r>
          </a:p>
          <a:p>
            <a:pPr marL="285750" indent="-285750">
              <a:buFont typeface="Arial" panose="020B0604020202020204" pitchFamily="34" charset="0"/>
              <a:buChar char="•"/>
            </a:pPr>
            <a:r>
              <a:rPr lang="en-US" dirty="0">
                <a:solidFill>
                  <a:schemeClr val="tx1"/>
                </a:solidFill>
                <a:latin typeface="Papyrus" panose="03070502060502030205" pitchFamily="66" charset="0"/>
                <a:cs typeface="Segoe UI" panose="020B0502040204020203" pitchFamily="34" charset="0"/>
              </a:rPr>
              <a:t>Power BI Documentation</a:t>
            </a:r>
          </a:p>
          <a:p>
            <a:pPr marL="285750" indent="-285750">
              <a:buFont typeface="Arial" panose="020B0604020202020204" pitchFamily="34" charset="0"/>
              <a:buChar char="•"/>
            </a:pPr>
            <a:r>
              <a:rPr lang="en-US" dirty="0">
                <a:solidFill>
                  <a:schemeClr val="tx1"/>
                </a:solidFill>
                <a:latin typeface="Papyrus" panose="03070502060502030205" pitchFamily="66" charset="0"/>
                <a:cs typeface="Segoe UI" panose="020B0502040204020203" pitchFamily="34" charset="0"/>
              </a:rPr>
              <a:t>GitHub Documentation</a:t>
            </a:r>
          </a:p>
        </p:txBody>
      </p:sp>
    </p:spTree>
    <p:extLst>
      <p:ext uri="{BB962C8B-B14F-4D97-AF65-F5344CB8AC3E}">
        <p14:creationId xmlns:p14="http://schemas.microsoft.com/office/powerpoint/2010/main" val="39278511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73F86-D557-CB96-1CB2-2BADF570F68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1BD8828-2EA9-C546-0671-F76328612A8F}"/>
              </a:ext>
            </a:extLst>
          </p:cNvPr>
          <p:cNvSpPr txBox="1"/>
          <p:nvPr/>
        </p:nvSpPr>
        <p:spPr>
          <a:xfrm>
            <a:off x="2688160" y="2444427"/>
            <a:ext cx="8653807" cy="1754326"/>
          </a:xfrm>
          <a:prstGeom prst="rect">
            <a:avLst/>
          </a:prstGeom>
          <a:noFill/>
        </p:spPr>
        <p:txBody>
          <a:bodyPr wrap="square" rtlCol="0">
            <a:spAutoFit/>
          </a:bodyPr>
          <a:lstStyle/>
          <a:p>
            <a:endParaRPr lang="en-US" sz="3200" b="1" dirty="0">
              <a:solidFill>
                <a:schemeClr val="bg1"/>
              </a:solidFill>
              <a:latin typeface="Segoe UI" panose="020B0502040204020203" pitchFamily="34" charset="0"/>
              <a:cs typeface="Segoe UI" panose="020B0502040204020203" pitchFamily="34" charset="0"/>
            </a:endParaRPr>
          </a:p>
          <a:p>
            <a:endParaRPr lang="en-US" sz="1200" b="1" dirty="0">
              <a:solidFill>
                <a:schemeClr val="bg1"/>
              </a:solidFill>
              <a:latin typeface="Segoe UI" panose="020B0502040204020203" pitchFamily="34" charset="0"/>
              <a:cs typeface="Segoe UI" panose="020B0502040204020203" pitchFamily="34" charset="0"/>
            </a:endParaRPr>
          </a:p>
          <a:p>
            <a:r>
              <a:rPr lang="en-US" sz="1600" dirty="0">
                <a:solidFill>
                  <a:schemeClr val="bg1"/>
                </a:solidFill>
                <a:latin typeface="Segoe UI" panose="020B0502040204020203" pitchFamily="34" charset="0"/>
                <a:cs typeface="Segoe UI" panose="020B0502040204020203" pitchFamily="34" charset="0"/>
              </a:rPr>
              <a:t>You can find the Power BI report, dataset, and all related project files at the following GitHub repository:</a:t>
            </a:r>
          </a:p>
          <a:p>
            <a:r>
              <a:rPr lang="en-US" sz="1600">
                <a:solidFill>
                  <a:schemeClr val="bg1"/>
                </a:solidFill>
                <a:latin typeface="Segoe UI" panose="020B0502040204020203" pitchFamily="34" charset="0"/>
                <a:cs typeface="Segoe UI" panose="020B0502040204020203" pitchFamily="34" charset="0"/>
              </a:rPr>
              <a:t>https://github.com/arpitagit-hub/powerbi-blinkit-project</a:t>
            </a:r>
            <a:endParaRPr lang="en-US" sz="1600" dirty="0">
              <a:solidFill>
                <a:schemeClr val="bg1"/>
              </a:solidFill>
              <a:latin typeface="Segoe UI" panose="020B0502040204020203" pitchFamily="34" charset="0"/>
              <a:cs typeface="Segoe UI" panose="020B0502040204020203" pitchFamily="34" charset="0"/>
            </a:endParaRPr>
          </a:p>
          <a:p>
            <a:r>
              <a:rPr lang="en-US" sz="1600" dirty="0">
                <a:solidFill>
                  <a:schemeClr val="bg1"/>
                </a:solidFill>
                <a:latin typeface="Segoe UI" panose="020B0502040204020203" pitchFamily="34" charset="0"/>
                <a:cs typeface="Segoe UI" panose="020B0502040204020203" pitchFamily="34" charset="0"/>
              </a:rPr>
              <a:t>	</a:t>
            </a:r>
          </a:p>
        </p:txBody>
      </p:sp>
      <p:sp>
        <p:nvSpPr>
          <p:cNvPr id="4" name="Flowchart: Terminator 3">
            <a:extLst>
              <a:ext uri="{FF2B5EF4-FFF2-40B4-BE49-F238E27FC236}">
                <a16:creationId xmlns:a16="http://schemas.microsoft.com/office/drawing/2014/main" id="{0AC39435-5B04-110F-42A2-243E464673EB}"/>
              </a:ext>
            </a:extLst>
          </p:cNvPr>
          <p:cNvSpPr/>
          <p:nvPr/>
        </p:nvSpPr>
        <p:spPr>
          <a:xfrm>
            <a:off x="2112971" y="1920968"/>
            <a:ext cx="5857875" cy="805562"/>
          </a:xfrm>
          <a:prstGeom prst="flowChartTerminator">
            <a:avLst/>
          </a:prstGeom>
          <a:solidFill>
            <a:srgbClr val="0064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latin typeface="Segoe UI" panose="020B0502040204020203" pitchFamily="34" charset="0"/>
                <a:cs typeface="Segoe UI" panose="020B0502040204020203" pitchFamily="34" charset="0"/>
              </a:rPr>
              <a:t>            👨🏻‍💻</a:t>
            </a:r>
            <a:r>
              <a:rPr lang="en-US" b="1" dirty="0">
                <a:solidFill>
                  <a:schemeClr val="bg1"/>
                </a:solidFill>
                <a:latin typeface="Segoe UI" panose="020B0502040204020203" pitchFamily="34" charset="0"/>
                <a:cs typeface="Segoe UI" panose="020B0502040204020203" pitchFamily="34" charset="0"/>
              </a:rPr>
              <a:t>GitHub Repository Link</a:t>
            </a:r>
          </a:p>
        </p:txBody>
      </p:sp>
    </p:spTree>
    <p:extLst>
      <p:ext uri="{BB962C8B-B14F-4D97-AF65-F5344CB8AC3E}">
        <p14:creationId xmlns:p14="http://schemas.microsoft.com/office/powerpoint/2010/main" val="38109689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ACC82-8902-2B18-0507-8BA017C3178D}"/>
            </a:ext>
          </a:extLst>
        </p:cNvPr>
        <p:cNvGrpSpPr/>
        <p:nvPr/>
      </p:nvGrpSpPr>
      <p:grpSpPr>
        <a:xfrm>
          <a:off x="0" y="0"/>
          <a:ext cx="0" cy="0"/>
          <a:chOff x="0" y="0"/>
          <a:chExt cx="0" cy="0"/>
        </a:xfrm>
      </p:grpSpPr>
      <p:sp>
        <p:nvSpPr>
          <p:cNvPr id="4" name="Flowchart: Terminator 3">
            <a:extLst>
              <a:ext uri="{FF2B5EF4-FFF2-40B4-BE49-F238E27FC236}">
                <a16:creationId xmlns:a16="http://schemas.microsoft.com/office/drawing/2014/main" id="{AEBDC46E-C20B-F033-01CF-5C5ED04057F7}"/>
              </a:ext>
            </a:extLst>
          </p:cNvPr>
          <p:cNvSpPr/>
          <p:nvPr/>
        </p:nvSpPr>
        <p:spPr>
          <a:xfrm>
            <a:off x="3315362" y="2717390"/>
            <a:ext cx="5857875" cy="1423219"/>
          </a:xfrm>
          <a:prstGeom prst="flowChartTerminator">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latin typeface="Papyrus" panose="03070502060502030205" pitchFamily="66" charset="0"/>
                <a:cs typeface="Segoe UI" panose="020B0502040204020203" pitchFamily="34" charset="0"/>
              </a:rPr>
              <a:t>Thank You! </a:t>
            </a:r>
          </a:p>
        </p:txBody>
      </p:sp>
    </p:spTree>
    <p:extLst>
      <p:ext uri="{BB962C8B-B14F-4D97-AF65-F5344CB8AC3E}">
        <p14:creationId xmlns:p14="http://schemas.microsoft.com/office/powerpoint/2010/main" val="35917857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925</TotalTime>
  <Words>3216</Words>
  <Application>Microsoft Office PowerPoint</Application>
  <PresentationFormat>Widescreen</PresentationFormat>
  <Paragraphs>426</Paragraphs>
  <Slides>37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vt:i4>
      </vt:variant>
    </vt:vector>
  </HeadingPairs>
  <TitlesOfParts>
    <vt:vector size="48" baseType="lpstr">
      <vt:lpstr>PMingLiU-ExtB</vt:lpstr>
      <vt:lpstr>Arial</vt:lpstr>
      <vt:lpstr>Arial Black</vt:lpstr>
      <vt:lpstr>Arial Narrow</vt:lpstr>
      <vt:lpstr>Calibri</vt:lpstr>
      <vt:lpstr>Calibri Light</vt:lpstr>
      <vt:lpstr>Papyrus</vt:lpstr>
      <vt:lpstr>Segoe Script</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Subhankar Sarkar</dc:creator>
  <cp:lastModifiedBy>arpita chakraborty</cp:lastModifiedBy>
  <cp:revision>25</cp:revision>
  <dcterms:created xsi:type="dcterms:W3CDTF">2025-07-07T18:49:41Z</dcterms:created>
  <dcterms:modified xsi:type="dcterms:W3CDTF">2025-07-24T19:43:39Z</dcterms:modified>
</cp:coreProperties>
</file>